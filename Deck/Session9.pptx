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6858000" type="screen4x3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840B6-EBEA-4EA5-B0F6-A77512B66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622480-B1A3-4792-B013-318BBB90A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1B55F-8C55-4A06-8FE5-A1DFC6FAD70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F0C7C-8807-4223-958A-80E5D9B7217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0E991-12F2-4CCF-8D4A-C414ECFE36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9ACF2-EC0E-4D71-A942-9DD2528B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1D8B3-4B6F-43AA-BCEC-CBD8F3A57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59637-CE60-4742-828B-56B5179490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A40C0-5221-4D7E-B0A8-0E3FE626FF1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13DAE-B98F-4294-976D-66FC223228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A8FC7-4EF8-483E-AEDB-D85758169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36702-5D2C-408F-A780-118F53C5A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C139C-3124-4BAC-86A9-0E6FCF55D3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6A6D8-E063-4C8B-BDDA-3ED0716F5A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1D994-4663-4BB5-824D-465838E7D4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0677A-C283-459C-AF0E-20DFCA8F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3C0FA-0CC9-4567-BB51-F331A4822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15B63-EDEB-4065-9D20-68A04E14587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5EEBD-7D36-4BA3-903F-DF2EBEA970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5A0BA-1774-4B6C-B651-9D83A533107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4DB1D-2E86-4176-97E2-98B4309B9F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44FF2-D975-4A29-A325-7B4F348CD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D1835-F7C6-4F27-8ECC-2545901CC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AFF32-3ED8-4D17-ACAA-8BCE4EFBCA4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0D1E8-5E8A-42B1-BEFC-A735EDEC032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7B06C2-C1ED-46C0-AB11-6964CE46EB3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20BE3-C279-4133-A92C-365AE79CFF9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6/20/2026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8F5DA6-B31D-4EC5-9489-8EF8C3FE56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7C2CD2-E999-426A-81D7-06C2A0B480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ED26A-DF43-4631-8760-7AA9554C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C2891C-39E0-4FC8-92ED-ED19DB496B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6/20/2026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B84E9-9264-4260-8B13-5107BAD0192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987E4-A447-4B85-A795-5E78DAD173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87E3EE-D601-459C-B428-3214E620F5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6/20/2026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34EC3C-75A1-4A47-A53F-2FB04A0129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EC98F-4E37-4AFB-8EFB-83DBB2806C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2816A-FAC4-47AD-9704-B892173FF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4BA10-459B-4FD8-A95E-7195A1D2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B1994-E679-41A5-A986-FE9A9500104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3FB6A-4623-4924-8139-9777D913B0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8C518-E377-4A86-8784-3DB05D5FF7B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1EFB9-49CC-4376-A81D-C037A5A7AD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FBCC-108A-4A43-B6D5-7EEBBD12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B818F6-C47C-466A-97A7-9DEA84E09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D460E-E694-4328-A520-7773DF683A7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66B91-63E2-463D-A7DE-E60CAE8825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129DF-932E-462C-9EA7-66EEC3A55B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8CD29-DEA7-4549-98D2-99D59ADC6F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EB6E8-3C5D-4B09-8C83-DFDA6E36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9B2BCF-3720-43A7-BF06-7DC8D3385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05B4E-70B5-4902-8FD1-561B57C9E26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08640-2881-4CE3-AE12-DC3ED04E60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4351C-5392-42A5-9ADF-1672602C90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3DD5D8-A0D9-4F78-A080-63D260F20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BD368-B28D-4825-A433-C548A88C1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5E3DA-4E5C-4066-AFDA-AB8BE0DD42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F425A-9D39-464A-8358-29C5AAC35B9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1FFBD-CACB-46DD-98B6-36C7DE6F6C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E7EB2D-C304-4869-9DDA-0F4ED3A5F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30E8B-A217-4057-9C86-5BC99C994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279BF-1165-49B4-9DBD-F9F4FA984CA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6/20/2026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6FB17-A542-446F-8025-4869089EFA7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B98E9-20CE-4F82-AEA1-FEBABF64A04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E4378-306E-4FA1-9B58-D163EB7602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Quant Infrastructure &amp; KDB+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6610D-4186-44AB-8438-558785CC42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0081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2744D-9854-4A3B-B42D-F8B5B178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5A561-CE73-4911-B566-E38170FFD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Alpha Signals</a:t>
            </a:r>
          </a:p>
          <a:p>
            <a:r>
              <a:t>Backtesting</a:t>
            </a:r>
          </a:p>
          <a:p>
            <a:r>
              <a:t>Portfolio Construction</a:t>
            </a:r>
          </a:p>
          <a:p>
            <a:r>
              <a:t>Machine Learning</a:t>
            </a:r>
          </a:p>
          <a:p>
            <a:r>
              <a:t>Where does the data come from?</a:t>
            </a:r>
          </a:p>
        </p:txBody>
      </p:sp>
    </p:spTree>
    <p:extLst>
      <p:ext uri="{BB962C8B-B14F-4D97-AF65-F5344CB8AC3E}">
        <p14:creationId xmlns:p14="http://schemas.microsoft.com/office/powerpoint/2010/main" val="285600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7FEAB-3BC6-4CDE-8AD3-FB65CD23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Modern Markets Generate Massive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AAFD2-1CFD-4599-880D-098BF4FD3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Trades</a:t>
            </a:r>
          </a:p>
          <a:p>
            <a:r>
              <a:t>Quotes</a:t>
            </a:r>
          </a:p>
          <a:p>
            <a:r>
              <a:t>Order Book Updates</a:t>
            </a:r>
          </a:p>
          <a:p>
            <a:r>
              <a:t>News Events</a:t>
            </a:r>
          </a:p>
          <a:p>
            <a:r>
              <a:t>Continuous Data Generation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D672828E-7D81-4BBE-B0C7-B255B931B484}"/>
              </a:ext>
            </a:extLst>
          </p:cNvPr>
          <p:cNvSpPr>
            <a:spLocks noGrp="1"/>
          </p:cNvSpPr>
          <p:nvPr/>
        </p:nvSpPr>
        <p:spPr>
          <a:xfrm>
            <a:off x="261937" y="1338262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759C8D-0CF3-4158-943C-E86719173F9A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1476375" cy="400050"/>
          </a:xfrm>
          <a:prstGeom prst="roundRect">
            <a:avLst>
              <a:gd name="adj" fmla="val 19048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34A833-F2AF-4519-AF47-3690DDC0D0E8}"/>
              </a:ext>
            </a:extLst>
          </p:cNvPr>
          <p:cNvSpPr>
            <a:spLocks noGrp="1"/>
          </p:cNvSpPr>
          <p:nvPr/>
        </p:nvSpPr>
        <p:spPr>
          <a:xfrm>
            <a:off x="742950" y="1390650"/>
            <a:ext cx="1323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Trades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0C9FB4-009A-4386-AF8B-1AF8A6455FA4}"/>
              </a:ext>
            </a:extLst>
          </p:cNvPr>
          <p:cNvSpPr>
            <a:spLocks noGrp="1"/>
          </p:cNvSpPr>
          <p:nvPr/>
        </p:nvSpPr>
        <p:spPr>
          <a:xfrm>
            <a:off x="2190750" y="1466850"/>
            <a:ext cx="11049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1E92C0C9-C4BF-45DF-9007-EB0AE2D707FF}"/>
              </a:ext>
            </a:extLst>
          </p:cNvPr>
          <p:cNvSpPr>
            <a:spLocks noGrp="1"/>
          </p:cNvSpPr>
          <p:nvPr/>
        </p:nvSpPr>
        <p:spPr>
          <a:xfrm>
            <a:off x="3248025" y="1419225"/>
            <a:ext cx="133350" cy="133350"/>
          </a:xfrm>
          <a:prstGeom prst="triangle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DD44B1-B878-4AD8-8A30-A1B9B6268E53}"/>
              </a:ext>
            </a:extLst>
          </p:cNvPr>
          <p:cNvSpPr>
            <a:spLocks noGrp="1"/>
          </p:cNvSpPr>
          <p:nvPr/>
        </p:nvSpPr>
        <p:spPr>
          <a:xfrm>
            <a:off x="666750" y="1838325"/>
            <a:ext cx="1476375" cy="400050"/>
          </a:xfrm>
          <a:prstGeom prst="roundRect">
            <a:avLst>
              <a:gd name="adj" fmla="val 19048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DAA141-5E61-4225-A7FE-0017507BF0F5}"/>
              </a:ext>
            </a:extLst>
          </p:cNvPr>
          <p:cNvSpPr>
            <a:spLocks noGrp="1"/>
          </p:cNvSpPr>
          <p:nvPr/>
        </p:nvSpPr>
        <p:spPr>
          <a:xfrm>
            <a:off x="742950" y="1943100"/>
            <a:ext cx="1323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Quotes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8276B0-4BDD-45D7-B0AE-428D20ECA537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11049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DA0E6449-E2E4-4CFC-AB0B-B1837FE1E09C}"/>
              </a:ext>
            </a:extLst>
          </p:cNvPr>
          <p:cNvSpPr>
            <a:spLocks noGrp="1"/>
          </p:cNvSpPr>
          <p:nvPr/>
        </p:nvSpPr>
        <p:spPr>
          <a:xfrm>
            <a:off x="3248025" y="1971675"/>
            <a:ext cx="133350" cy="133350"/>
          </a:xfrm>
          <a:prstGeom prst="triangle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444E721-6786-4A2E-8C87-503E9F2993E8}"/>
              </a:ext>
            </a:extLst>
          </p:cNvPr>
          <p:cNvSpPr>
            <a:spLocks noGrp="1"/>
          </p:cNvSpPr>
          <p:nvPr/>
        </p:nvSpPr>
        <p:spPr>
          <a:xfrm>
            <a:off x="666750" y="2390775"/>
            <a:ext cx="1476375" cy="400050"/>
          </a:xfrm>
          <a:prstGeom prst="roundRect">
            <a:avLst>
              <a:gd name="adj" fmla="val 19048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15F98A-A6A5-462B-947F-9448B6917561}"/>
              </a:ext>
            </a:extLst>
          </p:cNvPr>
          <p:cNvSpPr>
            <a:spLocks noGrp="1"/>
          </p:cNvSpPr>
          <p:nvPr/>
        </p:nvSpPr>
        <p:spPr>
          <a:xfrm>
            <a:off x="742950" y="2495550"/>
            <a:ext cx="1323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Order book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3C538B-81AE-40E0-A873-075AB928194D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11049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26BE0DC5-4220-4CE2-867F-90012114A2E0}"/>
              </a:ext>
            </a:extLst>
          </p:cNvPr>
          <p:cNvSpPr>
            <a:spLocks noGrp="1"/>
          </p:cNvSpPr>
          <p:nvPr/>
        </p:nvSpPr>
        <p:spPr>
          <a:xfrm>
            <a:off x="3248025" y="2524125"/>
            <a:ext cx="133350" cy="133350"/>
          </a:xfrm>
          <a:prstGeom prst="triangle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7C88E37-DA86-4348-9CCE-5B82D76B1B0D}"/>
              </a:ext>
            </a:extLst>
          </p:cNvPr>
          <p:cNvSpPr>
            <a:spLocks noGrp="1"/>
          </p:cNvSpPr>
          <p:nvPr/>
        </p:nvSpPr>
        <p:spPr>
          <a:xfrm>
            <a:off x="666750" y="2943225"/>
            <a:ext cx="1476375" cy="400050"/>
          </a:xfrm>
          <a:prstGeom prst="roundRect">
            <a:avLst>
              <a:gd name="adj" fmla="val 19048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150623-4633-46F6-B381-BBEA49D709AE}"/>
              </a:ext>
            </a:extLst>
          </p:cNvPr>
          <p:cNvSpPr>
            <a:spLocks noGrp="1"/>
          </p:cNvSpPr>
          <p:nvPr/>
        </p:nvSpPr>
        <p:spPr>
          <a:xfrm>
            <a:off x="742950" y="3048000"/>
            <a:ext cx="1323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News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931F5B-E954-4A04-9629-7C11DB18BE74}"/>
              </a:ext>
            </a:extLst>
          </p:cNvPr>
          <p:cNvSpPr>
            <a:spLocks noGrp="1"/>
          </p:cNvSpPr>
          <p:nvPr/>
        </p:nvSpPr>
        <p:spPr>
          <a:xfrm>
            <a:off x="2190750" y="3124200"/>
            <a:ext cx="11049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9D91B276-1770-41E6-8BF0-A2717EBCB961}"/>
              </a:ext>
            </a:extLst>
          </p:cNvPr>
          <p:cNvSpPr>
            <a:spLocks noGrp="1"/>
          </p:cNvSpPr>
          <p:nvPr/>
        </p:nvSpPr>
        <p:spPr>
          <a:xfrm>
            <a:off x="3248025" y="3076575"/>
            <a:ext cx="133350" cy="133350"/>
          </a:xfrm>
          <a:prstGeom prst="triangle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22FE5A0-0E27-4B68-8E29-0A87C6A4A8C5}"/>
              </a:ext>
            </a:extLst>
          </p:cNvPr>
          <p:cNvSpPr>
            <a:spLocks noGrp="1"/>
          </p:cNvSpPr>
          <p:nvPr/>
        </p:nvSpPr>
        <p:spPr>
          <a:xfrm>
            <a:off x="3476625" y="2190750"/>
            <a:ext cx="1905000" cy="666750"/>
          </a:xfrm>
          <a:prstGeom prst="roundRect">
            <a:avLst>
              <a:gd name="adj" fmla="val 11429"/>
            </a:avLst>
          </a:prstGeom>
          <a:solidFill>
            <a:srgbClr val="EAF5EF"/>
          </a:solidFill>
          <a:ln w="13335">
            <a:solidFill>
              <a:srgbClr val="2E7D5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89490E-CF6B-4D68-B656-83A6FC3D70DE}"/>
              </a:ext>
            </a:extLst>
          </p:cNvPr>
          <p:cNvSpPr>
            <a:spLocks noGrp="1"/>
          </p:cNvSpPr>
          <p:nvPr/>
        </p:nvSpPr>
        <p:spPr>
          <a:xfrm>
            <a:off x="3552825" y="2428875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Exchange data stream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AF6E8A-37E1-4B03-8F5C-051A23E591E0}"/>
              </a:ext>
            </a:extLst>
          </p:cNvPr>
          <p:cNvSpPr>
            <a:spLocks noGrp="1"/>
          </p:cNvSpPr>
          <p:nvPr/>
        </p:nvSpPr>
        <p:spPr>
          <a:xfrm>
            <a:off x="5429250" y="2305050"/>
            <a:ext cx="9906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49D59E67-1CF7-429E-9A7C-DEBC265B0275}"/>
              </a:ext>
            </a:extLst>
          </p:cNvPr>
          <p:cNvSpPr>
            <a:spLocks noGrp="1"/>
          </p:cNvSpPr>
          <p:nvPr/>
        </p:nvSpPr>
        <p:spPr>
          <a:xfrm>
            <a:off x="6372225" y="2257425"/>
            <a:ext cx="133350" cy="133350"/>
          </a:xfrm>
          <a:prstGeom prst="triangle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86FFA60-365D-4CF4-8F02-97CB7CC977D8}"/>
              </a:ext>
            </a:extLst>
          </p:cNvPr>
          <p:cNvSpPr>
            <a:spLocks noGrp="1"/>
          </p:cNvSpPr>
          <p:nvPr/>
        </p:nvSpPr>
        <p:spPr>
          <a:xfrm>
            <a:off x="6619875" y="211455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F5F8FC"/>
          </a:solidFill>
          <a:ln w="13335">
            <a:solidFill>
              <a:srgbClr val="596777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956269-B73D-4B6A-906C-5A13A3570BFE}"/>
              </a:ext>
            </a:extLst>
          </p:cNvPr>
          <p:cNvSpPr>
            <a:spLocks noGrp="1"/>
          </p:cNvSpPr>
          <p:nvPr/>
        </p:nvSpPr>
        <p:spPr>
          <a:xfrm>
            <a:off x="6696075" y="2219325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777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F64D48-142F-4CA8-B549-A801E764DCCD}"/>
              </a:ext>
            </a:extLst>
          </p:cNvPr>
          <p:cNvSpPr>
            <a:spLocks noGrp="1"/>
          </p:cNvSpPr>
          <p:nvPr/>
        </p:nvSpPr>
        <p:spPr>
          <a:xfrm>
            <a:off x="5429250" y="2762250"/>
            <a:ext cx="9906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9D4044F1-0194-4EFB-B924-50CBF42DE5CD}"/>
              </a:ext>
            </a:extLst>
          </p:cNvPr>
          <p:cNvSpPr>
            <a:spLocks noGrp="1"/>
          </p:cNvSpPr>
          <p:nvPr/>
        </p:nvSpPr>
        <p:spPr>
          <a:xfrm>
            <a:off x="6372225" y="2714625"/>
            <a:ext cx="133350" cy="133350"/>
          </a:xfrm>
          <a:prstGeom prst="triangle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4988443-DA1D-4C0D-BEC2-99C15BDD753D}"/>
              </a:ext>
            </a:extLst>
          </p:cNvPr>
          <p:cNvSpPr>
            <a:spLocks noGrp="1"/>
          </p:cNvSpPr>
          <p:nvPr/>
        </p:nvSpPr>
        <p:spPr>
          <a:xfrm>
            <a:off x="6619875" y="257175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F5F8FC"/>
          </a:solidFill>
          <a:ln w="13335">
            <a:solidFill>
              <a:srgbClr val="596777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6597CB-5AC7-4E8B-831A-EF2F4A00B629}"/>
              </a:ext>
            </a:extLst>
          </p:cNvPr>
          <p:cNvSpPr>
            <a:spLocks noGrp="1"/>
          </p:cNvSpPr>
          <p:nvPr/>
        </p:nvSpPr>
        <p:spPr>
          <a:xfrm>
            <a:off x="6696075" y="2676525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777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0ACDD0-5E31-4CCD-AF0A-6DDFD9469CC1}"/>
              </a:ext>
            </a:extLst>
          </p:cNvPr>
          <p:cNvSpPr>
            <a:spLocks noGrp="1"/>
          </p:cNvSpPr>
          <p:nvPr/>
        </p:nvSpPr>
        <p:spPr>
          <a:xfrm>
            <a:off x="5429250" y="3219450"/>
            <a:ext cx="9906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1B3ECE25-C079-4AEB-A950-049E158B1275}"/>
              </a:ext>
            </a:extLst>
          </p:cNvPr>
          <p:cNvSpPr>
            <a:spLocks noGrp="1"/>
          </p:cNvSpPr>
          <p:nvPr/>
        </p:nvSpPr>
        <p:spPr>
          <a:xfrm>
            <a:off x="6372225" y="3171825"/>
            <a:ext cx="133350" cy="133350"/>
          </a:xfrm>
          <a:prstGeom prst="triangle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174DC5F-B6A2-4EE0-9E49-C4C3A79AF3A8}"/>
              </a:ext>
            </a:extLst>
          </p:cNvPr>
          <p:cNvSpPr>
            <a:spLocks noGrp="1"/>
          </p:cNvSpPr>
          <p:nvPr/>
        </p:nvSpPr>
        <p:spPr>
          <a:xfrm>
            <a:off x="6619875" y="302895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F5F8FC"/>
          </a:solidFill>
          <a:ln w="13335">
            <a:solidFill>
              <a:srgbClr val="596777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75869B-EECA-4DE3-8065-DEE44438F63D}"/>
              </a:ext>
            </a:extLst>
          </p:cNvPr>
          <p:cNvSpPr>
            <a:spLocks noGrp="1"/>
          </p:cNvSpPr>
          <p:nvPr/>
        </p:nvSpPr>
        <p:spPr>
          <a:xfrm>
            <a:off x="6696075" y="3133725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777"/>
                </a:solidFill>
                <a:latin typeface="Aptos"/>
                <a:ea typeface="Aptos"/>
                <a:cs typeface="Aptos"/>
              </a:rPr>
              <a:t>Trading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A80D891-227A-4B15-AA5B-2A24B8FE4D17}"/>
              </a:ext>
            </a:extLst>
          </p:cNvPr>
          <p:cNvSpPr>
            <a:spLocks noGrp="1"/>
          </p:cNvSpPr>
          <p:nvPr/>
        </p:nvSpPr>
        <p:spPr>
          <a:xfrm>
            <a:off x="590550" y="4333875"/>
            <a:ext cx="800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Modern markets continuously emit many types of time-stamped data.</a:t>
            </a:r>
          </a:p>
        </p:txBody>
      </p:sp>
    </p:spTree>
    <p:extLst>
      <p:ext uri="{BB962C8B-B14F-4D97-AF65-F5344CB8AC3E}">
        <p14:creationId xmlns:p14="http://schemas.microsoft.com/office/powerpoint/2010/main" val="1980278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F1F61-B8CF-4303-AABC-AD6EF131A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Day Of Market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41D27-E5A1-4035-B7BD-0AEB8E87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Millions of Trades</a:t>
            </a:r>
          </a:p>
          <a:p>
            <a:r>
              <a:t>Millions of Quotes</a:t>
            </a:r>
          </a:p>
          <a:p>
            <a:r>
              <a:t>Thousands of Securities</a:t>
            </a:r>
          </a:p>
          <a:p>
            <a:r>
              <a:t>Billions of Data Points</a:t>
            </a:r>
          </a:p>
          <a:p>
            <a:r>
              <a:t>Can Excel Handle This?</a:t>
            </a:r>
          </a:p>
        </p:txBody>
      </p:sp>
    </p:spTree>
    <p:extLst>
      <p:ext uri="{BB962C8B-B14F-4D97-AF65-F5344CB8AC3E}">
        <p14:creationId xmlns:p14="http://schemas.microsoft.com/office/powerpoint/2010/main" val="1976146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1F587-B14E-4883-BD2E-43DD02B35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Infrastructure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0EA30-734E-4045-9145-6AD4ED0FF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Storage</a:t>
            </a:r>
          </a:p>
          <a:p>
            <a:r>
              <a:t>Processing</a:t>
            </a:r>
          </a:p>
          <a:p>
            <a:r>
              <a:t>Retrieval</a:t>
            </a:r>
          </a:p>
          <a:p>
            <a:r>
              <a:t>Analytics</a:t>
            </a:r>
          </a:p>
        </p:txBody>
      </p:sp>
    </p:spTree>
    <p:extLst>
      <p:ext uri="{BB962C8B-B14F-4D97-AF65-F5344CB8AC3E}">
        <p14:creationId xmlns:p14="http://schemas.microsoft.com/office/powerpoint/2010/main" val="905523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145D7-85FF-4273-8B51-AF51E9733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Starts With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355F0-744D-45A0-8464-7C0BA2E02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</a:t>
            </a:r>
          </a:p>
          <a:p>
            <a:r>
              <a:t>Research</a:t>
            </a:r>
          </a:p>
          <a:p>
            <a:r>
              <a:t>Signal</a:t>
            </a:r>
          </a:p>
          <a:p>
            <a:r>
              <a:t>Backtest</a:t>
            </a:r>
          </a:p>
          <a:p>
            <a:r>
              <a:t>Production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D556A755-7AA1-4747-894E-C31A57B536F7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5C4140-42D2-4A05-A35F-6F4CB45BB78E}"/>
              </a:ext>
            </a:extLst>
          </p:cNvPr>
          <p:cNvSpPr>
            <a:spLocks noGrp="1"/>
          </p:cNvSpPr>
          <p:nvPr/>
        </p:nvSpPr>
        <p:spPr>
          <a:xfrm>
            <a:off x="714375" y="2571750"/>
            <a:ext cx="1375410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42E20B-58E2-4EB8-BA76-01DB8C0D8CA9}"/>
              </a:ext>
            </a:extLst>
          </p:cNvPr>
          <p:cNvSpPr>
            <a:spLocks noGrp="1"/>
          </p:cNvSpPr>
          <p:nvPr/>
        </p:nvSpPr>
        <p:spPr>
          <a:xfrm>
            <a:off x="790575" y="2771775"/>
            <a:ext cx="122301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4D070A-EE90-4F82-8421-9FA0D40E6C53}"/>
              </a:ext>
            </a:extLst>
          </p:cNvPr>
          <p:cNvSpPr>
            <a:spLocks noGrp="1"/>
          </p:cNvSpPr>
          <p:nvPr/>
        </p:nvSpPr>
        <p:spPr>
          <a:xfrm>
            <a:off x="2118360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EFF4D65-D9CA-4A5E-80B5-6415BEAF4EB2}"/>
              </a:ext>
            </a:extLst>
          </p:cNvPr>
          <p:cNvSpPr>
            <a:spLocks noGrp="1"/>
          </p:cNvSpPr>
          <p:nvPr/>
        </p:nvSpPr>
        <p:spPr>
          <a:xfrm>
            <a:off x="2137410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CB4748-874C-4E16-8E3C-AC4A3CA0B282}"/>
              </a:ext>
            </a:extLst>
          </p:cNvPr>
          <p:cNvSpPr>
            <a:spLocks noGrp="1"/>
          </p:cNvSpPr>
          <p:nvPr/>
        </p:nvSpPr>
        <p:spPr>
          <a:xfrm>
            <a:off x="2299335" y="2571750"/>
            <a:ext cx="1375410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2293C6-2003-4905-8524-9958AB3665A2}"/>
              </a:ext>
            </a:extLst>
          </p:cNvPr>
          <p:cNvSpPr>
            <a:spLocks noGrp="1"/>
          </p:cNvSpPr>
          <p:nvPr/>
        </p:nvSpPr>
        <p:spPr>
          <a:xfrm>
            <a:off x="2375535" y="2771775"/>
            <a:ext cx="122301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23762C-FC47-4FC8-8F8C-37767FBBFBC5}"/>
              </a:ext>
            </a:extLst>
          </p:cNvPr>
          <p:cNvSpPr>
            <a:spLocks noGrp="1"/>
          </p:cNvSpPr>
          <p:nvPr/>
        </p:nvSpPr>
        <p:spPr>
          <a:xfrm>
            <a:off x="3703320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D09788CB-752B-4D6E-BCB1-E3B307C21F2A}"/>
              </a:ext>
            </a:extLst>
          </p:cNvPr>
          <p:cNvSpPr>
            <a:spLocks noGrp="1"/>
          </p:cNvSpPr>
          <p:nvPr/>
        </p:nvSpPr>
        <p:spPr>
          <a:xfrm>
            <a:off x="3722370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9A2479-4EFD-45CF-A79E-186F278CF724}"/>
              </a:ext>
            </a:extLst>
          </p:cNvPr>
          <p:cNvSpPr>
            <a:spLocks noGrp="1"/>
          </p:cNvSpPr>
          <p:nvPr/>
        </p:nvSpPr>
        <p:spPr>
          <a:xfrm>
            <a:off x="3884295" y="2571750"/>
            <a:ext cx="1375410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101242-5442-409B-8456-819EE7A6828E}"/>
              </a:ext>
            </a:extLst>
          </p:cNvPr>
          <p:cNvSpPr>
            <a:spLocks noGrp="1"/>
          </p:cNvSpPr>
          <p:nvPr/>
        </p:nvSpPr>
        <p:spPr>
          <a:xfrm>
            <a:off x="3960495" y="2771775"/>
            <a:ext cx="122301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F3BF7A-6C16-47E8-8652-7869617FBFFC}"/>
              </a:ext>
            </a:extLst>
          </p:cNvPr>
          <p:cNvSpPr>
            <a:spLocks noGrp="1"/>
          </p:cNvSpPr>
          <p:nvPr/>
        </p:nvSpPr>
        <p:spPr>
          <a:xfrm>
            <a:off x="5288280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AFCA4AC7-E919-4554-8C59-429558E6D223}"/>
              </a:ext>
            </a:extLst>
          </p:cNvPr>
          <p:cNvSpPr>
            <a:spLocks noGrp="1"/>
          </p:cNvSpPr>
          <p:nvPr/>
        </p:nvSpPr>
        <p:spPr>
          <a:xfrm>
            <a:off x="5307330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9E3EE4F-6D83-4F64-B0B8-12A12819394F}"/>
              </a:ext>
            </a:extLst>
          </p:cNvPr>
          <p:cNvSpPr>
            <a:spLocks noGrp="1"/>
          </p:cNvSpPr>
          <p:nvPr/>
        </p:nvSpPr>
        <p:spPr>
          <a:xfrm>
            <a:off x="5469255" y="2571750"/>
            <a:ext cx="1375410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C0565D-7059-417C-AA81-407FFF142E71}"/>
              </a:ext>
            </a:extLst>
          </p:cNvPr>
          <p:cNvSpPr>
            <a:spLocks noGrp="1"/>
          </p:cNvSpPr>
          <p:nvPr/>
        </p:nvSpPr>
        <p:spPr>
          <a:xfrm>
            <a:off x="5545455" y="2771775"/>
            <a:ext cx="122301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Backtest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2CE2C5-2342-4D54-88CF-EDD34C7C0197}"/>
              </a:ext>
            </a:extLst>
          </p:cNvPr>
          <p:cNvSpPr>
            <a:spLocks noGrp="1"/>
          </p:cNvSpPr>
          <p:nvPr/>
        </p:nvSpPr>
        <p:spPr>
          <a:xfrm>
            <a:off x="6873240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439998E-FE71-45C4-99E2-C73CD34989A7}"/>
              </a:ext>
            </a:extLst>
          </p:cNvPr>
          <p:cNvSpPr>
            <a:spLocks noGrp="1"/>
          </p:cNvSpPr>
          <p:nvPr/>
        </p:nvSpPr>
        <p:spPr>
          <a:xfrm>
            <a:off x="6892290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38CACCE-6823-40AE-B470-63839938D303}"/>
              </a:ext>
            </a:extLst>
          </p:cNvPr>
          <p:cNvSpPr>
            <a:spLocks noGrp="1"/>
          </p:cNvSpPr>
          <p:nvPr/>
        </p:nvSpPr>
        <p:spPr>
          <a:xfrm>
            <a:off x="7054215" y="2571750"/>
            <a:ext cx="1375410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63CCEE-3389-4174-A0FD-32FD300C2F14}"/>
              </a:ext>
            </a:extLst>
          </p:cNvPr>
          <p:cNvSpPr>
            <a:spLocks noGrp="1"/>
          </p:cNvSpPr>
          <p:nvPr/>
        </p:nvSpPr>
        <p:spPr>
          <a:xfrm>
            <a:off x="7130415" y="2771775"/>
            <a:ext cx="122301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A41EA8-2860-4E31-A857-76F45CDF745F}"/>
              </a:ext>
            </a:extLst>
          </p:cNvPr>
          <p:cNvSpPr>
            <a:spLocks noGrp="1"/>
          </p:cNvSpPr>
          <p:nvPr/>
        </p:nvSpPr>
        <p:spPr>
          <a:xfrm>
            <a:off x="590550" y="4333875"/>
            <a:ext cx="800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Infrastructure is the bridge between raw data and deployable strategy.</a:t>
            </a:r>
          </a:p>
        </p:txBody>
      </p:sp>
    </p:spTree>
    <p:extLst>
      <p:ext uri="{BB962C8B-B14F-4D97-AF65-F5344CB8AC3E}">
        <p14:creationId xmlns:p14="http://schemas.microsoft.com/office/powerpoint/2010/main" val="1299853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5201A-AD85-4FDF-B48A-ECFE0C8F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Case Study: Building A Momentum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2B736-28BB-4530-9F87-771A52CFC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Test 5 Years Of AAPL Data</a:t>
            </a:r>
          </a:p>
          <a:p>
            <a:r>
              <a:t>Exchange</a:t>
            </a:r>
          </a:p>
          <a:p>
            <a:r>
              <a:t>Database</a:t>
            </a:r>
          </a:p>
          <a:p>
            <a:r>
              <a:t>Python</a:t>
            </a:r>
          </a:p>
          <a:p>
            <a:r>
              <a:t>Backtest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5FC39486-2255-441D-9964-A5BFE04AEADB}"/>
              </a:ext>
            </a:extLst>
          </p:cNvPr>
          <p:cNvSpPr>
            <a:spLocks noGrp="1"/>
          </p:cNvSpPr>
          <p:nvPr/>
        </p:nvSpPr>
        <p:spPr>
          <a:xfrm>
            <a:off x="395287" y="1447800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7FBAD40-059B-45F8-89F1-27ACE48A1056}"/>
              </a:ext>
            </a:extLst>
          </p:cNvPr>
          <p:cNvSpPr>
            <a:spLocks noGrp="1"/>
          </p:cNvSpPr>
          <p:nvPr/>
        </p:nvSpPr>
        <p:spPr>
          <a:xfrm>
            <a:off x="952500" y="2428875"/>
            <a:ext cx="1652588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D44372-BA6E-48A2-AAD4-BD10E3EF36F0}"/>
              </a:ext>
            </a:extLst>
          </p:cNvPr>
          <p:cNvSpPr>
            <a:spLocks noGrp="1"/>
          </p:cNvSpPr>
          <p:nvPr/>
        </p:nvSpPr>
        <p:spPr>
          <a:xfrm>
            <a:off x="1028700" y="2628900"/>
            <a:ext cx="150018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Exchange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04E53-D091-4778-B3AF-B6AA2A239183}"/>
              </a:ext>
            </a:extLst>
          </p:cNvPr>
          <p:cNvSpPr>
            <a:spLocks noGrp="1"/>
          </p:cNvSpPr>
          <p:nvPr/>
        </p:nvSpPr>
        <p:spPr>
          <a:xfrm>
            <a:off x="2633663" y="2705100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63A2B198-00A7-4B68-8CAA-5437810CA1E1}"/>
              </a:ext>
            </a:extLst>
          </p:cNvPr>
          <p:cNvSpPr>
            <a:spLocks noGrp="1"/>
          </p:cNvSpPr>
          <p:nvPr/>
        </p:nvSpPr>
        <p:spPr>
          <a:xfrm>
            <a:off x="2652713" y="2657475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68409B-511A-46FD-858B-631034972189}"/>
              </a:ext>
            </a:extLst>
          </p:cNvPr>
          <p:cNvSpPr>
            <a:spLocks noGrp="1"/>
          </p:cNvSpPr>
          <p:nvPr/>
        </p:nvSpPr>
        <p:spPr>
          <a:xfrm>
            <a:off x="2814638" y="2428875"/>
            <a:ext cx="1652588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265372-01F0-4953-8EDF-834695E56371}"/>
              </a:ext>
            </a:extLst>
          </p:cNvPr>
          <p:cNvSpPr>
            <a:spLocks noGrp="1"/>
          </p:cNvSpPr>
          <p:nvPr/>
        </p:nvSpPr>
        <p:spPr>
          <a:xfrm>
            <a:off x="2890838" y="2628900"/>
            <a:ext cx="150018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CD4FB7-9CA2-4C08-A1AE-F3B73326CA2B}"/>
              </a:ext>
            </a:extLst>
          </p:cNvPr>
          <p:cNvSpPr>
            <a:spLocks noGrp="1"/>
          </p:cNvSpPr>
          <p:nvPr/>
        </p:nvSpPr>
        <p:spPr>
          <a:xfrm>
            <a:off x="4495800" y="2705100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CA215D88-8026-494F-8731-B22AC6122B2E}"/>
              </a:ext>
            </a:extLst>
          </p:cNvPr>
          <p:cNvSpPr>
            <a:spLocks noGrp="1"/>
          </p:cNvSpPr>
          <p:nvPr/>
        </p:nvSpPr>
        <p:spPr>
          <a:xfrm>
            <a:off x="4514850" y="2657475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ECC2DCC-459B-4EBA-A9D5-E0B4069787EF}"/>
              </a:ext>
            </a:extLst>
          </p:cNvPr>
          <p:cNvSpPr>
            <a:spLocks noGrp="1"/>
          </p:cNvSpPr>
          <p:nvPr/>
        </p:nvSpPr>
        <p:spPr>
          <a:xfrm>
            <a:off x="4676775" y="2428875"/>
            <a:ext cx="1652588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8A17BA-07C3-4464-8CC3-E900B40E9872}"/>
              </a:ext>
            </a:extLst>
          </p:cNvPr>
          <p:cNvSpPr>
            <a:spLocks noGrp="1"/>
          </p:cNvSpPr>
          <p:nvPr/>
        </p:nvSpPr>
        <p:spPr>
          <a:xfrm>
            <a:off x="4752975" y="2628900"/>
            <a:ext cx="150018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Python Research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4FAD1F-8CF2-49AE-9C60-B78312A82ADE}"/>
              </a:ext>
            </a:extLst>
          </p:cNvPr>
          <p:cNvSpPr>
            <a:spLocks noGrp="1"/>
          </p:cNvSpPr>
          <p:nvPr/>
        </p:nvSpPr>
        <p:spPr>
          <a:xfrm>
            <a:off x="6357938" y="2705100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5E0F13C5-09DF-4790-8FDE-95133C96D359}"/>
              </a:ext>
            </a:extLst>
          </p:cNvPr>
          <p:cNvSpPr>
            <a:spLocks noGrp="1"/>
          </p:cNvSpPr>
          <p:nvPr/>
        </p:nvSpPr>
        <p:spPr>
          <a:xfrm>
            <a:off x="6376988" y="2657475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F40CD88-435A-47D3-9B3A-00015FED565A}"/>
              </a:ext>
            </a:extLst>
          </p:cNvPr>
          <p:cNvSpPr>
            <a:spLocks noGrp="1"/>
          </p:cNvSpPr>
          <p:nvPr/>
        </p:nvSpPr>
        <p:spPr>
          <a:xfrm>
            <a:off x="6538913" y="2428875"/>
            <a:ext cx="1652588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4057A1-C961-4E41-90CC-3A1A686844BC}"/>
              </a:ext>
            </a:extLst>
          </p:cNvPr>
          <p:cNvSpPr>
            <a:spLocks noGrp="1"/>
          </p:cNvSpPr>
          <p:nvPr/>
        </p:nvSpPr>
        <p:spPr>
          <a:xfrm>
            <a:off x="6615113" y="2628900"/>
            <a:ext cx="150018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Backtest Results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017773F-F371-4005-B7A6-7BB0958B1EC7}"/>
              </a:ext>
            </a:extLst>
          </p:cNvPr>
          <p:cNvSpPr>
            <a:spLocks noGrp="1"/>
          </p:cNvSpPr>
          <p:nvPr/>
        </p:nvSpPr>
        <p:spPr>
          <a:xfrm>
            <a:off x="904875" y="1447800"/>
            <a:ext cx="66675" cy="66675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1E8397-CB86-46B2-AB61-BA3824CD3DB5}"/>
              </a:ext>
            </a:extLst>
          </p:cNvPr>
          <p:cNvSpPr>
            <a:spLocks noGrp="1"/>
          </p:cNvSpPr>
          <p:nvPr/>
        </p:nvSpPr>
        <p:spPr>
          <a:xfrm>
            <a:off x="1076325" y="13811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Goal: test 5 years of AAPL data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29FAD03-8B36-48B2-8BCA-BE36F0BAD1B8}"/>
              </a:ext>
            </a:extLst>
          </p:cNvPr>
          <p:cNvSpPr>
            <a:spLocks noGrp="1"/>
          </p:cNvSpPr>
          <p:nvPr/>
        </p:nvSpPr>
        <p:spPr>
          <a:xfrm>
            <a:off x="904875" y="1733550"/>
            <a:ext cx="66675" cy="66675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7F8024-7D21-4C14-87E2-2B15D3438C8C}"/>
              </a:ext>
            </a:extLst>
          </p:cNvPr>
          <p:cNvSpPr>
            <a:spLocks noGrp="1"/>
          </p:cNvSpPr>
          <p:nvPr/>
        </p:nvSpPr>
        <p:spPr>
          <a:xfrm>
            <a:off x="1076325" y="16668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Momentum signal depends on clean history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6441C2C-AF1D-4F4C-80DA-BC6D2A2ED713}"/>
              </a:ext>
            </a:extLst>
          </p:cNvPr>
          <p:cNvSpPr>
            <a:spLocks noGrp="1"/>
          </p:cNvSpPr>
          <p:nvPr/>
        </p:nvSpPr>
        <p:spPr>
          <a:xfrm>
            <a:off x="904875" y="2019300"/>
            <a:ext cx="66675" cy="66675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E21769-24FB-4978-99AD-3A9F11EFFDDD}"/>
              </a:ext>
            </a:extLst>
          </p:cNvPr>
          <p:cNvSpPr>
            <a:spLocks noGrp="1"/>
          </p:cNvSpPr>
          <p:nvPr/>
        </p:nvSpPr>
        <p:spPr>
          <a:xfrm>
            <a:off x="1076325" y="19526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Backtest only matters if data is reliable</a:t>
            </a:r>
          </a:p>
        </p:txBody>
      </p:sp>
    </p:spTree>
    <p:extLst>
      <p:ext uri="{BB962C8B-B14F-4D97-AF65-F5344CB8AC3E}">
        <p14:creationId xmlns:p14="http://schemas.microsoft.com/office/powerpoint/2010/main" val="867097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159E1-468C-43BE-970A-F41162463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Data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8DEFC-E94C-4DFC-9163-3022B74AD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Exchange</a:t>
            </a:r>
          </a:p>
          <a:p>
            <a:r>
              <a:t>Feed Handler</a:t>
            </a:r>
          </a:p>
          <a:p>
            <a:r>
              <a:t>Database</a:t>
            </a:r>
          </a:p>
          <a:p>
            <a:r>
              <a:t>Research</a:t>
            </a:r>
          </a:p>
          <a:p>
            <a:r>
              <a:t>Trading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441E1343-3BB5-4745-89B1-F7FB619A1B5C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826895-1AF5-4056-92C4-849532F943D0}"/>
              </a:ext>
            </a:extLst>
          </p:cNvPr>
          <p:cNvSpPr>
            <a:spLocks noGrp="1"/>
          </p:cNvSpPr>
          <p:nvPr/>
        </p:nvSpPr>
        <p:spPr>
          <a:xfrm>
            <a:off x="714375" y="2571750"/>
            <a:ext cx="1375410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648383-D35F-40DD-B6D1-C5DA6FD2138C}"/>
              </a:ext>
            </a:extLst>
          </p:cNvPr>
          <p:cNvSpPr>
            <a:spLocks noGrp="1"/>
          </p:cNvSpPr>
          <p:nvPr/>
        </p:nvSpPr>
        <p:spPr>
          <a:xfrm>
            <a:off x="790575" y="2771775"/>
            <a:ext cx="122301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Exchange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E2A042-0640-431B-99C2-64D05AB74B01}"/>
              </a:ext>
            </a:extLst>
          </p:cNvPr>
          <p:cNvSpPr>
            <a:spLocks noGrp="1"/>
          </p:cNvSpPr>
          <p:nvPr/>
        </p:nvSpPr>
        <p:spPr>
          <a:xfrm>
            <a:off x="2118360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E519C2D8-B9EC-4721-B1C9-08DEBBD6D1A4}"/>
              </a:ext>
            </a:extLst>
          </p:cNvPr>
          <p:cNvSpPr>
            <a:spLocks noGrp="1"/>
          </p:cNvSpPr>
          <p:nvPr/>
        </p:nvSpPr>
        <p:spPr>
          <a:xfrm>
            <a:off x="2137410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E7C892-512E-4F49-BE6B-647513F20676}"/>
              </a:ext>
            </a:extLst>
          </p:cNvPr>
          <p:cNvSpPr>
            <a:spLocks noGrp="1"/>
          </p:cNvSpPr>
          <p:nvPr/>
        </p:nvSpPr>
        <p:spPr>
          <a:xfrm>
            <a:off x="2299335" y="2571750"/>
            <a:ext cx="1375410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BF1392-BA23-492A-862C-AFB948085509}"/>
              </a:ext>
            </a:extLst>
          </p:cNvPr>
          <p:cNvSpPr>
            <a:spLocks noGrp="1"/>
          </p:cNvSpPr>
          <p:nvPr/>
        </p:nvSpPr>
        <p:spPr>
          <a:xfrm>
            <a:off x="2375535" y="2771775"/>
            <a:ext cx="122301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Feed Handler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23F8E1-64D2-4376-A295-2A5D74A7333B}"/>
              </a:ext>
            </a:extLst>
          </p:cNvPr>
          <p:cNvSpPr>
            <a:spLocks noGrp="1"/>
          </p:cNvSpPr>
          <p:nvPr/>
        </p:nvSpPr>
        <p:spPr>
          <a:xfrm>
            <a:off x="3703320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11C2C8F9-408E-41AC-A988-90971B9C4296}"/>
              </a:ext>
            </a:extLst>
          </p:cNvPr>
          <p:cNvSpPr>
            <a:spLocks noGrp="1"/>
          </p:cNvSpPr>
          <p:nvPr/>
        </p:nvSpPr>
        <p:spPr>
          <a:xfrm>
            <a:off x="3722370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BD97E8-FD82-42CC-BC24-CD21384E87EA}"/>
              </a:ext>
            </a:extLst>
          </p:cNvPr>
          <p:cNvSpPr>
            <a:spLocks noGrp="1"/>
          </p:cNvSpPr>
          <p:nvPr/>
        </p:nvSpPr>
        <p:spPr>
          <a:xfrm>
            <a:off x="3884295" y="2571750"/>
            <a:ext cx="1375410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574708-7C0C-47E2-8584-322EC2BA55DE}"/>
              </a:ext>
            </a:extLst>
          </p:cNvPr>
          <p:cNvSpPr>
            <a:spLocks noGrp="1"/>
          </p:cNvSpPr>
          <p:nvPr/>
        </p:nvSpPr>
        <p:spPr>
          <a:xfrm>
            <a:off x="3960495" y="2771775"/>
            <a:ext cx="122301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5360B0-42ED-4C4F-B3C0-07D13B49AE24}"/>
              </a:ext>
            </a:extLst>
          </p:cNvPr>
          <p:cNvSpPr>
            <a:spLocks noGrp="1"/>
          </p:cNvSpPr>
          <p:nvPr/>
        </p:nvSpPr>
        <p:spPr>
          <a:xfrm>
            <a:off x="5288280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845BC0F5-2B9C-47C1-9C01-BD5B180E3867}"/>
              </a:ext>
            </a:extLst>
          </p:cNvPr>
          <p:cNvSpPr>
            <a:spLocks noGrp="1"/>
          </p:cNvSpPr>
          <p:nvPr/>
        </p:nvSpPr>
        <p:spPr>
          <a:xfrm>
            <a:off x="5307330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C3E165B-D918-45BF-9FED-DD1D72FB83D3}"/>
              </a:ext>
            </a:extLst>
          </p:cNvPr>
          <p:cNvSpPr>
            <a:spLocks noGrp="1"/>
          </p:cNvSpPr>
          <p:nvPr/>
        </p:nvSpPr>
        <p:spPr>
          <a:xfrm>
            <a:off x="5469255" y="2571750"/>
            <a:ext cx="1375410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3DDD99-B4F7-4F15-99C9-7F25A0434744}"/>
              </a:ext>
            </a:extLst>
          </p:cNvPr>
          <p:cNvSpPr>
            <a:spLocks noGrp="1"/>
          </p:cNvSpPr>
          <p:nvPr/>
        </p:nvSpPr>
        <p:spPr>
          <a:xfrm>
            <a:off x="5545455" y="2771775"/>
            <a:ext cx="122301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Research Team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19E53E-61E3-48FE-A90F-FCAB382E9FC4}"/>
              </a:ext>
            </a:extLst>
          </p:cNvPr>
          <p:cNvSpPr>
            <a:spLocks noGrp="1"/>
          </p:cNvSpPr>
          <p:nvPr/>
        </p:nvSpPr>
        <p:spPr>
          <a:xfrm>
            <a:off x="6873240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9B6FF8C8-0834-4763-9037-DEE64D3A30A7}"/>
              </a:ext>
            </a:extLst>
          </p:cNvPr>
          <p:cNvSpPr>
            <a:spLocks noGrp="1"/>
          </p:cNvSpPr>
          <p:nvPr/>
        </p:nvSpPr>
        <p:spPr>
          <a:xfrm>
            <a:off x="6892290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8FF2074-010C-4237-8941-15AA1946D796}"/>
              </a:ext>
            </a:extLst>
          </p:cNvPr>
          <p:cNvSpPr>
            <a:spLocks noGrp="1"/>
          </p:cNvSpPr>
          <p:nvPr/>
        </p:nvSpPr>
        <p:spPr>
          <a:xfrm>
            <a:off x="7054215" y="2571750"/>
            <a:ext cx="1375410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A2634F-B4D1-4F3F-81F0-FADE65B1E42E}"/>
              </a:ext>
            </a:extLst>
          </p:cNvPr>
          <p:cNvSpPr>
            <a:spLocks noGrp="1"/>
          </p:cNvSpPr>
          <p:nvPr/>
        </p:nvSpPr>
        <p:spPr>
          <a:xfrm>
            <a:off x="7130415" y="2771775"/>
            <a:ext cx="122301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Traders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2D3315-249A-4114-AA9D-CABACC3EE577}"/>
              </a:ext>
            </a:extLst>
          </p:cNvPr>
          <p:cNvSpPr>
            <a:spLocks noGrp="1"/>
          </p:cNvSpPr>
          <p:nvPr/>
        </p:nvSpPr>
        <p:spPr>
          <a:xfrm>
            <a:off x="590550" y="4333875"/>
            <a:ext cx="800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This is the mental model for most market-data architecture.</a:t>
            </a:r>
          </a:p>
        </p:txBody>
      </p:sp>
    </p:spTree>
    <p:extLst>
      <p:ext uri="{BB962C8B-B14F-4D97-AF65-F5344CB8AC3E}">
        <p14:creationId xmlns:p14="http://schemas.microsoft.com/office/powerpoint/2010/main" val="23931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DD11D-5985-4EA7-BDFC-E5C512835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Exchange?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CC2D2-377B-4CD5-A5A9-8C5503AAE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NSE</a:t>
            </a:r>
          </a:p>
          <a:p>
            <a:r>
              <a:t>BSE</a:t>
            </a:r>
          </a:p>
          <a:p>
            <a:r>
              <a:t>NASDAQ</a:t>
            </a:r>
          </a:p>
          <a:p>
            <a:r>
              <a:t>NYSE</a:t>
            </a:r>
          </a:p>
          <a:p>
            <a:r>
              <a:t>Produces Trades &amp; Quotes</a:t>
            </a:r>
          </a:p>
        </p:txBody>
      </p:sp>
    </p:spTree>
    <p:extLst>
      <p:ext uri="{BB962C8B-B14F-4D97-AF65-F5344CB8AC3E}">
        <p14:creationId xmlns:p14="http://schemas.microsoft.com/office/powerpoint/2010/main" val="1779009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1A10A-B4C2-4B8C-B7B3-3C01C2B9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Market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2AAFE-010E-4B5B-9992-56B0959D7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Trades</a:t>
            </a:r>
          </a:p>
          <a:p>
            <a:r>
              <a:t>Quotes</a:t>
            </a:r>
          </a:p>
        </p:txBody>
      </p:sp>
    </p:spTree>
    <p:extLst>
      <p:ext uri="{BB962C8B-B14F-4D97-AF65-F5344CB8AC3E}">
        <p14:creationId xmlns:p14="http://schemas.microsoft.com/office/powerpoint/2010/main" val="277381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B7AE5-61C3-4069-A7EB-21AE8FA0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BADE8-C4D8-4FF7-BA4E-8072A0D62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| Symbol | Price | Size</a:t>
            </a:r>
          </a:p>
          <a:p>
            <a:r>
              <a:t>09:30:01 | AAPL | 100.20 | 500</a:t>
            </a:r>
          </a:p>
          <a:p>
            <a:r>
              <a:t>09:30:02 | AAPL | 100.25 | 300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46745E23-B69B-40C9-98FC-7EEC62286E12}"/>
              </a:ext>
            </a:extLst>
          </p:cNvPr>
          <p:cNvSpPr>
            <a:spLocks noGrp="1"/>
          </p:cNvSpPr>
          <p:nvPr/>
        </p:nvSpPr>
        <p:spPr>
          <a:xfrm>
            <a:off x="357187" y="1226953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FF8E12-A63F-491B-BEE2-8964E4884725}"/>
              </a:ext>
            </a:extLst>
          </p:cNvPr>
          <p:cNvSpPr>
            <a:spLocks noGrp="1"/>
          </p:cNvSpPr>
          <p:nvPr/>
        </p:nvSpPr>
        <p:spPr>
          <a:xfrm>
            <a:off x="762000" y="1504950"/>
            <a:ext cx="1905000" cy="3429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7206B0-1EE9-4EDA-8B06-0220C0FC198C}"/>
              </a:ext>
            </a:extLst>
          </p:cNvPr>
          <p:cNvSpPr>
            <a:spLocks noGrp="1"/>
          </p:cNvSpPr>
          <p:nvPr/>
        </p:nvSpPr>
        <p:spPr>
          <a:xfrm>
            <a:off x="809625" y="15906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C00E6D-FCAE-419C-AA90-6C8F28DD5F99}"/>
              </a:ext>
            </a:extLst>
          </p:cNvPr>
          <p:cNvSpPr>
            <a:spLocks noGrp="1"/>
          </p:cNvSpPr>
          <p:nvPr/>
        </p:nvSpPr>
        <p:spPr>
          <a:xfrm>
            <a:off x="2667000" y="1504950"/>
            <a:ext cx="1905000" cy="3429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6890D3-214E-4300-85E2-2153CC8DA27C}"/>
              </a:ext>
            </a:extLst>
          </p:cNvPr>
          <p:cNvSpPr>
            <a:spLocks noGrp="1"/>
          </p:cNvSpPr>
          <p:nvPr/>
        </p:nvSpPr>
        <p:spPr>
          <a:xfrm>
            <a:off x="2714625" y="15906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Symbol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F96241-1C2A-4C08-AD6F-E05A8C39C7D6}"/>
              </a:ext>
            </a:extLst>
          </p:cNvPr>
          <p:cNvSpPr>
            <a:spLocks noGrp="1"/>
          </p:cNvSpPr>
          <p:nvPr/>
        </p:nvSpPr>
        <p:spPr>
          <a:xfrm>
            <a:off x="4572000" y="1504950"/>
            <a:ext cx="1905000" cy="3429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919C15-E1F2-41BD-8307-E74ABF55F305}"/>
              </a:ext>
            </a:extLst>
          </p:cNvPr>
          <p:cNvSpPr>
            <a:spLocks noGrp="1"/>
          </p:cNvSpPr>
          <p:nvPr/>
        </p:nvSpPr>
        <p:spPr>
          <a:xfrm>
            <a:off x="4619625" y="15906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6EC198-FB8F-4D1A-969C-6C071E39049B}"/>
              </a:ext>
            </a:extLst>
          </p:cNvPr>
          <p:cNvSpPr>
            <a:spLocks noGrp="1"/>
          </p:cNvSpPr>
          <p:nvPr/>
        </p:nvSpPr>
        <p:spPr>
          <a:xfrm>
            <a:off x="6477000" y="1504950"/>
            <a:ext cx="1905000" cy="3429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323BDA-ACBD-4E30-A776-8129E0441337}"/>
              </a:ext>
            </a:extLst>
          </p:cNvPr>
          <p:cNvSpPr>
            <a:spLocks noGrp="1"/>
          </p:cNvSpPr>
          <p:nvPr/>
        </p:nvSpPr>
        <p:spPr>
          <a:xfrm>
            <a:off x="6524625" y="15906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Size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BA699B-3253-4DFA-AB6F-8B5CB59E1F47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434955-A956-4007-9AD2-DE822C325491}"/>
              </a:ext>
            </a:extLst>
          </p:cNvPr>
          <p:cNvSpPr>
            <a:spLocks noGrp="1"/>
          </p:cNvSpPr>
          <p:nvPr/>
        </p:nvSpPr>
        <p:spPr>
          <a:xfrm>
            <a:off x="809625" y="19335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09:30:01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71A68D-2499-471D-960C-005BFA69BDDC}"/>
              </a:ext>
            </a:extLst>
          </p:cNvPr>
          <p:cNvSpPr>
            <a:spLocks noGrp="1"/>
          </p:cNvSpPr>
          <p:nvPr/>
        </p:nvSpPr>
        <p:spPr>
          <a:xfrm>
            <a:off x="2667000" y="18478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8B19CE-DA4F-4C0C-9F7D-EFA89492736D}"/>
              </a:ext>
            </a:extLst>
          </p:cNvPr>
          <p:cNvSpPr>
            <a:spLocks noGrp="1"/>
          </p:cNvSpPr>
          <p:nvPr/>
        </p:nvSpPr>
        <p:spPr>
          <a:xfrm>
            <a:off x="2714625" y="19335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AAPL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80618F-992E-45D4-A3B4-F3B9596CAAB8}"/>
              </a:ext>
            </a:extLst>
          </p:cNvPr>
          <p:cNvSpPr>
            <a:spLocks noGrp="1"/>
          </p:cNvSpPr>
          <p:nvPr/>
        </p:nvSpPr>
        <p:spPr>
          <a:xfrm>
            <a:off x="4572000" y="18478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C252A5-6059-4217-BB94-0CA2E5B0F9F8}"/>
              </a:ext>
            </a:extLst>
          </p:cNvPr>
          <p:cNvSpPr>
            <a:spLocks noGrp="1"/>
          </p:cNvSpPr>
          <p:nvPr/>
        </p:nvSpPr>
        <p:spPr>
          <a:xfrm>
            <a:off x="4619625" y="19335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100.20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64D224-6E5D-4ED0-A942-8D2A8776B9F1}"/>
              </a:ext>
            </a:extLst>
          </p:cNvPr>
          <p:cNvSpPr>
            <a:spLocks noGrp="1"/>
          </p:cNvSpPr>
          <p:nvPr/>
        </p:nvSpPr>
        <p:spPr>
          <a:xfrm>
            <a:off x="6477000" y="18478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D26F1C-7D66-43B2-A55C-56411BFCED62}"/>
              </a:ext>
            </a:extLst>
          </p:cNvPr>
          <p:cNvSpPr>
            <a:spLocks noGrp="1"/>
          </p:cNvSpPr>
          <p:nvPr/>
        </p:nvSpPr>
        <p:spPr>
          <a:xfrm>
            <a:off x="6524625" y="19335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500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C42AC4-4FA8-414A-B279-B609BA63BD2C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1905000" cy="34290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1473EA-78D9-4D8A-841A-2A3BFBC6D4FA}"/>
              </a:ext>
            </a:extLst>
          </p:cNvPr>
          <p:cNvSpPr>
            <a:spLocks noGrp="1"/>
          </p:cNvSpPr>
          <p:nvPr/>
        </p:nvSpPr>
        <p:spPr>
          <a:xfrm>
            <a:off x="809625" y="2276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09:30:02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F4084D-8290-4042-96CD-28D9DF2B39AB}"/>
              </a:ext>
            </a:extLst>
          </p:cNvPr>
          <p:cNvSpPr>
            <a:spLocks noGrp="1"/>
          </p:cNvSpPr>
          <p:nvPr/>
        </p:nvSpPr>
        <p:spPr>
          <a:xfrm>
            <a:off x="2667000" y="2190750"/>
            <a:ext cx="1905000" cy="34290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B6DF3E-B23B-4AEC-BDF1-D9759F9D05B7}"/>
              </a:ext>
            </a:extLst>
          </p:cNvPr>
          <p:cNvSpPr>
            <a:spLocks noGrp="1"/>
          </p:cNvSpPr>
          <p:nvPr/>
        </p:nvSpPr>
        <p:spPr>
          <a:xfrm>
            <a:off x="2714625" y="2276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AAPL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4C6456-5DCA-4CE2-83D7-65A85105599F}"/>
              </a:ext>
            </a:extLst>
          </p:cNvPr>
          <p:cNvSpPr>
            <a:spLocks noGrp="1"/>
          </p:cNvSpPr>
          <p:nvPr/>
        </p:nvSpPr>
        <p:spPr>
          <a:xfrm>
            <a:off x="4572000" y="2190750"/>
            <a:ext cx="1905000" cy="34290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FB864D-D4AF-4688-B2A9-8EEB80D84578}"/>
              </a:ext>
            </a:extLst>
          </p:cNvPr>
          <p:cNvSpPr>
            <a:spLocks noGrp="1"/>
          </p:cNvSpPr>
          <p:nvPr/>
        </p:nvSpPr>
        <p:spPr>
          <a:xfrm>
            <a:off x="4619625" y="2276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100.25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4841E8-9CA1-4302-832F-7CB3FD0B11BA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1905000" cy="34290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31DCDA-25A2-4134-B8B1-7C8C5FBA5B01}"/>
              </a:ext>
            </a:extLst>
          </p:cNvPr>
          <p:cNvSpPr>
            <a:spLocks noGrp="1"/>
          </p:cNvSpPr>
          <p:nvPr/>
        </p:nvSpPr>
        <p:spPr>
          <a:xfrm>
            <a:off x="6524625" y="2276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300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C30618-EBC6-4D82-84CA-6B6C7CC38ED2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7E603A-BE8A-4FF8-86F4-1472E5253BBC}"/>
              </a:ext>
            </a:extLst>
          </p:cNvPr>
          <p:cNvSpPr>
            <a:spLocks noGrp="1"/>
          </p:cNvSpPr>
          <p:nvPr/>
        </p:nvSpPr>
        <p:spPr>
          <a:xfrm>
            <a:off x="809625" y="26193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09:30:03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B7A272-18C0-4308-9871-9D04B9DA791E}"/>
              </a:ext>
            </a:extLst>
          </p:cNvPr>
          <p:cNvSpPr>
            <a:spLocks noGrp="1"/>
          </p:cNvSpPr>
          <p:nvPr/>
        </p:nvSpPr>
        <p:spPr>
          <a:xfrm>
            <a:off x="2667000" y="25336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AB4B7A-0760-4BB0-8F1A-79C8BCFD3C5B}"/>
              </a:ext>
            </a:extLst>
          </p:cNvPr>
          <p:cNvSpPr>
            <a:spLocks noGrp="1"/>
          </p:cNvSpPr>
          <p:nvPr/>
        </p:nvSpPr>
        <p:spPr>
          <a:xfrm>
            <a:off x="2714625" y="26193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MSFT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3FA0899-C593-4068-A0D1-9886841E88F1}"/>
              </a:ext>
            </a:extLst>
          </p:cNvPr>
          <p:cNvSpPr>
            <a:spLocks noGrp="1"/>
          </p:cNvSpPr>
          <p:nvPr/>
        </p:nvSpPr>
        <p:spPr>
          <a:xfrm>
            <a:off x="4572000" y="25336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0B08BE-9292-40B1-AC6B-3418B5A0FA9C}"/>
              </a:ext>
            </a:extLst>
          </p:cNvPr>
          <p:cNvSpPr>
            <a:spLocks noGrp="1"/>
          </p:cNvSpPr>
          <p:nvPr/>
        </p:nvSpPr>
        <p:spPr>
          <a:xfrm>
            <a:off x="4619625" y="26193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241.10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44EB32-E778-49F9-8FA8-80324384503A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574655-17C3-4B54-85ED-042DA243535A}"/>
              </a:ext>
            </a:extLst>
          </p:cNvPr>
          <p:cNvSpPr>
            <a:spLocks noGrp="1"/>
          </p:cNvSpPr>
          <p:nvPr/>
        </p:nvSpPr>
        <p:spPr>
          <a:xfrm>
            <a:off x="6524625" y="26193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</p:spTree>
    <p:extLst>
      <p:ext uri="{BB962C8B-B14F-4D97-AF65-F5344CB8AC3E}">
        <p14:creationId xmlns:p14="http://schemas.microsoft.com/office/powerpoint/2010/main" val="1582158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BFEBE-90B9-4115-9614-F3CA492DC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Quote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760C3-DA11-4ACE-B676-DAA65654C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| Bid | Ask</a:t>
            </a:r>
          </a:p>
          <a:p>
            <a:r>
              <a:t>09:30:01 | 100.10 | 100.20</a:t>
            </a:r>
          </a:p>
          <a:p>
            <a:r>
              <a:t>09:30:02 | 100.15 | 100.25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461C3B73-48FB-4879-9B58-7FBBAD412A09}"/>
              </a:ext>
            </a:extLst>
          </p:cNvPr>
          <p:cNvSpPr>
            <a:spLocks noGrp="1"/>
          </p:cNvSpPr>
          <p:nvPr/>
        </p:nvSpPr>
        <p:spPr>
          <a:xfrm>
            <a:off x="404812" y="1340366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F40423-CD7B-4679-914F-CC864B7F2C49}"/>
              </a:ext>
            </a:extLst>
          </p:cNvPr>
          <p:cNvSpPr>
            <a:spLocks noGrp="1"/>
          </p:cNvSpPr>
          <p:nvPr/>
        </p:nvSpPr>
        <p:spPr>
          <a:xfrm>
            <a:off x="762000" y="1504950"/>
            <a:ext cx="1905000" cy="3429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D9B9B0-BE5F-404C-932A-E46F4B34EC1E}"/>
              </a:ext>
            </a:extLst>
          </p:cNvPr>
          <p:cNvSpPr>
            <a:spLocks noGrp="1"/>
          </p:cNvSpPr>
          <p:nvPr/>
        </p:nvSpPr>
        <p:spPr>
          <a:xfrm>
            <a:off x="809625" y="15906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99F281-3A40-4666-9B6E-6248184367AE}"/>
              </a:ext>
            </a:extLst>
          </p:cNvPr>
          <p:cNvSpPr>
            <a:spLocks noGrp="1"/>
          </p:cNvSpPr>
          <p:nvPr/>
        </p:nvSpPr>
        <p:spPr>
          <a:xfrm>
            <a:off x="2667000" y="1504950"/>
            <a:ext cx="1905000" cy="3429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ECCC5F-6C3E-4DE7-AFB1-1571CFD3079C}"/>
              </a:ext>
            </a:extLst>
          </p:cNvPr>
          <p:cNvSpPr>
            <a:spLocks noGrp="1"/>
          </p:cNvSpPr>
          <p:nvPr/>
        </p:nvSpPr>
        <p:spPr>
          <a:xfrm>
            <a:off x="2714625" y="15906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5EE97F-56E3-49AE-B12B-B211E8BD9D56}"/>
              </a:ext>
            </a:extLst>
          </p:cNvPr>
          <p:cNvSpPr>
            <a:spLocks noGrp="1"/>
          </p:cNvSpPr>
          <p:nvPr/>
        </p:nvSpPr>
        <p:spPr>
          <a:xfrm>
            <a:off x="4572000" y="1504950"/>
            <a:ext cx="1905000" cy="3429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C827A9-B009-49AD-9A19-481DB03176EE}"/>
              </a:ext>
            </a:extLst>
          </p:cNvPr>
          <p:cNvSpPr>
            <a:spLocks noGrp="1"/>
          </p:cNvSpPr>
          <p:nvPr/>
        </p:nvSpPr>
        <p:spPr>
          <a:xfrm>
            <a:off x="4619625" y="15906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5FA2A3-BE52-48A0-A89C-204B9C406898}"/>
              </a:ext>
            </a:extLst>
          </p:cNvPr>
          <p:cNvSpPr>
            <a:spLocks noGrp="1"/>
          </p:cNvSpPr>
          <p:nvPr/>
        </p:nvSpPr>
        <p:spPr>
          <a:xfrm>
            <a:off x="6477000" y="1504950"/>
            <a:ext cx="1905000" cy="3429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09034D-98F5-4489-A66A-A75A19F16814}"/>
              </a:ext>
            </a:extLst>
          </p:cNvPr>
          <p:cNvSpPr>
            <a:spLocks noGrp="1"/>
          </p:cNvSpPr>
          <p:nvPr/>
        </p:nvSpPr>
        <p:spPr>
          <a:xfrm>
            <a:off x="6524625" y="15906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Spread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E597BB-A322-4C91-B0D2-1A5AE4FA0A47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6B70C-E258-407F-B35A-D5549E125620}"/>
              </a:ext>
            </a:extLst>
          </p:cNvPr>
          <p:cNvSpPr>
            <a:spLocks noGrp="1"/>
          </p:cNvSpPr>
          <p:nvPr/>
        </p:nvSpPr>
        <p:spPr>
          <a:xfrm>
            <a:off x="809625" y="19335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09:30:01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5AF9AB-8610-41FF-A885-01C0EEF031A7}"/>
              </a:ext>
            </a:extLst>
          </p:cNvPr>
          <p:cNvSpPr>
            <a:spLocks noGrp="1"/>
          </p:cNvSpPr>
          <p:nvPr/>
        </p:nvSpPr>
        <p:spPr>
          <a:xfrm>
            <a:off x="2667000" y="18478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48EAD-8044-4CD3-9C3A-16D4C5872DB0}"/>
              </a:ext>
            </a:extLst>
          </p:cNvPr>
          <p:cNvSpPr>
            <a:spLocks noGrp="1"/>
          </p:cNvSpPr>
          <p:nvPr/>
        </p:nvSpPr>
        <p:spPr>
          <a:xfrm>
            <a:off x="2714625" y="19335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100.10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FC10D9-9D40-4CDC-8028-8934E227C1FB}"/>
              </a:ext>
            </a:extLst>
          </p:cNvPr>
          <p:cNvSpPr>
            <a:spLocks noGrp="1"/>
          </p:cNvSpPr>
          <p:nvPr/>
        </p:nvSpPr>
        <p:spPr>
          <a:xfrm>
            <a:off x="4572000" y="18478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4BEC9A-D9E2-4C30-9A0B-8B4A71DFFFC1}"/>
              </a:ext>
            </a:extLst>
          </p:cNvPr>
          <p:cNvSpPr>
            <a:spLocks noGrp="1"/>
          </p:cNvSpPr>
          <p:nvPr/>
        </p:nvSpPr>
        <p:spPr>
          <a:xfrm>
            <a:off x="4619625" y="19335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100.20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A1E916-52A2-4212-9214-70E5CB8CE757}"/>
              </a:ext>
            </a:extLst>
          </p:cNvPr>
          <p:cNvSpPr>
            <a:spLocks noGrp="1"/>
          </p:cNvSpPr>
          <p:nvPr/>
        </p:nvSpPr>
        <p:spPr>
          <a:xfrm>
            <a:off x="6477000" y="18478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906194-0B27-42D3-9721-8C1D5316DC92}"/>
              </a:ext>
            </a:extLst>
          </p:cNvPr>
          <p:cNvSpPr>
            <a:spLocks noGrp="1"/>
          </p:cNvSpPr>
          <p:nvPr/>
        </p:nvSpPr>
        <p:spPr>
          <a:xfrm>
            <a:off x="6524625" y="19335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0.10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C40070-819E-4502-BF69-015D46FBE8C6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1905000" cy="34290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9284E6-36E0-4047-A6CE-50F80A4E5E16}"/>
              </a:ext>
            </a:extLst>
          </p:cNvPr>
          <p:cNvSpPr>
            <a:spLocks noGrp="1"/>
          </p:cNvSpPr>
          <p:nvPr/>
        </p:nvSpPr>
        <p:spPr>
          <a:xfrm>
            <a:off x="809625" y="2276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09:30:02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E9D94A-069A-42CE-863F-A8D36954BD93}"/>
              </a:ext>
            </a:extLst>
          </p:cNvPr>
          <p:cNvSpPr>
            <a:spLocks noGrp="1"/>
          </p:cNvSpPr>
          <p:nvPr/>
        </p:nvSpPr>
        <p:spPr>
          <a:xfrm>
            <a:off x="2667000" y="2190750"/>
            <a:ext cx="1905000" cy="34290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C686A8-74E5-42AA-80CE-34ACF8B544AC}"/>
              </a:ext>
            </a:extLst>
          </p:cNvPr>
          <p:cNvSpPr>
            <a:spLocks noGrp="1"/>
          </p:cNvSpPr>
          <p:nvPr/>
        </p:nvSpPr>
        <p:spPr>
          <a:xfrm>
            <a:off x="2714625" y="2276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100.15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B1C343-03CD-47FC-8265-DC6CB26064FB}"/>
              </a:ext>
            </a:extLst>
          </p:cNvPr>
          <p:cNvSpPr>
            <a:spLocks noGrp="1"/>
          </p:cNvSpPr>
          <p:nvPr/>
        </p:nvSpPr>
        <p:spPr>
          <a:xfrm>
            <a:off x="4572000" y="2190750"/>
            <a:ext cx="1905000" cy="34290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BD7851-4257-4461-96B2-FB59DD301684}"/>
              </a:ext>
            </a:extLst>
          </p:cNvPr>
          <p:cNvSpPr>
            <a:spLocks noGrp="1"/>
          </p:cNvSpPr>
          <p:nvPr/>
        </p:nvSpPr>
        <p:spPr>
          <a:xfrm>
            <a:off x="4619625" y="2276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100.25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75DCA0-5C11-432A-B201-5381D11A016E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1905000" cy="34290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323A28-2A3C-49EF-9DEE-81B279BAFBFA}"/>
              </a:ext>
            </a:extLst>
          </p:cNvPr>
          <p:cNvSpPr>
            <a:spLocks noGrp="1"/>
          </p:cNvSpPr>
          <p:nvPr/>
        </p:nvSpPr>
        <p:spPr>
          <a:xfrm>
            <a:off x="6524625" y="2276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0.10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9306EE-CA81-4B89-A766-887F0687E08D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B8E31DD-6892-436F-8A11-0093AD89D09A}"/>
              </a:ext>
            </a:extLst>
          </p:cNvPr>
          <p:cNvSpPr>
            <a:spLocks noGrp="1"/>
          </p:cNvSpPr>
          <p:nvPr/>
        </p:nvSpPr>
        <p:spPr>
          <a:xfrm>
            <a:off x="809625" y="26193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09:30:03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7CF2025-71C7-4196-860B-7B645C61DAFE}"/>
              </a:ext>
            </a:extLst>
          </p:cNvPr>
          <p:cNvSpPr>
            <a:spLocks noGrp="1"/>
          </p:cNvSpPr>
          <p:nvPr/>
        </p:nvSpPr>
        <p:spPr>
          <a:xfrm>
            <a:off x="2667000" y="25336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53D0A7-6195-47BD-9396-1218AFC086D4}"/>
              </a:ext>
            </a:extLst>
          </p:cNvPr>
          <p:cNvSpPr>
            <a:spLocks noGrp="1"/>
          </p:cNvSpPr>
          <p:nvPr/>
        </p:nvSpPr>
        <p:spPr>
          <a:xfrm>
            <a:off x="2714625" y="26193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100.18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A25058-D91E-444B-86ED-A8A4B0C1BDFB}"/>
              </a:ext>
            </a:extLst>
          </p:cNvPr>
          <p:cNvSpPr>
            <a:spLocks noGrp="1"/>
          </p:cNvSpPr>
          <p:nvPr/>
        </p:nvSpPr>
        <p:spPr>
          <a:xfrm>
            <a:off x="4572000" y="25336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970181D-5829-473E-A18A-91D67A90ACCF}"/>
              </a:ext>
            </a:extLst>
          </p:cNvPr>
          <p:cNvSpPr>
            <a:spLocks noGrp="1"/>
          </p:cNvSpPr>
          <p:nvPr/>
        </p:nvSpPr>
        <p:spPr>
          <a:xfrm>
            <a:off x="4619625" y="26193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100.28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CD013D1-48F7-4ECA-8291-5B326EA797E3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C25C6E-000F-496C-97B8-29EA459B66B4}"/>
              </a:ext>
            </a:extLst>
          </p:cNvPr>
          <p:cNvSpPr>
            <a:spLocks noGrp="1"/>
          </p:cNvSpPr>
          <p:nvPr/>
        </p:nvSpPr>
        <p:spPr>
          <a:xfrm>
            <a:off x="6524625" y="26193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0.10</a:t>
            </a:r>
          </a:p>
        </p:txBody>
      </p:sp>
    </p:spTree>
    <p:extLst>
      <p:ext uri="{BB962C8B-B14F-4D97-AF65-F5344CB8AC3E}">
        <p14:creationId xmlns:p14="http://schemas.microsoft.com/office/powerpoint/2010/main" val="1604021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BF6E9-3E09-4C83-AE1B-E371890A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 Handlers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AB212-91B0-46BD-BFFD-2888FDE8C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Receive Market Data</a:t>
            </a:r>
          </a:p>
          <a:p>
            <a:r>
              <a:t>Parse Messages</a:t>
            </a:r>
          </a:p>
          <a:p>
            <a:r>
              <a:t>Normalize Formats</a:t>
            </a:r>
          </a:p>
          <a:p>
            <a:r>
              <a:t>Forward Internally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AFB6F386-EC19-4016-B6F8-FFAB97A6D3F2}"/>
              </a:ext>
            </a:extLst>
          </p:cNvPr>
          <p:cNvSpPr>
            <a:spLocks noGrp="1"/>
          </p:cNvSpPr>
          <p:nvPr/>
        </p:nvSpPr>
        <p:spPr>
          <a:xfrm>
            <a:off x="457200" y="1271662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14229E-F418-48DE-8917-3C96AD227EBD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1476375" cy="400050"/>
          </a:xfrm>
          <a:prstGeom prst="roundRect">
            <a:avLst>
              <a:gd name="adj" fmla="val 19048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9AA599-ECE6-497A-8410-53AF29A8615D}"/>
              </a:ext>
            </a:extLst>
          </p:cNvPr>
          <p:cNvSpPr>
            <a:spLocks noGrp="1"/>
          </p:cNvSpPr>
          <p:nvPr/>
        </p:nvSpPr>
        <p:spPr>
          <a:xfrm>
            <a:off x="742950" y="1390650"/>
            <a:ext cx="1323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NSE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2F3605-FDFC-43E3-8053-61DA9C912FC4}"/>
              </a:ext>
            </a:extLst>
          </p:cNvPr>
          <p:cNvSpPr>
            <a:spLocks noGrp="1"/>
          </p:cNvSpPr>
          <p:nvPr/>
        </p:nvSpPr>
        <p:spPr>
          <a:xfrm>
            <a:off x="2190750" y="1466850"/>
            <a:ext cx="11049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26635BC8-D0EF-452D-B9C3-FE194D18CD1E}"/>
              </a:ext>
            </a:extLst>
          </p:cNvPr>
          <p:cNvSpPr>
            <a:spLocks noGrp="1"/>
          </p:cNvSpPr>
          <p:nvPr/>
        </p:nvSpPr>
        <p:spPr>
          <a:xfrm>
            <a:off x="3248025" y="1419225"/>
            <a:ext cx="133350" cy="133350"/>
          </a:xfrm>
          <a:prstGeom prst="triangle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32D465F-B524-46A1-8CA1-78503CFA711A}"/>
              </a:ext>
            </a:extLst>
          </p:cNvPr>
          <p:cNvSpPr>
            <a:spLocks noGrp="1"/>
          </p:cNvSpPr>
          <p:nvPr/>
        </p:nvSpPr>
        <p:spPr>
          <a:xfrm>
            <a:off x="666750" y="1838325"/>
            <a:ext cx="1476375" cy="400050"/>
          </a:xfrm>
          <a:prstGeom prst="roundRect">
            <a:avLst>
              <a:gd name="adj" fmla="val 19048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26A5A4-0411-4AFC-90A7-DA7CA493C2C2}"/>
              </a:ext>
            </a:extLst>
          </p:cNvPr>
          <p:cNvSpPr>
            <a:spLocks noGrp="1"/>
          </p:cNvSpPr>
          <p:nvPr/>
        </p:nvSpPr>
        <p:spPr>
          <a:xfrm>
            <a:off x="742950" y="1943100"/>
            <a:ext cx="1323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BSE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2DD804-FB26-433C-A970-7905BA38460F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11049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00697701-71C8-4AC3-9D64-ED44B0751A64}"/>
              </a:ext>
            </a:extLst>
          </p:cNvPr>
          <p:cNvSpPr>
            <a:spLocks noGrp="1"/>
          </p:cNvSpPr>
          <p:nvPr/>
        </p:nvSpPr>
        <p:spPr>
          <a:xfrm>
            <a:off x="3248025" y="1971675"/>
            <a:ext cx="133350" cy="133350"/>
          </a:xfrm>
          <a:prstGeom prst="triangle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FBC0DD-8D1B-4365-9594-0C5D0752A57C}"/>
              </a:ext>
            </a:extLst>
          </p:cNvPr>
          <p:cNvSpPr>
            <a:spLocks noGrp="1"/>
          </p:cNvSpPr>
          <p:nvPr/>
        </p:nvSpPr>
        <p:spPr>
          <a:xfrm>
            <a:off x="666750" y="2390775"/>
            <a:ext cx="1476375" cy="400050"/>
          </a:xfrm>
          <a:prstGeom prst="roundRect">
            <a:avLst>
              <a:gd name="adj" fmla="val 19048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F45E12-FB14-4D3D-BE53-1322ECC14F92}"/>
              </a:ext>
            </a:extLst>
          </p:cNvPr>
          <p:cNvSpPr>
            <a:spLocks noGrp="1"/>
          </p:cNvSpPr>
          <p:nvPr/>
        </p:nvSpPr>
        <p:spPr>
          <a:xfrm>
            <a:off x="742950" y="2495550"/>
            <a:ext cx="1323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NASDAQ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860DCD-5DC7-425E-B2EE-6A3643540026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11049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88F8CB84-EC6B-4223-89C6-836AFA8B67C6}"/>
              </a:ext>
            </a:extLst>
          </p:cNvPr>
          <p:cNvSpPr>
            <a:spLocks noGrp="1"/>
          </p:cNvSpPr>
          <p:nvPr/>
        </p:nvSpPr>
        <p:spPr>
          <a:xfrm>
            <a:off x="3248025" y="2524125"/>
            <a:ext cx="133350" cy="133350"/>
          </a:xfrm>
          <a:prstGeom prst="triangle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9AC3CC7-A6D0-4344-A6B2-4AC034EC99B3}"/>
              </a:ext>
            </a:extLst>
          </p:cNvPr>
          <p:cNvSpPr>
            <a:spLocks noGrp="1"/>
          </p:cNvSpPr>
          <p:nvPr/>
        </p:nvSpPr>
        <p:spPr>
          <a:xfrm>
            <a:off x="3476625" y="2190750"/>
            <a:ext cx="1905000" cy="666750"/>
          </a:xfrm>
          <a:prstGeom prst="roundRect">
            <a:avLst>
              <a:gd name="adj" fmla="val 11429"/>
            </a:avLst>
          </a:prstGeom>
          <a:solidFill>
            <a:srgbClr val="EAF5EF"/>
          </a:solidFill>
          <a:ln w="13335">
            <a:solidFill>
              <a:srgbClr val="2E7D5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3F1CF2-FA7A-4D72-A5F5-47120F4C6A2F}"/>
              </a:ext>
            </a:extLst>
          </p:cNvPr>
          <p:cNvSpPr>
            <a:spLocks noGrp="1"/>
          </p:cNvSpPr>
          <p:nvPr/>
        </p:nvSpPr>
        <p:spPr>
          <a:xfrm>
            <a:off x="3552825" y="2428875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Feed Handler</a:t>
            </a:r>
          </a:p>
          <a:p>
            <a:pPr algn="ctr">
              <a:buNone/>
              <a:defRPr sz="12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normalize + validate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F2DB0F-CBDB-496A-AC93-F98B6068FE1C}"/>
              </a:ext>
            </a:extLst>
          </p:cNvPr>
          <p:cNvSpPr>
            <a:spLocks noGrp="1"/>
          </p:cNvSpPr>
          <p:nvPr/>
        </p:nvSpPr>
        <p:spPr>
          <a:xfrm>
            <a:off x="5429250" y="2305050"/>
            <a:ext cx="9906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4C3EAA2-557A-418D-B79E-26F09D9DE3B4}"/>
              </a:ext>
            </a:extLst>
          </p:cNvPr>
          <p:cNvSpPr>
            <a:spLocks noGrp="1"/>
          </p:cNvSpPr>
          <p:nvPr/>
        </p:nvSpPr>
        <p:spPr>
          <a:xfrm>
            <a:off x="6372225" y="2257425"/>
            <a:ext cx="133350" cy="133350"/>
          </a:xfrm>
          <a:prstGeom prst="triangle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4F5285D-2B0A-458F-A09B-C1E573C8E08A}"/>
              </a:ext>
            </a:extLst>
          </p:cNvPr>
          <p:cNvSpPr>
            <a:spLocks noGrp="1"/>
          </p:cNvSpPr>
          <p:nvPr/>
        </p:nvSpPr>
        <p:spPr>
          <a:xfrm>
            <a:off x="6619875" y="211455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F5F8FC"/>
          </a:solidFill>
          <a:ln w="13335">
            <a:solidFill>
              <a:srgbClr val="596777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D36165-CB7A-4D51-88C2-993AB6A4E0FA}"/>
              </a:ext>
            </a:extLst>
          </p:cNvPr>
          <p:cNvSpPr>
            <a:spLocks noGrp="1"/>
          </p:cNvSpPr>
          <p:nvPr/>
        </p:nvSpPr>
        <p:spPr>
          <a:xfrm>
            <a:off x="6696075" y="2219325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777"/>
                </a:solidFill>
                <a:latin typeface="Aptos"/>
                <a:ea typeface="Aptos"/>
                <a:cs typeface="Aptos"/>
              </a:rPr>
              <a:t>Tick DB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F92735-7E69-4D44-9E89-5AD718EA5E51}"/>
              </a:ext>
            </a:extLst>
          </p:cNvPr>
          <p:cNvSpPr>
            <a:spLocks noGrp="1"/>
          </p:cNvSpPr>
          <p:nvPr/>
        </p:nvSpPr>
        <p:spPr>
          <a:xfrm>
            <a:off x="5429250" y="2762250"/>
            <a:ext cx="9906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9926CAC3-5987-45BA-8229-A9AB9127F444}"/>
              </a:ext>
            </a:extLst>
          </p:cNvPr>
          <p:cNvSpPr>
            <a:spLocks noGrp="1"/>
          </p:cNvSpPr>
          <p:nvPr/>
        </p:nvSpPr>
        <p:spPr>
          <a:xfrm>
            <a:off x="6372225" y="2714625"/>
            <a:ext cx="133350" cy="133350"/>
          </a:xfrm>
          <a:prstGeom prst="triangle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DB1AE1F-956E-4FA4-B15A-C508698C525C}"/>
              </a:ext>
            </a:extLst>
          </p:cNvPr>
          <p:cNvSpPr>
            <a:spLocks noGrp="1"/>
          </p:cNvSpPr>
          <p:nvPr/>
        </p:nvSpPr>
        <p:spPr>
          <a:xfrm>
            <a:off x="6619875" y="257175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F5F8FC"/>
          </a:solidFill>
          <a:ln w="13335">
            <a:solidFill>
              <a:srgbClr val="596777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CCD200F-ECFB-42AF-A3A6-6DF860099942}"/>
              </a:ext>
            </a:extLst>
          </p:cNvPr>
          <p:cNvSpPr>
            <a:spLocks noGrp="1"/>
          </p:cNvSpPr>
          <p:nvPr/>
        </p:nvSpPr>
        <p:spPr>
          <a:xfrm>
            <a:off x="6696075" y="2676525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777"/>
                </a:solidFill>
                <a:latin typeface="Aptos"/>
                <a:ea typeface="Aptos"/>
                <a:cs typeface="Aptos"/>
              </a:rPr>
              <a:t>Live Apps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A580A1-89DE-4A1A-8CA1-211415A781C5}"/>
              </a:ext>
            </a:extLst>
          </p:cNvPr>
          <p:cNvSpPr>
            <a:spLocks noGrp="1"/>
          </p:cNvSpPr>
          <p:nvPr/>
        </p:nvSpPr>
        <p:spPr>
          <a:xfrm>
            <a:off x="590550" y="4333875"/>
            <a:ext cx="800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Feed handlers translate many exchange formats into one internal format.</a:t>
            </a:r>
          </a:p>
        </p:txBody>
      </p:sp>
    </p:spTree>
    <p:extLst>
      <p:ext uri="{BB962C8B-B14F-4D97-AF65-F5344CB8AC3E}">
        <p14:creationId xmlns:p14="http://schemas.microsoft.com/office/powerpoint/2010/main" val="720504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54819-6050-4144-9643-CE6ADA91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Feed Handlers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8E59F-B2C5-49FE-9990-1485A99EB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 Exchanges</a:t>
            </a:r>
          </a:p>
          <a:p>
            <a:r>
              <a:t>Different Formats</a:t>
            </a:r>
          </a:p>
          <a:p>
            <a:r>
              <a:t>Standardized Data</a:t>
            </a:r>
          </a:p>
        </p:txBody>
      </p:sp>
    </p:spTree>
    <p:extLst>
      <p:ext uri="{BB962C8B-B14F-4D97-AF65-F5344CB8AC3E}">
        <p14:creationId xmlns:p14="http://schemas.microsoft.com/office/powerpoint/2010/main" val="1571356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BCDF-468D-42DD-9DC9-328CF3440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Tick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4139C-C9F2-4830-A3C7-7FC05C8B1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Trade</a:t>
            </a:r>
          </a:p>
          <a:p>
            <a:r>
              <a:t>Every Quote Update</a:t>
            </a:r>
          </a:p>
          <a:p>
            <a:r>
              <a:t>Every Market Event</a:t>
            </a:r>
          </a:p>
          <a:p>
            <a:r>
              <a:t>Maximum Detail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CF6BF7C9-05CB-4EBD-8FD0-A4274FF62D1F}"/>
              </a:ext>
            </a:extLst>
          </p:cNvPr>
          <p:cNvSpPr>
            <a:spLocks noGrp="1"/>
          </p:cNvSpPr>
          <p:nvPr/>
        </p:nvSpPr>
        <p:spPr>
          <a:xfrm>
            <a:off x="404812" y="1290637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6F466B-4A0A-4716-8BA3-783E97222FB0}"/>
              </a:ext>
            </a:extLst>
          </p:cNvPr>
          <p:cNvSpPr>
            <a:spLocks noGrp="1"/>
          </p:cNvSpPr>
          <p:nvPr/>
        </p:nvSpPr>
        <p:spPr>
          <a:xfrm>
            <a:off x="904875" y="2714625"/>
            <a:ext cx="72390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2EEAD6B-007A-4BAE-9518-355285A5A3F0}"/>
              </a:ext>
            </a:extLst>
          </p:cNvPr>
          <p:cNvSpPr>
            <a:spLocks noGrp="1"/>
          </p:cNvSpPr>
          <p:nvPr/>
        </p:nvSpPr>
        <p:spPr>
          <a:xfrm>
            <a:off x="1143000" y="2619375"/>
            <a:ext cx="190500" cy="190500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F00A68-70A8-4D3B-A0FA-BEF544A8682B}"/>
              </a:ext>
            </a:extLst>
          </p:cNvPr>
          <p:cNvSpPr>
            <a:spLocks noGrp="1"/>
          </p:cNvSpPr>
          <p:nvPr/>
        </p:nvSpPr>
        <p:spPr>
          <a:xfrm>
            <a:off x="647700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Trade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8F099E-F1DD-4369-828F-410EB98B382E}"/>
              </a:ext>
            </a:extLst>
          </p:cNvPr>
          <p:cNvSpPr>
            <a:spLocks noGrp="1"/>
          </p:cNvSpPr>
          <p:nvPr/>
        </p:nvSpPr>
        <p:spPr>
          <a:xfrm>
            <a:off x="647700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09:30:00.001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CDBD7E8-9C6E-4D48-B5D5-9196E3738866}"/>
              </a:ext>
            </a:extLst>
          </p:cNvPr>
          <p:cNvSpPr>
            <a:spLocks noGrp="1"/>
          </p:cNvSpPr>
          <p:nvPr/>
        </p:nvSpPr>
        <p:spPr>
          <a:xfrm>
            <a:off x="2786063" y="2619375"/>
            <a:ext cx="190500" cy="190500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DD37F9-822E-4E9A-AB46-B5A21D785E5F}"/>
              </a:ext>
            </a:extLst>
          </p:cNvPr>
          <p:cNvSpPr>
            <a:spLocks noGrp="1"/>
          </p:cNvSpPr>
          <p:nvPr/>
        </p:nvSpPr>
        <p:spPr>
          <a:xfrm>
            <a:off x="2290763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Quote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C46239-2011-4CC2-8D9D-2F918218E6A0}"/>
              </a:ext>
            </a:extLst>
          </p:cNvPr>
          <p:cNvSpPr>
            <a:spLocks noGrp="1"/>
          </p:cNvSpPr>
          <p:nvPr/>
        </p:nvSpPr>
        <p:spPr>
          <a:xfrm>
            <a:off x="2290763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09:30:00.002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B48823-A9B7-437D-A011-1AB1F7B5032A}"/>
              </a:ext>
            </a:extLst>
          </p:cNvPr>
          <p:cNvSpPr>
            <a:spLocks noGrp="1"/>
          </p:cNvSpPr>
          <p:nvPr/>
        </p:nvSpPr>
        <p:spPr>
          <a:xfrm>
            <a:off x="4429125" y="2619375"/>
            <a:ext cx="190500" cy="190500"/>
          </a:xfrm>
          <a:prstGeom prst="ellipse">
            <a:avLst/>
          </a:prstGeom>
          <a:solidFill>
            <a:srgbClr val="C65353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B763AA-3F10-4989-8231-5B845C8343DA}"/>
              </a:ext>
            </a:extLst>
          </p:cNvPr>
          <p:cNvSpPr>
            <a:spLocks noGrp="1"/>
          </p:cNvSpPr>
          <p:nvPr/>
        </p:nvSpPr>
        <p:spPr>
          <a:xfrm>
            <a:off x="3933825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C6535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5353"/>
                </a:solidFill>
                <a:latin typeface="Aptos"/>
                <a:ea typeface="Aptos"/>
                <a:cs typeface="Aptos"/>
              </a:rPr>
              <a:t>Trade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BD597E-A5C3-4576-AEAE-E4CE010FEC99}"/>
              </a:ext>
            </a:extLst>
          </p:cNvPr>
          <p:cNvSpPr>
            <a:spLocks noGrp="1"/>
          </p:cNvSpPr>
          <p:nvPr/>
        </p:nvSpPr>
        <p:spPr>
          <a:xfrm>
            <a:off x="3933825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09:30:00.004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7D4568C-846F-4F22-A497-89A3D560E3E2}"/>
              </a:ext>
            </a:extLst>
          </p:cNvPr>
          <p:cNvSpPr>
            <a:spLocks noGrp="1"/>
          </p:cNvSpPr>
          <p:nvPr/>
        </p:nvSpPr>
        <p:spPr>
          <a:xfrm>
            <a:off x="6072188" y="2619375"/>
            <a:ext cx="190500" cy="190500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7E00F9-5F8D-4284-A9AF-CDB1B969C6B3}"/>
              </a:ext>
            </a:extLst>
          </p:cNvPr>
          <p:cNvSpPr>
            <a:spLocks noGrp="1"/>
          </p:cNvSpPr>
          <p:nvPr/>
        </p:nvSpPr>
        <p:spPr>
          <a:xfrm>
            <a:off x="5576888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463B51-0DFC-4EB2-905C-7EC52ED2B546}"/>
              </a:ext>
            </a:extLst>
          </p:cNvPr>
          <p:cNvSpPr>
            <a:spLocks noGrp="1"/>
          </p:cNvSpPr>
          <p:nvPr/>
        </p:nvSpPr>
        <p:spPr>
          <a:xfrm>
            <a:off x="5576888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09:30:00.006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1786DB2-D17B-43F4-A412-67F7D149E06A}"/>
              </a:ext>
            </a:extLst>
          </p:cNvPr>
          <p:cNvSpPr>
            <a:spLocks noGrp="1"/>
          </p:cNvSpPr>
          <p:nvPr/>
        </p:nvSpPr>
        <p:spPr>
          <a:xfrm>
            <a:off x="7715250" y="2619375"/>
            <a:ext cx="190500" cy="190500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1B8B63-F71D-422C-8298-35C137794DB6}"/>
              </a:ext>
            </a:extLst>
          </p:cNvPr>
          <p:cNvSpPr>
            <a:spLocks noGrp="1"/>
          </p:cNvSpPr>
          <p:nvPr/>
        </p:nvSpPr>
        <p:spPr>
          <a:xfrm>
            <a:off x="7219950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Quote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3BD1F9-A905-4EA4-956E-19376F3E0B46}"/>
              </a:ext>
            </a:extLst>
          </p:cNvPr>
          <p:cNvSpPr>
            <a:spLocks noGrp="1"/>
          </p:cNvSpPr>
          <p:nvPr/>
        </p:nvSpPr>
        <p:spPr>
          <a:xfrm>
            <a:off x="7219950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09:30:00.008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30F5EED-A4DE-4AC8-871D-0C381CE094DE}"/>
              </a:ext>
            </a:extLst>
          </p:cNvPr>
          <p:cNvSpPr>
            <a:spLocks noGrp="1"/>
          </p:cNvSpPr>
          <p:nvPr/>
        </p:nvSpPr>
        <p:spPr>
          <a:xfrm>
            <a:off x="1000125" y="1447800"/>
            <a:ext cx="66675" cy="66675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6BE388-9AB0-4291-B639-2209F5651175}"/>
              </a:ext>
            </a:extLst>
          </p:cNvPr>
          <p:cNvSpPr>
            <a:spLocks noGrp="1"/>
          </p:cNvSpPr>
          <p:nvPr/>
        </p:nvSpPr>
        <p:spPr>
          <a:xfrm>
            <a:off x="1171575" y="13811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Every trade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FB01290-139E-4618-9548-0ADCF1644C61}"/>
              </a:ext>
            </a:extLst>
          </p:cNvPr>
          <p:cNvSpPr>
            <a:spLocks noGrp="1"/>
          </p:cNvSpPr>
          <p:nvPr/>
        </p:nvSpPr>
        <p:spPr>
          <a:xfrm>
            <a:off x="1000125" y="1714500"/>
            <a:ext cx="66675" cy="66675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0F1837-FCE4-42E5-81E9-F99F46FB682D}"/>
              </a:ext>
            </a:extLst>
          </p:cNvPr>
          <p:cNvSpPr>
            <a:spLocks noGrp="1"/>
          </p:cNvSpPr>
          <p:nvPr/>
        </p:nvSpPr>
        <p:spPr>
          <a:xfrm>
            <a:off x="1171575" y="16478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Every quote update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5755AE6-2C1F-4A54-8A6A-39C4671132AB}"/>
              </a:ext>
            </a:extLst>
          </p:cNvPr>
          <p:cNvSpPr>
            <a:spLocks noGrp="1"/>
          </p:cNvSpPr>
          <p:nvPr/>
        </p:nvSpPr>
        <p:spPr>
          <a:xfrm>
            <a:off x="1000125" y="1981200"/>
            <a:ext cx="66675" cy="66675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F34E8E-F6EB-4A6E-BAA3-4A730A09DC6D}"/>
              </a:ext>
            </a:extLst>
          </p:cNvPr>
          <p:cNvSpPr>
            <a:spLocks noGrp="1"/>
          </p:cNvSpPr>
          <p:nvPr/>
        </p:nvSpPr>
        <p:spPr>
          <a:xfrm>
            <a:off x="1171575" y="19145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Every market event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9FED4D9-7F52-4A0B-8BE4-5CF5C9FAF990}"/>
              </a:ext>
            </a:extLst>
          </p:cNvPr>
          <p:cNvSpPr>
            <a:spLocks noGrp="1"/>
          </p:cNvSpPr>
          <p:nvPr/>
        </p:nvSpPr>
        <p:spPr>
          <a:xfrm>
            <a:off x="1000125" y="2247900"/>
            <a:ext cx="66675" cy="66675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9CC575-7ABD-45ED-942C-8883F1A3AA10}"/>
              </a:ext>
            </a:extLst>
          </p:cNvPr>
          <p:cNvSpPr>
            <a:spLocks noGrp="1"/>
          </p:cNvSpPr>
          <p:nvPr/>
        </p:nvSpPr>
        <p:spPr>
          <a:xfrm>
            <a:off x="1171575" y="21812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Maximum detail</a:t>
            </a:r>
          </a:p>
        </p:txBody>
      </p:sp>
    </p:spTree>
    <p:extLst>
      <p:ext uri="{BB962C8B-B14F-4D97-AF65-F5344CB8AC3E}">
        <p14:creationId xmlns:p14="http://schemas.microsoft.com/office/powerpoint/2010/main" val="651056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AFC2B-7139-4E7E-98F3-A2DB021E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 Data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D2288-F70E-43BB-9BB8-B8D012A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09:30:00.001</a:t>
            </a:r>
          </a:p>
          <a:p>
            <a:r>
              <a:t>09:30:00.002</a:t>
            </a:r>
          </a:p>
          <a:p>
            <a:r>
              <a:t>09:30:00.004</a:t>
            </a:r>
          </a:p>
          <a:p>
            <a:r>
              <a:t>09:30:00.006</a:t>
            </a:r>
          </a:p>
        </p:txBody>
      </p:sp>
    </p:spTree>
    <p:extLst>
      <p:ext uri="{BB962C8B-B14F-4D97-AF65-F5344CB8AC3E}">
        <p14:creationId xmlns:p14="http://schemas.microsoft.com/office/powerpoint/2010/main" val="570396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5ACB3-482E-4576-9BE7-0788372B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 Data vs OHLC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F6C8B-0257-4C54-BA75-46D76155F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Tick: Every Event</a:t>
            </a:r>
          </a:p>
          <a:p>
            <a:r>
              <a:rPr dirty="0"/>
              <a:t>OHLC: Summary</a:t>
            </a:r>
          </a:p>
          <a:p>
            <a:r>
              <a:rPr dirty="0"/>
              <a:t>High Detail vs Compact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9BE16EB8-020D-4C33-9140-53A8424331A6}"/>
              </a:ext>
            </a:extLst>
          </p:cNvPr>
          <p:cNvSpPr>
            <a:spLocks noGrp="1"/>
          </p:cNvSpPr>
          <p:nvPr/>
        </p:nvSpPr>
        <p:spPr>
          <a:xfrm>
            <a:off x="352425" y="1281112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C9CFA4-3077-4EF2-A797-23046EAAEE16}"/>
              </a:ext>
            </a:extLst>
          </p:cNvPr>
          <p:cNvSpPr>
            <a:spLocks noGrp="1"/>
          </p:cNvSpPr>
          <p:nvPr/>
        </p:nvSpPr>
        <p:spPr>
          <a:xfrm>
            <a:off x="1285875" y="1476375"/>
            <a:ext cx="3286125" cy="40005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1077FA-625E-41D2-AAF4-D9A08C133D84}"/>
              </a:ext>
            </a:extLst>
          </p:cNvPr>
          <p:cNvSpPr>
            <a:spLocks noGrp="1"/>
          </p:cNvSpPr>
          <p:nvPr/>
        </p:nvSpPr>
        <p:spPr>
          <a:xfrm>
            <a:off x="1333500" y="1562100"/>
            <a:ext cx="3190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Tick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0683FC-137B-4D65-AF0E-3ABCFFCA76D7}"/>
              </a:ext>
            </a:extLst>
          </p:cNvPr>
          <p:cNvSpPr>
            <a:spLocks noGrp="1"/>
          </p:cNvSpPr>
          <p:nvPr/>
        </p:nvSpPr>
        <p:spPr>
          <a:xfrm>
            <a:off x="4572000" y="1476375"/>
            <a:ext cx="3286125" cy="40005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BEE79B-CC0D-43BB-BDF2-799DE0940F87}"/>
              </a:ext>
            </a:extLst>
          </p:cNvPr>
          <p:cNvSpPr>
            <a:spLocks noGrp="1"/>
          </p:cNvSpPr>
          <p:nvPr/>
        </p:nvSpPr>
        <p:spPr>
          <a:xfrm>
            <a:off x="4619625" y="1562100"/>
            <a:ext cx="3190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OHLC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28B04A-4E05-4B27-AA06-89952905091A}"/>
              </a:ext>
            </a:extLst>
          </p:cNvPr>
          <p:cNvSpPr>
            <a:spLocks noGrp="1"/>
          </p:cNvSpPr>
          <p:nvPr/>
        </p:nvSpPr>
        <p:spPr>
          <a:xfrm>
            <a:off x="1285875" y="1876425"/>
            <a:ext cx="3286125" cy="40005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67E09E-E74B-486A-907A-4614988F9526}"/>
              </a:ext>
            </a:extLst>
          </p:cNvPr>
          <p:cNvSpPr>
            <a:spLocks noGrp="1"/>
          </p:cNvSpPr>
          <p:nvPr/>
        </p:nvSpPr>
        <p:spPr>
          <a:xfrm>
            <a:off x="1333500" y="1962150"/>
            <a:ext cx="3190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Every market event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8C1416-A2E6-4617-84C6-6513EF78F3ED}"/>
              </a:ext>
            </a:extLst>
          </p:cNvPr>
          <p:cNvSpPr>
            <a:spLocks noGrp="1"/>
          </p:cNvSpPr>
          <p:nvPr/>
        </p:nvSpPr>
        <p:spPr>
          <a:xfrm>
            <a:off x="4572000" y="1876425"/>
            <a:ext cx="3286125" cy="40005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6457E9-A8D0-4C1B-B228-C4F1E2092B42}"/>
              </a:ext>
            </a:extLst>
          </p:cNvPr>
          <p:cNvSpPr>
            <a:spLocks noGrp="1"/>
          </p:cNvSpPr>
          <p:nvPr/>
        </p:nvSpPr>
        <p:spPr>
          <a:xfrm>
            <a:off x="4619625" y="1962150"/>
            <a:ext cx="3190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Periodic summary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79FAFC-CC40-4691-8905-C6E80EB64336}"/>
              </a:ext>
            </a:extLst>
          </p:cNvPr>
          <p:cNvSpPr>
            <a:spLocks noGrp="1"/>
          </p:cNvSpPr>
          <p:nvPr/>
        </p:nvSpPr>
        <p:spPr>
          <a:xfrm>
            <a:off x="1285875" y="2276475"/>
            <a:ext cx="3286125" cy="40005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4AE1F5-641D-44A3-8422-7E5B84F33707}"/>
              </a:ext>
            </a:extLst>
          </p:cNvPr>
          <p:cNvSpPr>
            <a:spLocks noGrp="1"/>
          </p:cNvSpPr>
          <p:nvPr/>
        </p:nvSpPr>
        <p:spPr>
          <a:xfrm>
            <a:off x="1333500" y="2362200"/>
            <a:ext cx="3190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High storage need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AEB7AE-AC38-4170-8F36-B736C4E91C90}"/>
              </a:ext>
            </a:extLst>
          </p:cNvPr>
          <p:cNvSpPr>
            <a:spLocks noGrp="1"/>
          </p:cNvSpPr>
          <p:nvPr/>
        </p:nvSpPr>
        <p:spPr>
          <a:xfrm>
            <a:off x="4572000" y="2276475"/>
            <a:ext cx="3286125" cy="40005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80A59-5C9B-41EF-A72E-B0EC57340958}"/>
              </a:ext>
            </a:extLst>
          </p:cNvPr>
          <p:cNvSpPr>
            <a:spLocks noGrp="1"/>
          </p:cNvSpPr>
          <p:nvPr/>
        </p:nvSpPr>
        <p:spPr>
          <a:xfrm>
            <a:off x="4619625" y="2362200"/>
            <a:ext cx="3190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Compact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F874FB-5213-42EC-94CC-32B77469948F}"/>
              </a:ext>
            </a:extLst>
          </p:cNvPr>
          <p:cNvSpPr>
            <a:spLocks noGrp="1"/>
          </p:cNvSpPr>
          <p:nvPr/>
        </p:nvSpPr>
        <p:spPr>
          <a:xfrm>
            <a:off x="1285875" y="2676525"/>
            <a:ext cx="3286125" cy="40005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0E6C8F-18E4-490E-9924-A0D5B450EC1B}"/>
              </a:ext>
            </a:extLst>
          </p:cNvPr>
          <p:cNvSpPr>
            <a:spLocks noGrp="1"/>
          </p:cNvSpPr>
          <p:nvPr/>
        </p:nvSpPr>
        <p:spPr>
          <a:xfrm>
            <a:off x="1333500" y="2762250"/>
            <a:ext cx="3190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Best for microstructure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F6D902-2385-4A20-A3BE-2A908DE8867E}"/>
              </a:ext>
            </a:extLst>
          </p:cNvPr>
          <p:cNvSpPr>
            <a:spLocks noGrp="1"/>
          </p:cNvSpPr>
          <p:nvPr/>
        </p:nvSpPr>
        <p:spPr>
          <a:xfrm>
            <a:off x="4572000" y="2676525"/>
            <a:ext cx="3286125" cy="40005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3318B3-A205-4DB7-8306-4D67AAA6678A}"/>
              </a:ext>
            </a:extLst>
          </p:cNvPr>
          <p:cNvSpPr>
            <a:spLocks noGrp="1"/>
          </p:cNvSpPr>
          <p:nvPr/>
        </p:nvSpPr>
        <p:spPr>
          <a:xfrm>
            <a:off x="4619625" y="2762250"/>
            <a:ext cx="3190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Best for charting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BE4FFA-A3DC-4743-957E-A07CBE2FD46A}"/>
              </a:ext>
            </a:extLst>
          </p:cNvPr>
          <p:cNvSpPr>
            <a:spLocks noGrp="1"/>
          </p:cNvSpPr>
          <p:nvPr/>
        </p:nvSpPr>
        <p:spPr>
          <a:xfrm>
            <a:off x="1285875" y="3076575"/>
            <a:ext cx="3286125" cy="40005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01CE20-36F1-493A-8F8C-E2956491185C}"/>
              </a:ext>
            </a:extLst>
          </p:cNvPr>
          <p:cNvSpPr>
            <a:spLocks noGrp="1"/>
          </p:cNvSpPr>
          <p:nvPr/>
        </p:nvSpPr>
        <p:spPr>
          <a:xfrm>
            <a:off x="1333500" y="3162300"/>
            <a:ext cx="3190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Exact event time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536B53-149F-4D65-8E01-C306E33DA6DF}"/>
              </a:ext>
            </a:extLst>
          </p:cNvPr>
          <p:cNvSpPr>
            <a:spLocks noGrp="1"/>
          </p:cNvSpPr>
          <p:nvPr/>
        </p:nvSpPr>
        <p:spPr>
          <a:xfrm>
            <a:off x="4572000" y="3076575"/>
            <a:ext cx="3286125" cy="40005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E5F259-A550-4CD9-94F4-21A7D0FCCEE8}"/>
              </a:ext>
            </a:extLst>
          </p:cNvPr>
          <p:cNvSpPr>
            <a:spLocks noGrp="1"/>
          </p:cNvSpPr>
          <p:nvPr/>
        </p:nvSpPr>
        <p:spPr>
          <a:xfrm>
            <a:off x="4619625" y="3162300"/>
            <a:ext cx="3190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Interval based</a:t>
            </a:r>
          </a:p>
        </p:txBody>
      </p:sp>
    </p:spTree>
    <p:extLst>
      <p:ext uri="{BB962C8B-B14F-4D97-AF65-F5344CB8AC3E}">
        <p14:creationId xmlns:p14="http://schemas.microsoft.com/office/powerpoint/2010/main" val="131237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D1CA-A72D-4D3B-B48D-37C0C20D2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Tick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A5799-565B-4D95-9747-0954214EE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Intraday Analysis</a:t>
            </a:r>
          </a:p>
          <a:p>
            <a:r>
              <a:t>Market Microstructure</a:t>
            </a:r>
          </a:p>
          <a:p>
            <a:r>
              <a:t>Liquidity Research</a:t>
            </a:r>
          </a:p>
          <a:p>
            <a:r>
              <a:t>Execution Analysis</a:t>
            </a:r>
          </a:p>
        </p:txBody>
      </p:sp>
    </p:spTree>
    <p:extLst>
      <p:ext uri="{BB962C8B-B14F-4D97-AF65-F5344CB8AC3E}">
        <p14:creationId xmlns:p14="http://schemas.microsoft.com/office/powerpoint/2010/main" val="1731406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2E463-9E3B-442D-9DE9-37EB3542F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Of Tick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C19F0-320E-4838-BF41-C39DBEB7F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Massive Storage</a:t>
            </a:r>
          </a:p>
          <a:p>
            <a:r>
              <a:t>Memory Usage</a:t>
            </a:r>
          </a:p>
          <a:p>
            <a:r>
              <a:t>Query Performance</a:t>
            </a:r>
          </a:p>
          <a:p>
            <a:r>
              <a:t>Infrastructure Requirements</a:t>
            </a:r>
          </a:p>
        </p:txBody>
      </p:sp>
    </p:spTree>
    <p:extLst>
      <p:ext uri="{BB962C8B-B14F-4D97-AF65-F5344CB8AC3E}">
        <p14:creationId xmlns:p14="http://schemas.microsoft.com/office/powerpoint/2010/main" val="1125157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9941B-6907-476B-8477-FDD7F9331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Case Study: Large Trade Investigation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AA197-3B44-4F2E-B64C-75BCE760A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happened 30 seconds before a large trade?</a:t>
            </a:r>
          </a:p>
          <a:p>
            <a:r>
              <a:t>Historical Ticks</a:t>
            </a:r>
          </a:p>
          <a:p>
            <a:r>
              <a:t>Accurate Timestamps</a:t>
            </a:r>
          </a:p>
          <a:p>
            <a:r>
              <a:t>Fast Queries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F35DACAE-3642-4825-B6EC-4414F8991FA7}"/>
              </a:ext>
            </a:extLst>
          </p:cNvPr>
          <p:cNvSpPr>
            <a:spLocks noGrp="1"/>
          </p:cNvSpPr>
          <p:nvPr/>
        </p:nvSpPr>
        <p:spPr>
          <a:xfrm>
            <a:off x="357187" y="1495425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C19BD4-97B9-437D-91E3-ACDFD616079A}"/>
              </a:ext>
            </a:extLst>
          </p:cNvPr>
          <p:cNvSpPr>
            <a:spLocks noGrp="1"/>
          </p:cNvSpPr>
          <p:nvPr/>
        </p:nvSpPr>
        <p:spPr>
          <a:xfrm>
            <a:off x="904875" y="2714625"/>
            <a:ext cx="72390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5E51603-6D40-48EC-A772-341ADEC27052}"/>
              </a:ext>
            </a:extLst>
          </p:cNvPr>
          <p:cNvSpPr>
            <a:spLocks noGrp="1"/>
          </p:cNvSpPr>
          <p:nvPr/>
        </p:nvSpPr>
        <p:spPr>
          <a:xfrm>
            <a:off x="1143000" y="2619375"/>
            <a:ext cx="190500" cy="190500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4D9D8-4EC6-4BFE-A556-A9AF23E47513}"/>
              </a:ext>
            </a:extLst>
          </p:cNvPr>
          <p:cNvSpPr>
            <a:spLocks noGrp="1"/>
          </p:cNvSpPr>
          <p:nvPr/>
        </p:nvSpPr>
        <p:spPr>
          <a:xfrm>
            <a:off x="647700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T-30s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637CDD-65FC-49F6-BD6B-57122E0A7C56}"/>
              </a:ext>
            </a:extLst>
          </p:cNvPr>
          <p:cNvSpPr>
            <a:spLocks noGrp="1"/>
          </p:cNvSpPr>
          <p:nvPr/>
        </p:nvSpPr>
        <p:spPr>
          <a:xfrm>
            <a:off x="647700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market activity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EB4F7EB-E87F-4ED1-A187-6C9B2F6FE2E1}"/>
              </a:ext>
            </a:extLst>
          </p:cNvPr>
          <p:cNvSpPr>
            <a:spLocks noGrp="1"/>
          </p:cNvSpPr>
          <p:nvPr/>
        </p:nvSpPr>
        <p:spPr>
          <a:xfrm>
            <a:off x="2786063" y="2619375"/>
            <a:ext cx="190500" cy="190500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87060D-3DAA-45BE-B2F3-BAE20E702834}"/>
              </a:ext>
            </a:extLst>
          </p:cNvPr>
          <p:cNvSpPr>
            <a:spLocks noGrp="1"/>
          </p:cNvSpPr>
          <p:nvPr/>
        </p:nvSpPr>
        <p:spPr>
          <a:xfrm>
            <a:off x="2290763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T-10s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1C77E5-4395-4923-A571-48570366889D}"/>
              </a:ext>
            </a:extLst>
          </p:cNvPr>
          <p:cNvSpPr>
            <a:spLocks noGrp="1"/>
          </p:cNvSpPr>
          <p:nvPr/>
        </p:nvSpPr>
        <p:spPr>
          <a:xfrm>
            <a:off x="2290763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quotes shift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35DF8B4-D449-4043-A116-E00F48E465E2}"/>
              </a:ext>
            </a:extLst>
          </p:cNvPr>
          <p:cNvSpPr>
            <a:spLocks noGrp="1"/>
          </p:cNvSpPr>
          <p:nvPr/>
        </p:nvSpPr>
        <p:spPr>
          <a:xfrm>
            <a:off x="4429125" y="2619375"/>
            <a:ext cx="190500" cy="190500"/>
          </a:xfrm>
          <a:prstGeom prst="ellipse">
            <a:avLst/>
          </a:prstGeom>
          <a:solidFill>
            <a:srgbClr val="C65353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B79ED5-7B82-49E2-B793-AFC5C5EE2649}"/>
              </a:ext>
            </a:extLst>
          </p:cNvPr>
          <p:cNvSpPr>
            <a:spLocks noGrp="1"/>
          </p:cNvSpPr>
          <p:nvPr/>
        </p:nvSpPr>
        <p:spPr>
          <a:xfrm>
            <a:off x="3933825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C6535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5353"/>
                </a:solidFill>
                <a:latin typeface="Aptos"/>
                <a:ea typeface="Aptos"/>
                <a:cs typeface="Aptos"/>
              </a:rPr>
              <a:t>Large trade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A8DCDD-807A-41EA-AE68-18B5B6530684}"/>
              </a:ext>
            </a:extLst>
          </p:cNvPr>
          <p:cNvSpPr>
            <a:spLocks noGrp="1"/>
          </p:cNvSpPr>
          <p:nvPr/>
        </p:nvSpPr>
        <p:spPr>
          <a:xfrm>
            <a:off x="3933825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highlight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3071921-0A59-446D-9E59-F7EEF7B86635}"/>
              </a:ext>
            </a:extLst>
          </p:cNvPr>
          <p:cNvSpPr>
            <a:spLocks noGrp="1"/>
          </p:cNvSpPr>
          <p:nvPr/>
        </p:nvSpPr>
        <p:spPr>
          <a:xfrm>
            <a:off x="6072188" y="2619375"/>
            <a:ext cx="190500" cy="190500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D0C3CD-8057-4FFE-A613-53076ACBF87B}"/>
              </a:ext>
            </a:extLst>
          </p:cNvPr>
          <p:cNvSpPr>
            <a:spLocks noGrp="1"/>
          </p:cNvSpPr>
          <p:nvPr/>
        </p:nvSpPr>
        <p:spPr>
          <a:xfrm>
            <a:off x="5576888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T+10s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5BB67E-66E0-44D5-A091-9D62D482708F}"/>
              </a:ext>
            </a:extLst>
          </p:cNvPr>
          <p:cNvSpPr>
            <a:spLocks noGrp="1"/>
          </p:cNvSpPr>
          <p:nvPr/>
        </p:nvSpPr>
        <p:spPr>
          <a:xfrm>
            <a:off x="5576888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1CD25BB-AC6F-480E-8849-72CEF47759A1}"/>
              </a:ext>
            </a:extLst>
          </p:cNvPr>
          <p:cNvSpPr>
            <a:spLocks noGrp="1"/>
          </p:cNvSpPr>
          <p:nvPr/>
        </p:nvSpPr>
        <p:spPr>
          <a:xfrm>
            <a:off x="7715250" y="2619375"/>
            <a:ext cx="190500" cy="190500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15E602-C11C-4924-97D6-B2AA733CA5B0}"/>
              </a:ext>
            </a:extLst>
          </p:cNvPr>
          <p:cNvSpPr>
            <a:spLocks noGrp="1"/>
          </p:cNvSpPr>
          <p:nvPr/>
        </p:nvSpPr>
        <p:spPr>
          <a:xfrm>
            <a:off x="7219950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T+30s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E0F8AE-FAF2-4466-999B-BAC7965942D8}"/>
              </a:ext>
            </a:extLst>
          </p:cNvPr>
          <p:cNvSpPr>
            <a:spLocks noGrp="1"/>
          </p:cNvSpPr>
          <p:nvPr/>
        </p:nvSpPr>
        <p:spPr>
          <a:xfrm>
            <a:off x="7219950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recovery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0204A5-1039-4E3B-9CB7-4BB57B416097}"/>
              </a:ext>
            </a:extLst>
          </p:cNvPr>
          <p:cNvSpPr>
            <a:spLocks noGrp="1"/>
          </p:cNvSpPr>
          <p:nvPr/>
        </p:nvSpPr>
        <p:spPr>
          <a:xfrm>
            <a:off x="590550" y="4333875"/>
            <a:ext cx="800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Case question: what changed before the large trade printed?</a:t>
            </a:r>
          </a:p>
        </p:txBody>
      </p:sp>
    </p:spTree>
    <p:extLst>
      <p:ext uri="{BB962C8B-B14F-4D97-AF65-F5344CB8AC3E}">
        <p14:creationId xmlns:p14="http://schemas.microsoft.com/office/powerpoint/2010/main" val="2061725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9E94-E603-4167-885F-63E481D00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Time-Series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6982D-FB49-45AE-96C4-86A49E196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Indexed By Time</a:t>
            </a:r>
          </a:p>
          <a:p>
            <a:r>
              <a:t>Events Occur Sequentially</a:t>
            </a:r>
          </a:p>
          <a:p>
            <a:r>
              <a:t>Time Is Primary Key</a:t>
            </a:r>
          </a:p>
          <a:p>
            <a:r>
              <a:t>Prices, Trades, Quotes</a:t>
            </a:r>
          </a:p>
        </p:txBody>
      </p:sp>
    </p:spTree>
    <p:extLst>
      <p:ext uri="{BB962C8B-B14F-4D97-AF65-F5344CB8AC3E}">
        <p14:creationId xmlns:p14="http://schemas.microsoft.com/office/powerpoint/2010/main" val="1573297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DB686-6802-4279-AC7B-87485D3C2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Time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2FD35-776D-4D54-A0D5-B68CC2A38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happened before?</a:t>
            </a:r>
          </a:p>
          <a:p>
            <a:r>
              <a:t>What happened after?</a:t>
            </a:r>
          </a:p>
          <a:p>
            <a:r>
              <a:t>What happened during?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F7EA9829-796A-445C-BD74-7557C96D666E}"/>
              </a:ext>
            </a:extLst>
          </p:cNvPr>
          <p:cNvSpPr>
            <a:spLocks noGrp="1"/>
          </p:cNvSpPr>
          <p:nvPr/>
        </p:nvSpPr>
        <p:spPr>
          <a:xfrm>
            <a:off x="352425" y="1447800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88A121-FF8E-4B49-AC68-896DBDAC2642}"/>
              </a:ext>
            </a:extLst>
          </p:cNvPr>
          <p:cNvSpPr>
            <a:spLocks noGrp="1"/>
          </p:cNvSpPr>
          <p:nvPr/>
        </p:nvSpPr>
        <p:spPr>
          <a:xfrm>
            <a:off x="904875" y="2714625"/>
            <a:ext cx="72390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107565-90D9-4D35-89F6-A87629BF7D5A}"/>
              </a:ext>
            </a:extLst>
          </p:cNvPr>
          <p:cNvSpPr>
            <a:spLocks noGrp="1"/>
          </p:cNvSpPr>
          <p:nvPr/>
        </p:nvSpPr>
        <p:spPr>
          <a:xfrm>
            <a:off x="1143000" y="2619375"/>
            <a:ext cx="190500" cy="190500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52F660-CE80-40FC-9C95-2DED7D95B846}"/>
              </a:ext>
            </a:extLst>
          </p:cNvPr>
          <p:cNvSpPr>
            <a:spLocks noGrp="1"/>
          </p:cNvSpPr>
          <p:nvPr/>
        </p:nvSpPr>
        <p:spPr>
          <a:xfrm>
            <a:off x="647700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Before event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86FB27-E8F7-474D-8BA0-D45C203CDF72}"/>
              </a:ext>
            </a:extLst>
          </p:cNvPr>
          <p:cNvSpPr>
            <a:spLocks noGrp="1"/>
          </p:cNvSpPr>
          <p:nvPr/>
        </p:nvSpPr>
        <p:spPr>
          <a:xfrm>
            <a:off x="647700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32FDED1-F476-4C3D-A6C3-FC372235C162}"/>
              </a:ext>
            </a:extLst>
          </p:cNvPr>
          <p:cNvSpPr>
            <a:spLocks noGrp="1"/>
          </p:cNvSpPr>
          <p:nvPr/>
        </p:nvSpPr>
        <p:spPr>
          <a:xfrm>
            <a:off x="4429125" y="2619375"/>
            <a:ext cx="190500" cy="190500"/>
          </a:xfrm>
          <a:prstGeom prst="ellipse">
            <a:avLst/>
          </a:prstGeom>
          <a:solidFill>
            <a:srgbClr val="C65353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73FF85-B802-4CAC-9847-862A42DB48C9}"/>
              </a:ext>
            </a:extLst>
          </p:cNvPr>
          <p:cNvSpPr>
            <a:spLocks noGrp="1"/>
          </p:cNvSpPr>
          <p:nvPr/>
        </p:nvSpPr>
        <p:spPr>
          <a:xfrm>
            <a:off x="3933825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C6535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5353"/>
                </a:solidFill>
                <a:latin typeface="Aptos"/>
                <a:ea typeface="Aptos"/>
                <a:cs typeface="Aptos"/>
              </a:rPr>
              <a:t>Event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CB36BA-1DB4-4625-9DC4-63666C1EA5F5}"/>
              </a:ext>
            </a:extLst>
          </p:cNvPr>
          <p:cNvSpPr>
            <a:spLocks noGrp="1"/>
          </p:cNvSpPr>
          <p:nvPr/>
        </p:nvSpPr>
        <p:spPr>
          <a:xfrm>
            <a:off x="3933825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trade/news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549170D-565F-4A34-937B-14FC3ABBE682}"/>
              </a:ext>
            </a:extLst>
          </p:cNvPr>
          <p:cNvSpPr>
            <a:spLocks noGrp="1"/>
          </p:cNvSpPr>
          <p:nvPr/>
        </p:nvSpPr>
        <p:spPr>
          <a:xfrm>
            <a:off x="7715250" y="2619375"/>
            <a:ext cx="190500" cy="190500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106304-0CCC-4B07-926C-35E7A3AF2B8C}"/>
              </a:ext>
            </a:extLst>
          </p:cNvPr>
          <p:cNvSpPr>
            <a:spLocks noGrp="1"/>
          </p:cNvSpPr>
          <p:nvPr/>
        </p:nvSpPr>
        <p:spPr>
          <a:xfrm>
            <a:off x="7219950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After event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B678B3-C010-4147-8859-E0B77DDFDACB}"/>
              </a:ext>
            </a:extLst>
          </p:cNvPr>
          <p:cNvSpPr>
            <a:spLocks noGrp="1"/>
          </p:cNvSpPr>
          <p:nvPr/>
        </p:nvSpPr>
        <p:spPr>
          <a:xfrm>
            <a:off x="7219950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reaction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9E1D0F4-B797-48EC-99F1-3496AB670D30}"/>
              </a:ext>
            </a:extLst>
          </p:cNvPr>
          <p:cNvSpPr>
            <a:spLocks noGrp="1"/>
          </p:cNvSpPr>
          <p:nvPr/>
        </p:nvSpPr>
        <p:spPr>
          <a:xfrm>
            <a:off x="1285875" y="1447800"/>
            <a:ext cx="66675" cy="66675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62852B-7338-42C6-847C-C807CE6E3729}"/>
              </a:ext>
            </a:extLst>
          </p:cNvPr>
          <p:cNvSpPr>
            <a:spLocks noGrp="1"/>
          </p:cNvSpPr>
          <p:nvPr/>
        </p:nvSpPr>
        <p:spPr>
          <a:xfrm>
            <a:off x="1457325" y="13811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What happened before?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7A41EA4-F6B8-4597-BA2C-C6E3A9F398BC}"/>
              </a:ext>
            </a:extLst>
          </p:cNvPr>
          <p:cNvSpPr>
            <a:spLocks noGrp="1"/>
          </p:cNvSpPr>
          <p:nvPr/>
        </p:nvSpPr>
        <p:spPr>
          <a:xfrm>
            <a:off x="1285875" y="1752600"/>
            <a:ext cx="66675" cy="66675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0D7A21-7197-4AEC-B7FB-8802725EFAE6}"/>
              </a:ext>
            </a:extLst>
          </p:cNvPr>
          <p:cNvSpPr>
            <a:spLocks noGrp="1"/>
          </p:cNvSpPr>
          <p:nvPr/>
        </p:nvSpPr>
        <p:spPr>
          <a:xfrm>
            <a:off x="1457325" y="16859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What happened during?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FB647B5-1A81-4AA5-95F6-51EA37BE1726}"/>
              </a:ext>
            </a:extLst>
          </p:cNvPr>
          <p:cNvSpPr>
            <a:spLocks noGrp="1"/>
          </p:cNvSpPr>
          <p:nvPr/>
        </p:nvSpPr>
        <p:spPr>
          <a:xfrm>
            <a:off x="1285875" y="2057400"/>
            <a:ext cx="66675" cy="66675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B1364B-3C0C-4574-9067-C713F2BE9CE3}"/>
              </a:ext>
            </a:extLst>
          </p:cNvPr>
          <p:cNvSpPr>
            <a:spLocks noGrp="1"/>
          </p:cNvSpPr>
          <p:nvPr/>
        </p:nvSpPr>
        <p:spPr>
          <a:xfrm>
            <a:off x="1457325" y="19907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What happened after?</a:t>
            </a:r>
          </a:p>
        </p:txBody>
      </p:sp>
    </p:spTree>
    <p:extLst>
      <p:ext uri="{BB962C8B-B14F-4D97-AF65-F5344CB8AC3E}">
        <p14:creationId xmlns:p14="http://schemas.microsoft.com/office/powerpoint/2010/main" val="1492390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ED2A6-B764-4AB3-8766-88165C58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KDB Was Created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D43AE-A213-40EF-B7E6-CB7AB0CC3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Massive Market Data</a:t>
            </a:r>
          </a:p>
          <a:p>
            <a:r>
              <a:t>Slow Traditional Queries</a:t>
            </a:r>
          </a:p>
          <a:p>
            <a:r>
              <a:t>Real-Time Requirements</a:t>
            </a:r>
          </a:p>
          <a:p>
            <a:r>
              <a:t>Solution: KDB+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1204EB4D-358C-45BA-99A4-8BA979DC1122}"/>
              </a:ext>
            </a:extLst>
          </p:cNvPr>
          <p:cNvSpPr>
            <a:spLocks noGrp="1"/>
          </p:cNvSpPr>
          <p:nvPr/>
        </p:nvSpPr>
        <p:spPr>
          <a:xfrm>
            <a:off x="404812" y="1284103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E99CAD-1F68-4444-8144-7CD72A419090}"/>
              </a:ext>
            </a:extLst>
          </p:cNvPr>
          <p:cNvSpPr>
            <a:spLocks noGrp="1"/>
          </p:cNvSpPr>
          <p:nvPr/>
        </p:nvSpPr>
        <p:spPr>
          <a:xfrm>
            <a:off x="666750" y="1285874"/>
            <a:ext cx="1471613" cy="504823"/>
          </a:xfrm>
          <a:prstGeom prst="roundRect">
            <a:avLst>
              <a:gd name="adj" fmla="val 19048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D94066-BA0F-4788-AE12-6AC35BC3F821}"/>
              </a:ext>
            </a:extLst>
          </p:cNvPr>
          <p:cNvSpPr>
            <a:spLocks noGrp="1"/>
          </p:cNvSpPr>
          <p:nvPr/>
        </p:nvSpPr>
        <p:spPr>
          <a:xfrm>
            <a:off x="742950" y="1390650"/>
            <a:ext cx="1323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Massive market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E03DAF-19EB-4800-814E-9223D1F1FFCB}"/>
              </a:ext>
            </a:extLst>
          </p:cNvPr>
          <p:cNvSpPr>
            <a:spLocks noGrp="1"/>
          </p:cNvSpPr>
          <p:nvPr/>
        </p:nvSpPr>
        <p:spPr>
          <a:xfrm>
            <a:off x="2190750" y="1466850"/>
            <a:ext cx="11049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C5D06F0C-4007-4F6C-845E-E83A1E5A71DE}"/>
              </a:ext>
            </a:extLst>
          </p:cNvPr>
          <p:cNvSpPr>
            <a:spLocks noGrp="1"/>
          </p:cNvSpPr>
          <p:nvPr/>
        </p:nvSpPr>
        <p:spPr>
          <a:xfrm>
            <a:off x="3248025" y="1419225"/>
            <a:ext cx="133350" cy="133350"/>
          </a:xfrm>
          <a:prstGeom prst="triangle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95666D-C2F3-440D-8EEC-72A440ED40CA}"/>
              </a:ext>
            </a:extLst>
          </p:cNvPr>
          <p:cNvSpPr>
            <a:spLocks noGrp="1"/>
          </p:cNvSpPr>
          <p:nvPr/>
        </p:nvSpPr>
        <p:spPr>
          <a:xfrm>
            <a:off x="666750" y="1838324"/>
            <a:ext cx="1471613" cy="504825"/>
          </a:xfrm>
          <a:prstGeom prst="roundRect">
            <a:avLst>
              <a:gd name="adj" fmla="val 19048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8A4411-731F-4F37-9690-CE7C0A4C6329}"/>
              </a:ext>
            </a:extLst>
          </p:cNvPr>
          <p:cNvSpPr>
            <a:spLocks noGrp="1"/>
          </p:cNvSpPr>
          <p:nvPr/>
        </p:nvSpPr>
        <p:spPr>
          <a:xfrm>
            <a:off x="742950" y="1943100"/>
            <a:ext cx="1323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F5A96"/>
                </a:solidFill>
                <a:latin typeface="Aptos"/>
                <a:ea typeface="Aptos"/>
                <a:cs typeface="Aptos"/>
              </a:rPr>
              <a:t>Slow traditional queries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559D99-BD8D-4E43-9E9F-46BD45DD97FE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11049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4D66CA62-B9FC-4DA5-B593-A88C289EBFE7}"/>
              </a:ext>
            </a:extLst>
          </p:cNvPr>
          <p:cNvSpPr>
            <a:spLocks noGrp="1"/>
          </p:cNvSpPr>
          <p:nvPr/>
        </p:nvSpPr>
        <p:spPr>
          <a:xfrm>
            <a:off x="3248025" y="1971675"/>
            <a:ext cx="133350" cy="133350"/>
          </a:xfrm>
          <a:prstGeom prst="triangle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8C69140-F9B2-4426-BF65-39370A019B77}"/>
              </a:ext>
            </a:extLst>
          </p:cNvPr>
          <p:cNvSpPr>
            <a:spLocks noGrp="1"/>
          </p:cNvSpPr>
          <p:nvPr/>
        </p:nvSpPr>
        <p:spPr>
          <a:xfrm>
            <a:off x="666750" y="2390775"/>
            <a:ext cx="1524000" cy="590550"/>
          </a:xfrm>
          <a:prstGeom prst="roundRect">
            <a:avLst>
              <a:gd name="adj" fmla="val 19048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695932-E58C-4E5A-A087-C9CB5CC3DB37}"/>
              </a:ext>
            </a:extLst>
          </p:cNvPr>
          <p:cNvSpPr>
            <a:spLocks noGrp="1"/>
          </p:cNvSpPr>
          <p:nvPr/>
        </p:nvSpPr>
        <p:spPr>
          <a:xfrm>
            <a:off x="742950" y="2495550"/>
            <a:ext cx="1323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Realtime requirements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B23470-17F4-4C3C-8557-B89F62ECD39F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11049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1DEB0226-4DD9-4FB3-85FB-DCC99955CEC6}"/>
              </a:ext>
            </a:extLst>
          </p:cNvPr>
          <p:cNvSpPr>
            <a:spLocks noGrp="1"/>
          </p:cNvSpPr>
          <p:nvPr/>
        </p:nvSpPr>
        <p:spPr>
          <a:xfrm>
            <a:off x="3248025" y="2524125"/>
            <a:ext cx="133350" cy="133350"/>
          </a:xfrm>
          <a:prstGeom prst="triangle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9C3747-102C-4598-BDE0-B39A2F006252}"/>
              </a:ext>
            </a:extLst>
          </p:cNvPr>
          <p:cNvSpPr>
            <a:spLocks noGrp="1"/>
          </p:cNvSpPr>
          <p:nvPr/>
        </p:nvSpPr>
        <p:spPr>
          <a:xfrm>
            <a:off x="3476625" y="2190750"/>
            <a:ext cx="1905000" cy="666750"/>
          </a:xfrm>
          <a:prstGeom prst="roundRect">
            <a:avLst>
              <a:gd name="adj" fmla="val 11429"/>
            </a:avLst>
          </a:prstGeom>
          <a:solidFill>
            <a:srgbClr val="EAF5EF"/>
          </a:solidFill>
          <a:ln w="13335">
            <a:solidFill>
              <a:srgbClr val="2E7D5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3CC51D-3B8F-43C4-82D4-255662BEB9FD}"/>
              </a:ext>
            </a:extLst>
          </p:cNvPr>
          <p:cNvSpPr>
            <a:spLocks noGrp="1"/>
          </p:cNvSpPr>
          <p:nvPr/>
        </p:nvSpPr>
        <p:spPr>
          <a:xfrm>
            <a:off x="3552825" y="2428875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860FAE-F76D-4D20-A496-CB0239D37B6D}"/>
              </a:ext>
            </a:extLst>
          </p:cNvPr>
          <p:cNvSpPr>
            <a:spLocks noGrp="1"/>
          </p:cNvSpPr>
          <p:nvPr/>
        </p:nvSpPr>
        <p:spPr>
          <a:xfrm>
            <a:off x="5429250" y="2305050"/>
            <a:ext cx="9906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C04F98F9-1BC9-43B1-85A2-48DCDD4A9894}"/>
              </a:ext>
            </a:extLst>
          </p:cNvPr>
          <p:cNvSpPr>
            <a:spLocks noGrp="1"/>
          </p:cNvSpPr>
          <p:nvPr/>
        </p:nvSpPr>
        <p:spPr>
          <a:xfrm>
            <a:off x="6372225" y="2257425"/>
            <a:ext cx="133350" cy="133350"/>
          </a:xfrm>
          <a:prstGeom prst="triangle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0CDE6E7-19FF-4964-BD2A-0DABB859AAF6}"/>
              </a:ext>
            </a:extLst>
          </p:cNvPr>
          <p:cNvSpPr>
            <a:spLocks noGrp="1"/>
          </p:cNvSpPr>
          <p:nvPr/>
        </p:nvSpPr>
        <p:spPr>
          <a:xfrm>
            <a:off x="6619874" y="2114550"/>
            <a:ext cx="1538841" cy="666750"/>
          </a:xfrm>
          <a:prstGeom prst="roundRect">
            <a:avLst>
              <a:gd name="adj" fmla="val 19048"/>
            </a:avLst>
          </a:prstGeom>
          <a:solidFill>
            <a:srgbClr val="F5F8FC"/>
          </a:solidFill>
          <a:ln w="13335">
            <a:solidFill>
              <a:srgbClr val="596777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591D75-1A79-4578-B31E-E647F92C1BBC}"/>
              </a:ext>
            </a:extLst>
          </p:cNvPr>
          <p:cNvSpPr>
            <a:spLocks noGrp="1"/>
          </p:cNvSpPr>
          <p:nvPr/>
        </p:nvSpPr>
        <p:spPr>
          <a:xfrm>
            <a:off x="6696075" y="2219325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777"/>
                </a:solidFill>
                <a:latin typeface="Aptos"/>
                <a:ea typeface="Aptos"/>
                <a:cs typeface="Aptos"/>
              </a:rPr>
              <a:t>KDB+</a:t>
            </a:r>
          </a:p>
          <a:p>
            <a:pPr algn="ctr">
              <a:buNone/>
              <a:defRPr sz="1200" b="1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777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44EB90-6AA6-4D49-BF5C-5162F3F8260B}"/>
              </a:ext>
            </a:extLst>
          </p:cNvPr>
          <p:cNvSpPr>
            <a:spLocks noGrp="1"/>
          </p:cNvSpPr>
          <p:nvPr/>
        </p:nvSpPr>
        <p:spPr>
          <a:xfrm>
            <a:off x="590550" y="4333875"/>
            <a:ext cx="800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KDB+ exists because market data is both large and time-sensitive.</a:t>
            </a:r>
          </a:p>
        </p:txBody>
      </p:sp>
    </p:spTree>
    <p:extLst>
      <p:ext uri="{BB962C8B-B14F-4D97-AF65-F5344CB8AC3E}">
        <p14:creationId xmlns:p14="http://schemas.microsoft.com/office/powerpoint/2010/main" val="496848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D3F2-A8DA-4958-A964-1B3715489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Quant Firms Use KDB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8FDB1-3362-4473-BB26-091592FE3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Speed</a:t>
            </a:r>
          </a:p>
          <a:p>
            <a:r>
              <a:t>Scale</a:t>
            </a:r>
          </a:p>
          <a:p>
            <a:r>
              <a:t>Real-Time Analytics</a:t>
            </a:r>
          </a:p>
          <a:p>
            <a:r>
              <a:t>Historical Research</a:t>
            </a:r>
          </a:p>
        </p:txBody>
      </p:sp>
    </p:spTree>
    <p:extLst>
      <p:ext uri="{BB962C8B-B14F-4D97-AF65-F5344CB8AC3E}">
        <p14:creationId xmlns:p14="http://schemas.microsoft.com/office/powerpoint/2010/main" val="512604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F812-0884-4AA3-84FB-F65B30E28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KDB Is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5EB33-9004-4F6C-B865-EE543B919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Hedge Funds</a:t>
            </a:r>
          </a:p>
          <a:p>
            <a:r>
              <a:t>Investment Banks</a:t>
            </a:r>
          </a:p>
          <a:p>
            <a:r>
              <a:t>Market Makers</a:t>
            </a:r>
          </a:p>
          <a:p>
            <a:r>
              <a:t>HFT Firms</a:t>
            </a:r>
          </a:p>
        </p:txBody>
      </p:sp>
    </p:spTree>
    <p:extLst>
      <p:ext uri="{BB962C8B-B14F-4D97-AF65-F5344CB8AC3E}">
        <p14:creationId xmlns:p14="http://schemas.microsoft.com/office/powerpoint/2010/main" val="91715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13DD3-D4DF-472B-84DE-8997FC9C8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Idea Behind KDB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D53DA-7CB4-4D60-8456-265DC348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Data Efficiently</a:t>
            </a:r>
          </a:p>
          <a:p>
            <a:r>
              <a:t>Query Quickly</a:t>
            </a:r>
          </a:p>
          <a:p>
            <a:r>
              <a:t>Analyze Rapidly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74692FFC-16EE-4F54-95F9-9317DA5C098B}"/>
              </a:ext>
            </a:extLst>
          </p:cNvPr>
          <p:cNvSpPr>
            <a:spLocks noGrp="1"/>
          </p:cNvSpPr>
          <p:nvPr/>
        </p:nvSpPr>
        <p:spPr>
          <a:xfrm>
            <a:off x="352425" y="1659344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5318AA-18EE-469F-B51D-73393198B212}"/>
              </a:ext>
            </a:extLst>
          </p:cNvPr>
          <p:cNvSpPr>
            <a:spLocks noGrp="1"/>
          </p:cNvSpPr>
          <p:nvPr/>
        </p:nvSpPr>
        <p:spPr>
          <a:xfrm>
            <a:off x="1809750" y="2476500"/>
            <a:ext cx="1701800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0BD30F-19DC-47E2-8463-148FAA980D64}"/>
              </a:ext>
            </a:extLst>
          </p:cNvPr>
          <p:cNvSpPr>
            <a:spLocks noGrp="1"/>
          </p:cNvSpPr>
          <p:nvPr/>
        </p:nvSpPr>
        <p:spPr>
          <a:xfrm>
            <a:off x="1885950" y="2676525"/>
            <a:ext cx="154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Store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EBCFD-8047-4795-A147-838F133867A4}"/>
              </a:ext>
            </a:extLst>
          </p:cNvPr>
          <p:cNvSpPr>
            <a:spLocks noGrp="1"/>
          </p:cNvSpPr>
          <p:nvPr/>
        </p:nvSpPr>
        <p:spPr>
          <a:xfrm>
            <a:off x="3540125" y="275272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15DA0054-DC26-4969-AA89-72D8284646C6}"/>
              </a:ext>
            </a:extLst>
          </p:cNvPr>
          <p:cNvSpPr>
            <a:spLocks noGrp="1"/>
          </p:cNvSpPr>
          <p:nvPr/>
        </p:nvSpPr>
        <p:spPr>
          <a:xfrm>
            <a:off x="3559175" y="270510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23BBB97-6E3F-4652-9955-A0C6FD6FFB4D}"/>
              </a:ext>
            </a:extLst>
          </p:cNvPr>
          <p:cNvSpPr>
            <a:spLocks noGrp="1"/>
          </p:cNvSpPr>
          <p:nvPr/>
        </p:nvSpPr>
        <p:spPr>
          <a:xfrm>
            <a:off x="3721100" y="2476500"/>
            <a:ext cx="1701800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247A98-5D4D-4BC0-A1AA-228F52ADBDD9}"/>
              </a:ext>
            </a:extLst>
          </p:cNvPr>
          <p:cNvSpPr>
            <a:spLocks noGrp="1"/>
          </p:cNvSpPr>
          <p:nvPr/>
        </p:nvSpPr>
        <p:spPr>
          <a:xfrm>
            <a:off x="3797300" y="2676525"/>
            <a:ext cx="154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Query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5BB608-9822-444E-B2B7-FFFEBFA2AAC5}"/>
              </a:ext>
            </a:extLst>
          </p:cNvPr>
          <p:cNvSpPr>
            <a:spLocks noGrp="1"/>
          </p:cNvSpPr>
          <p:nvPr/>
        </p:nvSpPr>
        <p:spPr>
          <a:xfrm>
            <a:off x="5451475" y="275272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18F8CD62-B07F-4A60-97C1-4BE104F38766}"/>
              </a:ext>
            </a:extLst>
          </p:cNvPr>
          <p:cNvSpPr>
            <a:spLocks noGrp="1"/>
          </p:cNvSpPr>
          <p:nvPr/>
        </p:nvSpPr>
        <p:spPr>
          <a:xfrm>
            <a:off x="5470525" y="270510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62E0A8-C35A-41CA-AF2B-E61D55010F63}"/>
              </a:ext>
            </a:extLst>
          </p:cNvPr>
          <p:cNvSpPr>
            <a:spLocks noGrp="1"/>
          </p:cNvSpPr>
          <p:nvPr/>
        </p:nvSpPr>
        <p:spPr>
          <a:xfrm>
            <a:off x="5632450" y="2476500"/>
            <a:ext cx="1701800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AC2A3E-F121-4D84-A19F-C145FCCB6DE8}"/>
              </a:ext>
            </a:extLst>
          </p:cNvPr>
          <p:cNvSpPr>
            <a:spLocks noGrp="1"/>
          </p:cNvSpPr>
          <p:nvPr/>
        </p:nvSpPr>
        <p:spPr>
          <a:xfrm>
            <a:off x="5708650" y="2676525"/>
            <a:ext cx="154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Analyze 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174CCE-ADE6-4513-A261-64176364AAAB}"/>
              </a:ext>
            </a:extLst>
          </p:cNvPr>
          <p:cNvSpPr>
            <a:spLocks noGrp="1"/>
          </p:cNvSpPr>
          <p:nvPr/>
        </p:nvSpPr>
        <p:spPr>
          <a:xfrm>
            <a:off x="590550" y="4333875"/>
            <a:ext cx="800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The core idea is simple; the power is speed and time-series fit.</a:t>
            </a:r>
          </a:p>
        </p:txBody>
      </p:sp>
    </p:spTree>
    <p:extLst>
      <p:ext uri="{BB962C8B-B14F-4D97-AF65-F5344CB8AC3E}">
        <p14:creationId xmlns:p14="http://schemas.microsoft.com/office/powerpoint/2010/main" val="682834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CE73D-E96C-49C3-92B7-425E8578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Columnar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34C07-50DD-4D8E-AE06-5874847F9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Traditional: Row Based</a:t>
            </a:r>
          </a:p>
          <a:p>
            <a:r>
              <a:t>KDB: Column Based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42A9F5A9-2CF7-4A23-82AE-9D39E24ACC09}"/>
              </a:ext>
            </a:extLst>
          </p:cNvPr>
          <p:cNvSpPr>
            <a:spLocks noGrp="1"/>
          </p:cNvSpPr>
          <p:nvPr/>
        </p:nvSpPr>
        <p:spPr>
          <a:xfrm>
            <a:off x="400050" y="1000125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22BBFD-25C0-4C71-AF0D-621950EF3202}"/>
              </a:ext>
            </a:extLst>
          </p:cNvPr>
          <p:cNvSpPr>
            <a:spLocks noGrp="1"/>
          </p:cNvSpPr>
          <p:nvPr/>
        </p:nvSpPr>
        <p:spPr>
          <a:xfrm>
            <a:off x="1143000" y="13811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Row storage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888A02-B262-49DE-92E2-EDF9B962548A}"/>
              </a:ext>
            </a:extLst>
          </p:cNvPr>
          <p:cNvSpPr>
            <a:spLocks noGrp="1"/>
          </p:cNvSpPr>
          <p:nvPr/>
        </p:nvSpPr>
        <p:spPr>
          <a:xfrm>
            <a:off x="5524500" y="13811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Column storage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EF2FB0-B2A0-432F-AB5E-64C265B912F7}"/>
              </a:ext>
            </a:extLst>
          </p:cNvPr>
          <p:cNvSpPr>
            <a:spLocks noGrp="1"/>
          </p:cNvSpPr>
          <p:nvPr/>
        </p:nvSpPr>
        <p:spPr>
          <a:xfrm>
            <a:off x="1143000" y="1809750"/>
            <a:ext cx="2476500" cy="304800"/>
          </a:xfrm>
          <a:prstGeom prst="rect">
            <a:avLst/>
          </a:prstGeom>
          <a:solidFill>
            <a:srgbClr val="E8F1FA"/>
          </a:solidFill>
          <a:ln w="7620">
            <a:solidFill>
              <a:srgbClr val="D8DEE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3C946D-D0F5-4F97-8724-C8EE693107C4}"/>
              </a:ext>
            </a:extLst>
          </p:cNvPr>
          <p:cNvSpPr>
            <a:spLocks noGrp="1"/>
          </p:cNvSpPr>
          <p:nvPr/>
        </p:nvSpPr>
        <p:spPr>
          <a:xfrm>
            <a:off x="1257300" y="188595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time | sym | price | size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E164DC-851A-49AD-828A-3F6FB7B3A6A2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2476500" cy="304800"/>
          </a:xfrm>
          <a:prstGeom prst="rect">
            <a:avLst/>
          </a:prstGeom>
          <a:solidFill>
            <a:srgbClr val="F5F8FC"/>
          </a:solidFill>
          <a:ln w="7620">
            <a:solidFill>
              <a:srgbClr val="D8DEE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142569-A28F-439F-9AC0-F40CE48C3646}"/>
              </a:ext>
            </a:extLst>
          </p:cNvPr>
          <p:cNvSpPr>
            <a:spLocks noGrp="1"/>
          </p:cNvSpPr>
          <p:nvPr/>
        </p:nvSpPr>
        <p:spPr>
          <a:xfrm>
            <a:off x="1257300" y="2314575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time | sym | price | size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A689F6-9A7B-4EFA-80A2-BB21AB048764}"/>
              </a:ext>
            </a:extLst>
          </p:cNvPr>
          <p:cNvSpPr>
            <a:spLocks noGrp="1"/>
          </p:cNvSpPr>
          <p:nvPr/>
        </p:nvSpPr>
        <p:spPr>
          <a:xfrm>
            <a:off x="1143000" y="2667000"/>
            <a:ext cx="2476500" cy="304800"/>
          </a:xfrm>
          <a:prstGeom prst="rect">
            <a:avLst/>
          </a:prstGeom>
          <a:solidFill>
            <a:srgbClr val="E8F1FA"/>
          </a:solidFill>
          <a:ln w="7620">
            <a:solidFill>
              <a:srgbClr val="D8DEE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FB8F13-D51E-4C11-80C5-8A823F49027E}"/>
              </a:ext>
            </a:extLst>
          </p:cNvPr>
          <p:cNvSpPr>
            <a:spLocks noGrp="1"/>
          </p:cNvSpPr>
          <p:nvPr/>
        </p:nvSpPr>
        <p:spPr>
          <a:xfrm>
            <a:off x="1257300" y="274320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time | sym | price | size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76E56C-636F-40D0-A6D0-CD9824B9B0EC}"/>
              </a:ext>
            </a:extLst>
          </p:cNvPr>
          <p:cNvSpPr>
            <a:spLocks noGrp="1"/>
          </p:cNvSpPr>
          <p:nvPr/>
        </p:nvSpPr>
        <p:spPr>
          <a:xfrm>
            <a:off x="1143000" y="3095625"/>
            <a:ext cx="2476500" cy="304800"/>
          </a:xfrm>
          <a:prstGeom prst="rect">
            <a:avLst/>
          </a:prstGeom>
          <a:solidFill>
            <a:srgbClr val="F5F8FC"/>
          </a:solidFill>
          <a:ln w="7620">
            <a:solidFill>
              <a:srgbClr val="D8DEE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7EFE17-F539-41ED-93E0-EAEBFEC76772}"/>
              </a:ext>
            </a:extLst>
          </p:cNvPr>
          <p:cNvSpPr>
            <a:spLocks noGrp="1"/>
          </p:cNvSpPr>
          <p:nvPr/>
        </p:nvSpPr>
        <p:spPr>
          <a:xfrm>
            <a:off x="1257300" y="3171825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time | sym | price | size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0E9296-44DD-45D7-ACB2-4B0AEB2AC946}"/>
              </a:ext>
            </a:extLst>
          </p:cNvPr>
          <p:cNvSpPr>
            <a:spLocks noGrp="1"/>
          </p:cNvSpPr>
          <p:nvPr/>
        </p:nvSpPr>
        <p:spPr>
          <a:xfrm>
            <a:off x="5619750" y="1809750"/>
            <a:ext cx="552450" cy="1619250"/>
          </a:xfrm>
          <a:prstGeom prst="rect">
            <a:avLst/>
          </a:prstGeom>
          <a:solidFill>
            <a:srgbClr val="F5F8FC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F88092-0969-45B6-B2F5-BA17A6E473F0}"/>
              </a:ext>
            </a:extLst>
          </p:cNvPr>
          <p:cNvSpPr>
            <a:spLocks noGrp="1"/>
          </p:cNvSpPr>
          <p:nvPr/>
        </p:nvSpPr>
        <p:spPr>
          <a:xfrm>
            <a:off x="5667375" y="1924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85961C-AAB1-498D-9CBA-7C21A2A27BB3}"/>
              </a:ext>
            </a:extLst>
          </p:cNvPr>
          <p:cNvSpPr>
            <a:spLocks noGrp="1"/>
          </p:cNvSpPr>
          <p:nvPr/>
        </p:nvSpPr>
        <p:spPr>
          <a:xfrm>
            <a:off x="5810250" y="2305050"/>
            <a:ext cx="190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5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5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3106F9-8817-45D8-B279-EACA7ABD4F72}"/>
              </a:ext>
            </a:extLst>
          </p:cNvPr>
          <p:cNvSpPr>
            <a:spLocks noGrp="1"/>
          </p:cNvSpPr>
          <p:nvPr/>
        </p:nvSpPr>
        <p:spPr>
          <a:xfrm>
            <a:off x="6286500" y="1809750"/>
            <a:ext cx="552450" cy="1619250"/>
          </a:xfrm>
          <a:prstGeom prst="rect">
            <a:avLst/>
          </a:prstGeom>
          <a:solidFill>
            <a:srgbClr val="F5F8FC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6B91CD-E429-4471-9C5A-6496D2336E57}"/>
              </a:ext>
            </a:extLst>
          </p:cNvPr>
          <p:cNvSpPr>
            <a:spLocks noGrp="1"/>
          </p:cNvSpPr>
          <p:nvPr/>
        </p:nvSpPr>
        <p:spPr>
          <a:xfrm>
            <a:off x="6334125" y="1924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sym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A452C2-20B6-40A1-81BB-433E9E2291A7}"/>
              </a:ext>
            </a:extLst>
          </p:cNvPr>
          <p:cNvSpPr>
            <a:spLocks noGrp="1"/>
          </p:cNvSpPr>
          <p:nvPr/>
        </p:nvSpPr>
        <p:spPr>
          <a:xfrm>
            <a:off x="6477000" y="2305050"/>
            <a:ext cx="190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5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5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9D4CDE-8C43-4754-AFA0-DD72CB73E35B}"/>
              </a:ext>
            </a:extLst>
          </p:cNvPr>
          <p:cNvSpPr>
            <a:spLocks noGrp="1"/>
          </p:cNvSpPr>
          <p:nvPr/>
        </p:nvSpPr>
        <p:spPr>
          <a:xfrm>
            <a:off x="6953250" y="1809750"/>
            <a:ext cx="552450" cy="1619250"/>
          </a:xfrm>
          <a:prstGeom prst="rect">
            <a:avLst/>
          </a:prstGeom>
          <a:solidFill>
            <a:srgbClr val="EAF5EF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A6DC34-C9B7-4979-B502-8CD9D4441E1E}"/>
              </a:ext>
            </a:extLst>
          </p:cNvPr>
          <p:cNvSpPr>
            <a:spLocks noGrp="1"/>
          </p:cNvSpPr>
          <p:nvPr/>
        </p:nvSpPr>
        <p:spPr>
          <a:xfrm>
            <a:off x="7000875" y="1924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903C12-F79A-4F8F-838E-72417F92B206}"/>
              </a:ext>
            </a:extLst>
          </p:cNvPr>
          <p:cNvSpPr>
            <a:spLocks noGrp="1"/>
          </p:cNvSpPr>
          <p:nvPr/>
        </p:nvSpPr>
        <p:spPr>
          <a:xfrm>
            <a:off x="7143750" y="2305050"/>
            <a:ext cx="190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5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5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E72C7A-17CB-41C0-98D8-4BB78929225F}"/>
              </a:ext>
            </a:extLst>
          </p:cNvPr>
          <p:cNvSpPr>
            <a:spLocks noGrp="1"/>
          </p:cNvSpPr>
          <p:nvPr/>
        </p:nvSpPr>
        <p:spPr>
          <a:xfrm>
            <a:off x="7620000" y="1809750"/>
            <a:ext cx="552450" cy="1619250"/>
          </a:xfrm>
          <a:prstGeom prst="rect">
            <a:avLst/>
          </a:prstGeom>
          <a:solidFill>
            <a:srgbClr val="F5F8FC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00500F-6E02-470A-ACCB-CD511A1FAAB6}"/>
              </a:ext>
            </a:extLst>
          </p:cNvPr>
          <p:cNvSpPr>
            <a:spLocks noGrp="1"/>
          </p:cNvSpPr>
          <p:nvPr/>
        </p:nvSpPr>
        <p:spPr>
          <a:xfrm>
            <a:off x="7667625" y="1924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size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05B81A-67B2-4C33-92C0-F67524D4E150}"/>
              </a:ext>
            </a:extLst>
          </p:cNvPr>
          <p:cNvSpPr>
            <a:spLocks noGrp="1"/>
          </p:cNvSpPr>
          <p:nvPr/>
        </p:nvSpPr>
        <p:spPr>
          <a:xfrm>
            <a:off x="7810500" y="2305050"/>
            <a:ext cx="190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5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5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645090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67AC3-3C10-4483-881A-7E25D014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Row Storage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5E189-14DF-42CA-9678-9ADA0C8E7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 1</a:t>
            </a:r>
          </a:p>
          <a:p>
            <a:r>
              <a:t>Row 2</a:t>
            </a:r>
          </a:p>
          <a:p>
            <a:r>
              <a:t>Row 3</a:t>
            </a:r>
          </a:p>
          <a:p>
            <a:r>
              <a:t>Row 4</a:t>
            </a:r>
          </a:p>
          <a:p>
            <a:r>
              <a:t>Reads Entire Rows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5182EE00-1385-466A-969D-BFF06834F4E5}"/>
              </a:ext>
            </a:extLst>
          </p:cNvPr>
          <p:cNvSpPr>
            <a:spLocks noGrp="1"/>
          </p:cNvSpPr>
          <p:nvPr/>
        </p:nvSpPr>
        <p:spPr>
          <a:xfrm>
            <a:off x="404812" y="1417638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A35928-64F7-43C0-ADBB-69980D24C0A2}"/>
              </a:ext>
            </a:extLst>
          </p:cNvPr>
          <p:cNvSpPr>
            <a:spLocks noGrp="1"/>
          </p:cNvSpPr>
          <p:nvPr/>
        </p:nvSpPr>
        <p:spPr>
          <a:xfrm>
            <a:off x="904875" y="2000250"/>
            <a:ext cx="1833563" cy="4953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B41E96-96A9-43C9-9EC8-7535AB7422CF}"/>
              </a:ext>
            </a:extLst>
          </p:cNvPr>
          <p:cNvSpPr>
            <a:spLocks noGrp="1"/>
          </p:cNvSpPr>
          <p:nvPr/>
        </p:nvSpPr>
        <p:spPr>
          <a:xfrm>
            <a:off x="952500" y="2085975"/>
            <a:ext cx="173831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Row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F2762E-02D9-44B1-9D1F-BAC6DCC65A8F}"/>
              </a:ext>
            </a:extLst>
          </p:cNvPr>
          <p:cNvSpPr>
            <a:spLocks noGrp="1"/>
          </p:cNvSpPr>
          <p:nvPr/>
        </p:nvSpPr>
        <p:spPr>
          <a:xfrm>
            <a:off x="2738438" y="2000250"/>
            <a:ext cx="1833563" cy="4953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35BF83-8087-4FDA-9C14-19DFD2178F9D}"/>
              </a:ext>
            </a:extLst>
          </p:cNvPr>
          <p:cNvSpPr>
            <a:spLocks noGrp="1"/>
          </p:cNvSpPr>
          <p:nvPr/>
        </p:nvSpPr>
        <p:spPr>
          <a:xfrm>
            <a:off x="2786063" y="2085975"/>
            <a:ext cx="173831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Row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675CA1-64D4-4A5A-89B4-62B3D5D32EE4}"/>
              </a:ext>
            </a:extLst>
          </p:cNvPr>
          <p:cNvSpPr>
            <a:spLocks noGrp="1"/>
          </p:cNvSpPr>
          <p:nvPr/>
        </p:nvSpPr>
        <p:spPr>
          <a:xfrm>
            <a:off x="4572000" y="2000250"/>
            <a:ext cx="1833563" cy="4953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3B45C7-D594-45C1-BDBB-042638B4F489}"/>
              </a:ext>
            </a:extLst>
          </p:cNvPr>
          <p:cNvSpPr>
            <a:spLocks noGrp="1"/>
          </p:cNvSpPr>
          <p:nvPr/>
        </p:nvSpPr>
        <p:spPr>
          <a:xfrm>
            <a:off x="4619625" y="2085975"/>
            <a:ext cx="173831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Row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5E357B-5D51-443E-A8E6-CBAE77D2345F}"/>
              </a:ext>
            </a:extLst>
          </p:cNvPr>
          <p:cNvSpPr>
            <a:spLocks noGrp="1"/>
          </p:cNvSpPr>
          <p:nvPr/>
        </p:nvSpPr>
        <p:spPr>
          <a:xfrm>
            <a:off x="6405563" y="2000250"/>
            <a:ext cx="1833563" cy="4953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09A664-E7C8-411B-95CA-F28E219ED0E2}"/>
              </a:ext>
            </a:extLst>
          </p:cNvPr>
          <p:cNvSpPr>
            <a:spLocks noGrp="1"/>
          </p:cNvSpPr>
          <p:nvPr/>
        </p:nvSpPr>
        <p:spPr>
          <a:xfrm>
            <a:off x="6453188" y="2085975"/>
            <a:ext cx="173831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Row 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2B8776-6E57-4FE3-AD6E-61BC56772EB2}"/>
              </a:ext>
            </a:extLst>
          </p:cNvPr>
          <p:cNvSpPr>
            <a:spLocks noGrp="1"/>
          </p:cNvSpPr>
          <p:nvPr/>
        </p:nvSpPr>
        <p:spPr>
          <a:xfrm>
            <a:off x="904875" y="2495550"/>
            <a:ext cx="1833563" cy="4953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BB09BD-86E1-44A6-A8FF-7C5C6492D636}"/>
              </a:ext>
            </a:extLst>
          </p:cNvPr>
          <p:cNvSpPr>
            <a:spLocks noGrp="1"/>
          </p:cNvSpPr>
          <p:nvPr/>
        </p:nvSpPr>
        <p:spPr>
          <a:xfrm>
            <a:off x="952500" y="2581275"/>
            <a:ext cx="173831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09:30 AAPL 100.2 500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69DFAE-2EFC-4586-AC20-42DBA08CFD54}"/>
              </a:ext>
            </a:extLst>
          </p:cNvPr>
          <p:cNvSpPr>
            <a:spLocks noGrp="1"/>
          </p:cNvSpPr>
          <p:nvPr/>
        </p:nvSpPr>
        <p:spPr>
          <a:xfrm>
            <a:off x="2738438" y="2495550"/>
            <a:ext cx="1833563" cy="4953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FE5817-BA85-4B5F-927A-6B617D7B4D63}"/>
              </a:ext>
            </a:extLst>
          </p:cNvPr>
          <p:cNvSpPr>
            <a:spLocks noGrp="1"/>
          </p:cNvSpPr>
          <p:nvPr/>
        </p:nvSpPr>
        <p:spPr>
          <a:xfrm>
            <a:off x="2786063" y="2581275"/>
            <a:ext cx="173831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09:31 AAPL 100.4 300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DF990A-472F-425C-BBC8-E7213E539566}"/>
              </a:ext>
            </a:extLst>
          </p:cNvPr>
          <p:cNvSpPr>
            <a:spLocks noGrp="1"/>
          </p:cNvSpPr>
          <p:nvPr/>
        </p:nvSpPr>
        <p:spPr>
          <a:xfrm>
            <a:off x="4572000" y="2495550"/>
            <a:ext cx="1833563" cy="4953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0ADF9D-F576-48E7-9B60-A3D0230236DC}"/>
              </a:ext>
            </a:extLst>
          </p:cNvPr>
          <p:cNvSpPr>
            <a:spLocks noGrp="1"/>
          </p:cNvSpPr>
          <p:nvPr/>
        </p:nvSpPr>
        <p:spPr>
          <a:xfrm>
            <a:off x="4619625" y="2581275"/>
            <a:ext cx="173831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09:32 MSFT 241.1 150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DC1AF2-6652-4C62-9864-D91759490E5B}"/>
              </a:ext>
            </a:extLst>
          </p:cNvPr>
          <p:cNvSpPr>
            <a:spLocks noGrp="1"/>
          </p:cNvSpPr>
          <p:nvPr/>
        </p:nvSpPr>
        <p:spPr>
          <a:xfrm>
            <a:off x="6405563" y="2495550"/>
            <a:ext cx="1833563" cy="4953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DAB7FD-4B85-4674-B2E0-1C003F63A3A7}"/>
              </a:ext>
            </a:extLst>
          </p:cNvPr>
          <p:cNvSpPr>
            <a:spLocks noGrp="1"/>
          </p:cNvSpPr>
          <p:nvPr/>
        </p:nvSpPr>
        <p:spPr>
          <a:xfrm>
            <a:off x="6453188" y="2581275"/>
            <a:ext cx="173831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09:33 MSFT 241.4 200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980BEF-3E83-4149-B774-0F7DD9681A48}"/>
              </a:ext>
            </a:extLst>
          </p:cNvPr>
          <p:cNvSpPr>
            <a:spLocks noGrp="1"/>
          </p:cNvSpPr>
          <p:nvPr/>
        </p:nvSpPr>
        <p:spPr>
          <a:xfrm>
            <a:off x="1762125" y="30003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Rows are stored as complete records.</a:t>
            </a:r>
          </a:p>
        </p:txBody>
      </p:sp>
    </p:spTree>
    <p:extLst>
      <p:ext uri="{BB962C8B-B14F-4D97-AF65-F5344CB8AC3E}">
        <p14:creationId xmlns:p14="http://schemas.microsoft.com/office/powerpoint/2010/main" val="7157442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48828-0A6A-4483-B5FD-8F4668566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 Storage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71BFC-7455-49BD-84EE-C44F96156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Column</a:t>
            </a:r>
          </a:p>
          <a:p>
            <a:r>
              <a:t>Symbol Column</a:t>
            </a:r>
          </a:p>
          <a:p>
            <a:r>
              <a:t>Price Column</a:t>
            </a:r>
          </a:p>
          <a:p>
            <a:r>
              <a:t>Size Column</a:t>
            </a:r>
          </a:p>
          <a:p>
            <a:r>
              <a:t>Reads Required Columns Only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BC0AA018-0091-4D9B-9C77-2F320F631A34}"/>
              </a:ext>
            </a:extLst>
          </p:cNvPr>
          <p:cNvSpPr>
            <a:spLocks noGrp="1"/>
          </p:cNvSpPr>
          <p:nvPr/>
        </p:nvSpPr>
        <p:spPr>
          <a:xfrm>
            <a:off x="404812" y="1254974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C6C5FF-105E-4E01-89A0-B72E009C6417}"/>
              </a:ext>
            </a:extLst>
          </p:cNvPr>
          <p:cNvSpPr>
            <a:spLocks noGrp="1"/>
          </p:cNvSpPr>
          <p:nvPr/>
        </p:nvSpPr>
        <p:spPr>
          <a:xfrm>
            <a:off x="1190625" y="1524000"/>
            <a:ext cx="1381125" cy="2143125"/>
          </a:xfrm>
          <a:prstGeom prst="rect">
            <a:avLst/>
          </a:prstGeom>
          <a:solidFill>
            <a:srgbClr val="F5F8FC"/>
          </a:solidFill>
          <a:ln w="11430">
            <a:solidFill>
              <a:srgbClr val="D8DEE8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492D5-EDCF-4C84-8D58-787DD77AE8D8}"/>
              </a:ext>
            </a:extLst>
          </p:cNvPr>
          <p:cNvSpPr>
            <a:spLocks noGrp="1"/>
          </p:cNvSpPr>
          <p:nvPr/>
        </p:nvSpPr>
        <p:spPr>
          <a:xfrm>
            <a:off x="1381125" y="1695450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6C59B5-5260-4EF2-9BDD-35CCD052EC2C}"/>
              </a:ext>
            </a:extLst>
          </p:cNvPr>
          <p:cNvSpPr>
            <a:spLocks noGrp="1"/>
          </p:cNvSpPr>
          <p:nvPr/>
        </p:nvSpPr>
        <p:spPr>
          <a:xfrm>
            <a:off x="1762125" y="2190750"/>
            <a:ext cx="285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8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8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8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1E8B8B-12FA-485C-83EB-105BA7959B84}"/>
              </a:ext>
            </a:extLst>
          </p:cNvPr>
          <p:cNvSpPr>
            <a:spLocks noGrp="1"/>
          </p:cNvSpPr>
          <p:nvPr/>
        </p:nvSpPr>
        <p:spPr>
          <a:xfrm>
            <a:off x="3000375" y="1524000"/>
            <a:ext cx="1381125" cy="2143125"/>
          </a:xfrm>
          <a:prstGeom prst="rect">
            <a:avLst/>
          </a:prstGeom>
          <a:solidFill>
            <a:srgbClr val="F5F8FC"/>
          </a:solidFill>
          <a:ln w="11430">
            <a:solidFill>
              <a:srgbClr val="D8DEE8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09BB70-BAF6-4AE2-B883-0CD273479675}"/>
              </a:ext>
            </a:extLst>
          </p:cNvPr>
          <p:cNvSpPr>
            <a:spLocks noGrp="1"/>
          </p:cNvSpPr>
          <p:nvPr/>
        </p:nvSpPr>
        <p:spPr>
          <a:xfrm>
            <a:off x="3190875" y="1695450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symbol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49F335-0745-4314-9B94-FEC6672CCD00}"/>
              </a:ext>
            </a:extLst>
          </p:cNvPr>
          <p:cNvSpPr>
            <a:spLocks noGrp="1"/>
          </p:cNvSpPr>
          <p:nvPr/>
        </p:nvSpPr>
        <p:spPr>
          <a:xfrm>
            <a:off x="3571875" y="2190750"/>
            <a:ext cx="285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8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8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8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6D85F5-6228-47DD-A59A-91061494963F}"/>
              </a:ext>
            </a:extLst>
          </p:cNvPr>
          <p:cNvSpPr>
            <a:spLocks noGrp="1"/>
          </p:cNvSpPr>
          <p:nvPr/>
        </p:nvSpPr>
        <p:spPr>
          <a:xfrm>
            <a:off x="4810125" y="1524000"/>
            <a:ext cx="1381125" cy="2143125"/>
          </a:xfrm>
          <a:prstGeom prst="rect">
            <a:avLst/>
          </a:prstGeom>
          <a:solidFill>
            <a:srgbClr val="EAF5EF"/>
          </a:solidFill>
          <a:ln w="11430">
            <a:solidFill>
              <a:srgbClr val="2E7D5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AD1655-E3F1-4289-BB6F-B5F795B24236}"/>
              </a:ext>
            </a:extLst>
          </p:cNvPr>
          <p:cNvSpPr>
            <a:spLocks noGrp="1"/>
          </p:cNvSpPr>
          <p:nvPr/>
        </p:nvSpPr>
        <p:spPr>
          <a:xfrm>
            <a:off x="5000625" y="1695450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BF2B2E-63E5-412E-99FB-B40D14FFFD10}"/>
              </a:ext>
            </a:extLst>
          </p:cNvPr>
          <p:cNvSpPr>
            <a:spLocks noGrp="1"/>
          </p:cNvSpPr>
          <p:nvPr/>
        </p:nvSpPr>
        <p:spPr>
          <a:xfrm>
            <a:off x="5381625" y="2190750"/>
            <a:ext cx="285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8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8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8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E57B2E-069B-4DFB-9C83-0EE32F07B690}"/>
              </a:ext>
            </a:extLst>
          </p:cNvPr>
          <p:cNvSpPr>
            <a:spLocks noGrp="1"/>
          </p:cNvSpPr>
          <p:nvPr/>
        </p:nvSpPr>
        <p:spPr>
          <a:xfrm>
            <a:off x="6619875" y="1524000"/>
            <a:ext cx="1381125" cy="2143125"/>
          </a:xfrm>
          <a:prstGeom prst="rect">
            <a:avLst/>
          </a:prstGeom>
          <a:solidFill>
            <a:srgbClr val="F5F8FC"/>
          </a:solidFill>
          <a:ln w="11430">
            <a:solidFill>
              <a:srgbClr val="D8DE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D4ADA0-07C5-460F-8BBF-CEFABE98C884}"/>
              </a:ext>
            </a:extLst>
          </p:cNvPr>
          <p:cNvSpPr>
            <a:spLocks noGrp="1"/>
          </p:cNvSpPr>
          <p:nvPr/>
        </p:nvSpPr>
        <p:spPr>
          <a:xfrm>
            <a:off x="6810375" y="1695450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size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2242AD-E9C0-493E-8B5E-FB0A4A251A82}"/>
              </a:ext>
            </a:extLst>
          </p:cNvPr>
          <p:cNvSpPr>
            <a:spLocks noGrp="1"/>
          </p:cNvSpPr>
          <p:nvPr/>
        </p:nvSpPr>
        <p:spPr>
          <a:xfrm>
            <a:off x="7191375" y="2190750"/>
            <a:ext cx="285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8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8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  <a:p>
            <a:pPr algn="ctr">
              <a:buNone/>
              <a:defRPr sz="18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|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34867C-92F8-45AF-B496-4983119203E9}"/>
              </a:ext>
            </a:extLst>
          </p:cNvPr>
          <p:cNvSpPr>
            <a:spLocks noGrp="1"/>
          </p:cNvSpPr>
          <p:nvPr/>
        </p:nvSpPr>
        <p:spPr>
          <a:xfrm>
            <a:off x="590550" y="4333875"/>
            <a:ext cx="800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Columnar storage lets analytics scan only the columns needed.</a:t>
            </a:r>
          </a:p>
        </p:txBody>
      </p:sp>
    </p:spTree>
    <p:extLst>
      <p:ext uri="{BB962C8B-B14F-4D97-AF65-F5344CB8AC3E}">
        <p14:creationId xmlns:p14="http://schemas.microsoft.com/office/powerpoint/2010/main" val="101346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7EE7C-4D7A-4EC1-BA31-F3AC387EA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Case Study: Average Spread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31C44-46A8-4A02-8E3E-F79789A75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Billion Rows</a:t>
            </a:r>
          </a:p>
          <a:p>
            <a:r>
              <a:t>20 Columns</a:t>
            </a:r>
          </a:p>
          <a:p>
            <a:r>
              <a:t>Need Symbol + Spread</a:t>
            </a:r>
          </a:p>
          <a:p>
            <a:r>
              <a:t>Read Only What You Need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423A856A-D0E2-4718-A631-A4F961C85A0D}"/>
              </a:ext>
            </a:extLst>
          </p:cNvPr>
          <p:cNvSpPr>
            <a:spLocks noGrp="1"/>
          </p:cNvSpPr>
          <p:nvPr/>
        </p:nvSpPr>
        <p:spPr>
          <a:xfrm>
            <a:off x="352425" y="1338262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7E9D30-EAF4-4795-8A97-974388F09697}"/>
              </a:ext>
            </a:extLst>
          </p:cNvPr>
          <p:cNvSpPr>
            <a:spLocks noGrp="1"/>
          </p:cNvSpPr>
          <p:nvPr/>
        </p:nvSpPr>
        <p:spPr>
          <a:xfrm>
            <a:off x="1000125" y="171450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10 billion rows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F02723-B8EE-4C05-8980-9D95D12C293E}"/>
              </a:ext>
            </a:extLst>
          </p:cNvPr>
          <p:cNvSpPr>
            <a:spLocks noGrp="1"/>
          </p:cNvSpPr>
          <p:nvPr/>
        </p:nvSpPr>
        <p:spPr>
          <a:xfrm>
            <a:off x="3524250" y="171450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96777"/>
                </a:solidFill>
                <a:latin typeface="Aptos"/>
                <a:ea typeface="Aptos"/>
                <a:cs typeface="Aptos"/>
              </a:rPr>
              <a:t>20 columns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955047-1273-4C0D-B98C-66B9F74CB415}"/>
              </a:ext>
            </a:extLst>
          </p:cNvPr>
          <p:cNvSpPr>
            <a:spLocks noGrp="1"/>
          </p:cNvSpPr>
          <p:nvPr/>
        </p:nvSpPr>
        <p:spPr>
          <a:xfrm>
            <a:off x="5953125" y="1714500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Only 2 columns scanned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E888FBB-D474-40B9-BBE2-ED83CABCC0BC}"/>
              </a:ext>
            </a:extLst>
          </p:cNvPr>
          <p:cNvSpPr>
            <a:spLocks noGrp="1"/>
          </p:cNvSpPr>
          <p:nvPr/>
        </p:nvSpPr>
        <p:spPr>
          <a:xfrm>
            <a:off x="2000250" y="2857500"/>
            <a:ext cx="1574800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5F507-68AE-49BD-AB18-7BAFE8640B0E}"/>
              </a:ext>
            </a:extLst>
          </p:cNvPr>
          <p:cNvSpPr>
            <a:spLocks noGrp="1"/>
          </p:cNvSpPr>
          <p:nvPr/>
        </p:nvSpPr>
        <p:spPr>
          <a:xfrm>
            <a:off x="2076450" y="3057525"/>
            <a:ext cx="142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482943-0ACB-481D-9414-3BE1009460F4}"/>
              </a:ext>
            </a:extLst>
          </p:cNvPr>
          <p:cNvSpPr>
            <a:spLocks noGrp="1"/>
          </p:cNvSpPr>
          <p:nvPr/>
        </p:nvSpPr>
        <p:spPr>
          <a:xfrm>
            <a:off x="3603625" y="313372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0033FBA-D701-42CC-9823-758EE5D66078}"/>
              </a:ext>
            </a:extLst>
          </p:cNvPr>
          <p:cNvSpPr>
            <a:spLocks noGrp="1"/>
          </p:cNvSpPr>
          <p:nvPr/>
        </p:nvSpPr>
        <p:spPr>
          <a:xfrm>
            <a:off x="3622675" y="308610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50DBBF2-9F43-4F03-9CFC-4E136F656928}"/>
              </a:ext>
            </a:extLst>
          </p:cNvPr>
          <p:cNvSpPr>
            <a:spLocks noGrp="1"/>
          </p:cNvSpPr>
          <p:nvPr/>
        </p:nvSpPr>
        <p:spPr>
          <a:xfrm>
            <a:off x="3784600" y="2857500"/>
            <a:ext cx="1574800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B30974-7B96-4649-9762-3D8E467ECC38}"/>
              </a:ext>
            </a:extLst>
          </p:cNvPr>
          <p:cNvSpPr>
            <a:spLocks noGrp="1"/>
          </p:cNvSpPr>
          <p:nvPr/>
        </p:nvSpPr>
        <p:spPr>
          <a:xfrm>
            <a:off x="3860800" y="3057525"/>
            <a:ext cx="142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bid/ask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D918CB-2716-477E-905E-005BE4BA5251}"/>
              </a:ext>
            </a:extLst>
          </p:cNvPr>
          <p:cNvSpPr>
            <a:spLocks noGrp="1"/>
          </p:cNvSpPr>
          <p:nvPr/>
        </p:nvSpPr>
        <p:spPr>
          <a:xfrm>
            <a:off x="5387975" y="313372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152522DD-48EB-4FC9-98C1-AE645CA764EB}"/>
              </a:ext>
            </a:extLst>
          </p:cNvPr>
          <p:cNvSpPr>
            <a:spLocks noGrp="1"/>
          </p:cNvSpPr>
          <p:nvPr/>
        </p:nvSpPr>
        <p:spPr>
          <a:xfrm>
            <a:off x="5407025" y="308610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A1163F4-A675-4CC6-A0CF-10FF2EF20D21}"/>
              </a:ext>
            </a:extLst>
          </p:cNvPr>
          <p:cNvSpPr>
            <a:spLocks noGrp="1"/>
          </p:cNvSpPr>
          <p:nvPr/>
        </p:nvSpPr>
        <p:spPr>
          <a:xfrm>
            <a:off x="5568950" y="2857500"/>
            <a:ext cx="1574800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50EC41-43D8-43E4-8A4A-5CECDD178B73}"/>
              </a:ext>
            </a:extLst>
          </p:cNvPr>
          <p:cNvSpPr>
            <a:spLocks noGrp="1"/>
          </p:cNvSpPr>
          <p:nvPr/>
        </p:nvSpPr>
        <p:spPr>
          <a:xfrm>
            <a:off x="5645150" y="3057525"/>
            <a:ext cx="142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average spread</a:t>
            </a:r>
          </a:p>
        </p:txBody>
      </p:sp>
    </p:spTree>
    <p:extLst>
      <p:ext uri="{BB962C8B-B14F-4D97-AF65-F5344CB8AC3E}">
        <p14:creationId xmlns:p14="http://schemas.microsoft.com/office/powerpoint/2010/main" val="1334757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79EC-55B3-41F0-A578-E61515C7D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1E17C-1F2B-4597-8A5F-BDDEDA0B5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| Symbol | Price | Size</a:t>
            </a:r>
          </a:p>
          <a:p>
            <a:r>
              <a:t>Familiar Structure</a:t>
            </a:r>
          </a:p>
          <a:p>
            <a:r>
              <a:t>Row Based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0F896E8C-E82A-42D9-8D37-CC66D72CDE60}"/>
              </a:ext>
            </a:extLst>
          </p:cNvPr>
          <p:cNvSpPr>
            <a:spLocks noGrp="1"/>
          </p:cNvSpPr>
          <p:nvPr/>
        </p:nvSpPr>
        <p:spPr>
          <a:xfrm>
            <a:off x="404812" y="1262062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4121E-DF70-4FA0-A685-DD2C562604B7}"/>
              </a:ext>
            </a:extLst>
          </p:cNvPr>
          <p:cNvSpPr>
            <a:spLocks noGrp="1"/>
          </p:cNvSpPr>
          <p:nvPr/>
        </p:nvSpPr>
        <p:spPr>
          <a:xfrm>
            <a:off x="762000" y="1504950"/>
            <a:ext cx="1905000" cy="3429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B564DC-32BE-491F-9115-F04D80565998}"/>
              </a:ext>
            </a:extLst>
          </p:cNvPr>
          <p:cNvSpPr>
            <a:spLocks noGrp="1"/>
          </p:cNvSpPr>
          <p:nvPr/>
        </p:nvSpPr>
        <p:spPr>
          <a:xfrm>
            <a:off x="809625" y="15906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E631A6-5CE5-4C0B-AFFC-E7117C8A5D04}"/>
              </a:ext>
            </a:extLst>
          </p:cNvPr>
          <p:cNvSpPr>
            <a:spLocks noGrp="1"/>
          </p:cNvSpPr>
          <p:nvPr/>
        </p:nvSpPr>
        <p:spPr>
          <a:xfrm>
            <a:off x="2667000" y="1504950"/>
            <a:ext cx="1905000" cy="3429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723873-37CD-449D-9917-0904693A5A43}"/>
              </a:ext>
            </a:extLst>
          </p:cNvPr>
          <p:cNvSpPr>
            <a:spLocks noGrp="1"/>
          </p:cNvSpPr>
          <p:nvPr/>
        </p:nvSpPr>
        <p:spPr>
          <a:xfrm>
            <a:off x="2714625" y="15906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symbol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D3696-669A-4A1F-97E5-C39995D2F347}"/>
              </a:ext>
            </a:extLst>
          </p:cNvPr>
          <p:cNvSpPr>
            <a:spLocks noGrp="1"/>
          </p:cNvSpPr>
          <p:nvPr/>
        </p:nvSpPr>
        <p:spPr>
          <a:xfrm>
            <a:off x="4572000" y="1504950"/>
            <a:ext cx="1905000" cy="3429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F161A8-CFD7-47E6-883C-709D33D5FA64}"/>
              </a:ext>
            </a:extLst>
          </p:cNvPr>
          <p:cNvSpPr>
            <a:spLocks noGrp="1"/>
          </p:cNvSpPr>
          <p:nvPr/>
        </p:nvSpPr>
        <p:spPr>
          <a:xfrm>
            <a:off x="4619625" y="15906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A8B81F-A50D-4E49-B315-EF369FF0EFF2}"/>
              </a:ext>
            </a:extLst>
          </p:cNvPr>
          <p:cNvSpPr>
            <a:spLocks noGrp="1"/>
          </p:cNvSpPr>
          <p:nvPr/>
        </p:nvSpPr>
        <p:spPr>
          <a:xfrm>
            <a:off x="6477000" y="1504950"/>
            <a:ext cx="1905000" cy="3429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1C3837-C80B-41B2-A5FC-218753AAEF03}"/>
              </a:ext>
            </a:extLst>
          </p:cNvPr>
          <p:cNvSpPr>
            <a:spLocks noGrp="1"/>
          </p:cNvSpPr>
          <p:nvPr/>
        </p:nvSpPr>
        <p:spPr>
          <a:xfrm>
            <a:off x="6524625" y="15906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size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A348E3-0869-4B80-88DE-ADABB07F5E13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C803BE-3766-4267-B18E-3BCDE83F66D5}"/>
              </a:ext>
            </a:extLst>
          </p:cNvPr>
          <p:cNvSpPr>
            <a:spLocks noGrp="1"/>
          </p:cNvSpPr>
          <p:nvPr/>
        </p:nvSpPr>
        <p:spPr>
          <a:xfrm>
            <a:off x="809625" y="19335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09:30:01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85DB91-50F5-412F-A651-680190895A6B}"/>
              </a:ext>
            </a:extLst>
          </p:cNvPr>
          <p:cNvSpPr>
            <a:spLocks noGrp="1"/>
          </p:cNvSpPr>
          <p:nvPr/>
        </p:nvSpPr>
        <p:spPr>
          <a:xfrm>
            <a:off x="2667000" y="18478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DDF68-7273-466F-938C-80E41F46A41C}"/>
              </a:ext>
            </a:extLst>
          </p:cNvPr>
          <p:cNvSpPr>
            <a:spLocks noGrp="1"/>
          </p:cNvSpPr>
          <p:nvPr/>
        </p:nvSpPr>
        <p:spPr>
          <a:xfrm>
            <a:off x="2714625" y="19335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AAPL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26B6DE-B713-4811-A5A6-AA41A8517982}"/>
              </a:ext>
            </a:extLst>
          </p:cNvPr>
          <p:cNvSpPr>
            <a:spLocks noGrp="1"/>
          </p:cNvSpPr>
          <p:nvPr/>
        </p:nvSpPr>
        <p:spPr>
          <a:xfrm>
            <a:off x="4572000" y="18478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957C82-CAC5-4031-A91D-7A5D0ABC40FC}"/>
              </a:ext>
            </a:extLst>
          </p:cNvPr>
          <p:cNvSpPr>
            <a:spLocks noGrp="1"/>
          </p:cNvSpPr>
          <p:nvPr/>
        </p:nvSpPr>
        <p:spPr>
          <a:xfrm>
            <a:off x="4619625" y="19335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100.20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D41606-319F-45AF-989F-B5E64A6E0801}"/>
              </a:ext>
            </a:extLst>
          </p:cNvPr>
          <p:cNvSpPr>
            <a:spLocks noGrp="1"/>
          </p:cNvSpPr>
          <p:nvPr/>
        </p:nvSpPr>
        <p:spPr>
          <a:xfrm>
            <a:off x="6477000" y="18478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90F5B9-5398-43BD-929A-6CE42877C47F}"/>
              </a:ext>
            </a:extLst>
          </p:cNvPr>
          <p:cNvSpPr>
            <a:spLocks noGrp="1"/>
          </p:cNvSpPr>
          <p:nvPr/>
        </p:nvSpPr>
        <p:spPr>
          <a:xfrm>
            <a:off x="6524625" y="19335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500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5E944F-DA06-4C60-B9EB-9F8B53176377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1905000" cy="34290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BDA091-85B4-4794-9636-F055A4B5E9A8}"/>
              </a:ext>
            </a:extLst>
          </p:cNvPr>
          <p:cNvSpPr>
            <a:spLocks noGrp="1"/>
          </p:cNvSpPr>
          <p:nvPr/>
        </p:nvSpPr>
        <p:spPr>
          <a:xfrm>
            <a:off x="809625" y="2276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09:30:02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DB067A-E5C6-439E-9EF1-D9D3BA161230}"/>
              </a:ext>
            </a:extLst>
          </p:cNvPr>
          <p:cNvSpPr>
            <a:spLocks noGrp="1"/>
          </p:cNvSpPr>
          <p:nvPr/>
        </p:nvSpPr>
        <p:spPr>
          <a:xfrm>
            <a:off x="2667000" y="2190750"/>
            <a:ext cx="1905000" cy="34290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D554AD-B9C2-4352-ABD6-5A771DE9AC38}"/>
              </a:ext>
            </a:extLst>
          </p:cNvPr>
          <p:cNvSpPr>
            <a:spLocks noGrp="1"/>
          </p:cNvSpPr>
          <p:nvPr/>
        </p:nvSpPr>
        <p:spPr>
          <a:xfrm>
            <a:off x="2714625" y="2276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AAPL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B1FCF6-420C-44C7-9622-ECC07ED462E9}"/>
              </a:ext>
            </a:extLst>
          </p:cNvPr>
          <p:cNvSpPr>
            <a:spLocks noGrp="1"/>
          </p:cNvSpPr>
          <p:nvPr/>
        </p:nvSpPr>
        <p:spPr>
          <a:xfrm>
            <a:off x="4572000" y="2190750"/>
            <a:ext cx="1905000" cy="34290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A6C21F-5BAA-445F-B324-E5D57196F3D8}"/>
              </a:ext>
            </a:extLst>
          </p:cNvPr>
          <p:cNvSpPr>
            <a:spLocks noGrp="1"/>
          </p:cNvSpPr>
          <p:nvPr/>
        </p:nvSpPr>
        <p:spPr>
          <a:xfrm>
            <a:off x="4619625" y="2276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100.25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41C290-0422-4E4C-B595-A171F9AFE020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1905000" cy="34290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2B0FCDC-152F-40AD-8FE1-464B39B22127}"/>
              </a:ext>
            </a:extLst>
          </p:cNvPr>
          <p:cNvSpPr>
            <a:spLocks noGrp="1"/>
          </p:cNvSpPr>
          <p:nvPr/>
        </p:nvSpPr>
        <p:spPr>
          <a:xfrm>
            <a:off x="6524625" y="2276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300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E1829E-0DE9-4F9A-8F72-8A8ACEE5F833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72764CE-4443-47D9-B1CA-F82FE1DA866C}"/>
              </a:ext>
            </a:extLst>
          </p:cNvPr>
          <p:cNvSpPr>
            <a:spLocks noGrp="1"/>
          </p:cNvSpPr>
          <p:nvPr/>
        </p:nvSpPr>
        <p:spPr>
          <a:xfrm>
            <a:off x="809625" y="26193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09:30:03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93473D5-071C-499B-B63C-B2F865AE0F7C}"/>
              </a:ext>
            </a:extLst>
          </p:cNvPr>
          <p:cNvSpPr>
            <a:spLocks noGrp="1"/>
          </p:cNvSpPr>
          <p:nvPr/>
        </p:nvSpPr>
        <p:spPr>
          <a:xfrm>
            <a:off x="2667000" y="25336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94927F-FD2E-4CDD-A6A2-42752031FD16}"/>
              </a:ext>
            </a:extLst>
          </p:cNvPr>
          <p:cNvSpPr>
            <a:spLocks noGrp="1"/>
          </p:cNvSpPr>
          <p:nvPr/>
        </p:nvSpPr>
        <p:spPr>
          <a:xfrm>
            <a:off x="2714625" y="26193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MSFT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EBD85FB-91FE-4168-BD3E-BF6BCFC391D3}"/>
              </a:ext>
            </a:extLst>
          </p:cNvPr>
          <p:cNvSpPr>
            <a:spLocks noGrp="1"/>
          </p:cNvSpPr>
          <p:nvPr/>
        </p:nvSpPr>
        <p:spPr>
          <a:xfrm>
            <a:off x="4572000" y="25336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BA97C0-1B7F-4379-A663-294C085676A7}"/>
              </a:ext>
            </a:extLst>
          </p:cNvPr>
          <p:cNvSpPr>
            <a:spLocks noGrp="1"/>
          </p:cNvSpPr>
          <p:nvPr/>
        </p:nvSpPr>
        <p:spPr>
          <a:xfrm>
            <a:off x="4619625" y="26193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241.10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514221-89ED-4FB6-A3D7-3443836203E0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3A39B9-DCF1-47CB-8B3E-F91F159F892D}"/>
              </a:ext>
            </a:extLst>
          </p:cNvPr>
          <p:cNvSpPr>
            <a:spLocks noGrp="1"/>
          </p:cNvSpPr>
          <p:nvPr/>
        </p:nvSpPr>
        <p:spPr>
          <a:xfrm>
            <a:off x="6524625" y="26193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BFEE19-358C-418E-97CD-32B5D40DB960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628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SQL view: familiar table of records.</a:t>
            </a:r>
          </a:p>
        </p:txBody>
      </p:sp>
    </p:spTree>
    <p:extLst>
      <p:ext uri="{BB962C8B-B14F-4D97-AF65-F5344CB8AC3E}">
        <p14:creationId xmlns:p14="http://schemas.microsoft.com/office/powerpoint/2010/main" val="476599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56DB-4931-4360-90C6-27FF59900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KDB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FFFAD-9753-41D0-B76D-FAB1D674B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Data</a:t>
            </a:r>
          </a:p>
          <a:p>
            <a:r>
              <a:t>Column Oriented</a:t>
            </a:r>
          </a:p>
          <a:p>
            <a:r>
              <a:t>Analytics Friendly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9D1336C2-2CD6-402E-82AA-B7C8332A5138}"/>
              </a:ext>
            </a:extLst>
          </p:cNvPr>
          <p:cNvSpPr>
            <a:spLocks noGrp="1"/>
          </p:cNvSpPr>
          <p:nvPr/>
        </p:nvSpPr>
        <p:spPr>
          <a:xfrm>
            <a:off x="357187" y="1262062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F635A-4DB6-4439-849B-53366534724C}"/>
              </a:ext>
            </a:extLst>
          </p:cNvPr>
          <p:cNvSpPr>
            <a:spLocks noGrp="1"/>
          </p:cNvSpPr>
          <p:nvPr/>
        </p:nvSpPr>
        <p:spPr>
          <a:xfrm>
            <a:off x="762000" y="1504950"/>
            <a:ext cx="1905000" cy="3429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C90713-F3E0-41F7-BEC5-E20E52C37BE0}"/>
              </a:ext>
            </a:extLst>
          </p:cNvPr>
          <p:cNvSpPr>
            <a:spLocks noGrp="1"/>
          </p:cNvSpPr>
          <p:nvPr/>
        </p:nvSpPr>
        <p:spPr>
          <a:xfrm>
            <a:off x="809625" y="15906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ADCCF5-3845-4780-AA23-7F35CC039BE3}"/>
              </a:ext>
            </a:extLst>
          </p:cNvPr>
          <p:cNvSpPr>
            <a:spLocks noGrp="1"/>
          </p:cNvSpPr>
          <p:nvPr/>
        </p:nvSpPr>
        <p:spPr>
          <a:xfrm>
            <a:off x="2667000" y="1504950"/>
            <a:ext cx="1905000" cy="3429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41A9C-39CB-4F6D-98EB-A4EE36FF88C1}"/>
              </a:ext>
            </a:extLst>
          </p:cNvPr>
          <p:cNvSpPr>
            <a:spLocks noGrp="1"/>
          </p:cNvSpPr>
          <p:nvPr/>
        </p:nvSpPr>
        <p:spPr>
          <a:xfrm>
            <a:off x="2714625" y="15906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84FE72-EE94-4251-839D-E7C9676B9621}"/>
              </a:ext>
            </a:extLst>
          </p:cNvPr>
          <p:cNvSpPr>
            <a:spLocks noGrp="1"/>
          </p:cNvSpPr>
          <p:nvPr/>
        </p:nvSpPr>
        <p:spPr>
          <a:xfrm>
            <a:off x="4572000" y="1504950"/>
            <a:ext cx="1905000" cy="3429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B9E29C-E6CF-4658-8E0D-A8CCED354953}"/>
              </a:ext>
            </a:extLst>
          </p:cNvPr>
          <p:cNvSpPr>
            <a:spLocks noGrp="1"/>
          </p:cNvSpPr>
          <p:nvPr/>
        </p:nvSpPr>
        <p:spPr>
          <a:xfrm>
            <a:off x="4619625" y="15906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A5F527-45C6-46A9-87C7-A8EDE4BC6EA0}"/>
              </a:ext>
            </a:extLst>
          </p:cNvPr>
          <p:cNvSpPr>
            <a:spLocks noGrp="1"/>
          </p:cNvSpPr>
          <p:nvPr/>
        </p:nvSpPr>
        <p:spPr>
          <a:xfrm>
            <a:off x="6477000" y="1504950"/>
            <a:ext cx="1905000" cy="34290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D05583-61C4-4336-967C-5AEF3E104BF1}"/>
              </a:ext>
            </a:extLst>
          </p:cNvPr>
          <p:cNvSpPr>
            <a:spLocks noGrp="1"/>
          </p:cNvSpPr>
          <p:nvPr/>
        </p:nvSpPr>
        <p:spPr>
          <a:xfrm>
            <a:off x="6524625" y="15906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size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E735C5-376D-4BC3-BF14-1384220FC7B4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86ABEC-04E8-487E-AC12-A16BC824CE4E}"/>
              </a:ext>
            </a:extLst>
          </p:cNvPr>
          <p:cNvSpPr>
            <a:spLocks noGrp="1"/>
          </p:cNvSpPr>
          <p:nvPr/>
        </p:nvSpPr>
        <p:spPr>
          <a:xfrm>
            <a:off x="809625" y="19335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09:30:01.000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1B6D59-3E18-4C0F-9336-4D35441DAE88}"/>
              </a:ext>
            </a:extLst>
          </p:cNvPr>
          <p:cNvSpPr>
            <a:spLocks noGrp="1"/>
          </p:cNvSpPr>
          <p:nvPr/>
        </p:nvSpPr>
        <p:spPr>
          <a:xfrm>
            <a:off x="2667000" y="18478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6832F1-D011-484D-AB45-6CFCB9F54DA5}"/>
              </a:ext>
            </a:extLst>
          </p:cNvPr>
          <p:cNvSpPr>
            <a:spLocks noGrp="1"/>
          </p:cNvSpPr>
          <p:nvPr/>
        </p:nvSpPr>
        <p:spPr>
          <a:xfrm>
            <a:off x="2714625" y="19335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`AAPL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070B2D-E721-452D-BAE6-1DCA7D13C98A}"/>
              </a:ext>
            </a:extLst>
          </p:cNvPr>
          <p:cNvSpPr>
            <a:spLocks noGrp="1"/>
          </p:cNvSpPr>
          <p:nvPr/>
        </p:nvSpPr>
        <p:spPr>
          <a:xfrm>
            <a:off x="4572000" y="18478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C85AF1-CA42-44B0-B7B7-FD25C6CE94F2}"/>
              </a:ext>
            </a:extLst>
          </p:cNvPr>
          <p:cNvSpPr>
            <a:spLocks noGrp="1"/>
          </p:cNvSpPr>
          <p:nvPr/>
        </p:nvSpPr>
        <p:spPr>
          <a:xfrm>
            <a:off x="4619625" y="19335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100.20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AD4836-0120-499F-8779-A0D643727A5E}"/>
              </a:ext>
            </a:extLst>
          </p:cNvPr>
          <p:cNvSpPr>
            <a:spLocks noGrp="1"/>
          </p:cNvSpPr>
          <p:nvPr/>
        </p:nvSpPr>
        <p:spPr>
          <a:xfrm>
            <a:off x="6477000" y="18478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316A92-264F-417B-928F-D6A9B3676E78}"/>
              </a:ext>
            </a:extLst>
          </p:cNvPr>
          <p:cNvSpPr>
            <a:spLocks noGrp="1"/>
          </p:cNvSpPr>
          <p:nvPr/>
        </p:nvSpPr>
        <p:spPr>
          <a:xfrm>
            <a:off x="6524625" y="19335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500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BB68B9-4B36-4306-940A-87B7DC5E4713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1905000" cy="34290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A782F6-E928-4C01-B17A-4F262BD72E4A}"/>
              </a:ext>
            </a:extLst>
          </p:cNvPr>
          <p:cNvSpPr>
            <a:spLocks noGrp="1"/>
          </p:cNvSpPr>
          <p:nvPr/>
        </p:nvSpPr>
        <p:spPr>
          <a:xfrm>
            <a:off x="809625" y="2276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09:30:02.000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1DBDA7-78EA-4936-961F-66B85382B4D0}"/>
              </a:ext>
            </a:extLst>
          </p:cNvPr>
          <p:cNvSpPr>
            <a:spLocks noGrp="1"/>
          </p:cNvSpPr>
          <p:nvPr/>
        </p:nvSpPr>
        <p:spPr>
          <a:xfrm>
            <a:off x="2667000" y="2190750"/>
            <a:ext cx="1905000" cy="34290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69983D-12DA-4002-8C92-6EAF421BEBAF}"/>
              </a:ext>
            </a:extLst>
          </p:cNvPr>
          <p:cNvSpPr>
            <a:spLocks noGrp="1"/>
          </p:cNvSpPr>
          <p:nvPr/>
        </p:nvSpPr>
        <p:spPr>
          <a:xfrm>
            <a:off x="2714625" y="2276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`AAPL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5DCF7A-CCF9-484F-9081-658B95F23926}"/>
              </a:ext>
            </a:extLst>
          </p:cNvPr>
          <p:cNvSpPr>
            <a:spLocks noGrp="1"/>
          </p:cNvSpPr>
          <p:nvPr/>
        </p:nvSpPr>
        <p:spPr>
          <a:xfrm>
            <a:off x="4572000" y="2190750"/>
            <a:ext cx="1905000" cy="34290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8DAFE7-B042-4A27-BB74-3064F72C3174}"/>
              </a:ext>
            </a:extLst>
          </p:cNvPr>
          <p:cNvSpPr>
            <a:spLocks noGrp="1"/>
          </p:cNvSpPr>
          <p:nvPr/>
        </p:nvSpPr>
        <p:spPr>
          <a:xfrm>
            <a:off x="4619625" y="2276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100.25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6BD18F-9A4B-4E29-BBF0-5353921DB046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1905000" cy="34290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254D89-7828-4A4C-BD18-20AD284E9170}"/>
              </a:ext>
            </a:extLst>
          </p:cNvPr>
          <p:cNvSpPr>
            <a:spLocks noGrp="1"/>
          </p:cNvSpPr>
          <p:nvPr/>
        </p:nvSpPr>
        <p:spPr>
          <a:xfrm>
            <a:off x="6524625" y="22764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300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A22BC8-2ECA-4710-BCE4-72601840FDD6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A02AFA-9ADE-4DB5-BB6E-B253BCBDF102}"/>
              </a:ext>
            </a:extLst>
          </p:cNvPr>
          <p:cNvSpPr>
            <a:spLocks noGrp="1"/>
          </p:cNvSpPr>
          <p:nvPr/>
        </p:nvSpPr>
        <p:spPr>
          <a:xfrm>
            <a:off x="809625" y="26193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09:30:03.000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5245D-7C8F-45F5-800B-17BA3E1D5E9E}"/>
              </a:ext>
            </a:extLst>
          </p:cNvPr>
          <p:cNvSpPr>
            <a:spLocks noGrp="1"/>
          </p:cNvSpPr>
          <p:nvPr/>
        </p:nvSpPr>
        <p:spPr>
          <a:xfrm>
            <a:off x="2667000" y="25336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EA158-ADB4-4963-9D42-A32111115DF0}"/>
              </a:ext>
            </a:extLst>
          </p:cNvPr>
          <p:cNvSpPr>
            <a:spLocks noGrp="1"/>
          </p:cNvSpPr>
          <p:nvPr/>
        </p:nvSpPr>
        <p:spPr>
          <a:xfrm>
            <a:off x="2714625" y="26193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`MSFT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A47D27-72DD-4158-BBB7-4C1F8951721C}"/>
              </a:ext>
            </a:extLst>
          </p:cNvPr>
          <p:cNvSpPr>
            <a:spLocks noGrp="1"/>
          </p:cNvSpPr>
          <p:nvPr/>
        </p:nvSpPr>
        <p:spPr>
          <a:xfrm>
            <a:off x="4572000" y="25336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597D5A-2FE3-47E1-BF06-3EBE9562FCF1}"/>
              </a:ext>
            </a:extLst>
          </p:cNvPr>
          <p:cNvSpPr>
            <a:spLocks noGrp="1"/>
          </p:cNvSpPr>
          <p:nvPr/>
        </p:nvSpPr>
        <p:spPr>
          <a:xfrm>
            <a:off x="4619625" y="26193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241.10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31234D-07E0-41B6-8782-861B7A8BAF36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190500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422758-4872-4F97-AFF1-0BBFEA0A7E3B}"/>
              </a:ext>
            </a:extLst>
          </p:cNvPr>
          <p:cNvSpPr>
            <a:spLocks noGrp="1"/>
          </p:cNvSpPr>
          <p:nvPr/>
        </p:nvSpPr>
        <p:spPr>
          <a:xfrm>
            <a:off x="6524625" y="26193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E3424A-C7C3-47C5-8BED-3BB1F2CD8DCF}"/>
              </a:ext>
            </a:extLst>
          </p:cNvPr>
          <p:cNvSpPr>
            <a:spLocks noGrp="1"/>
          </p:cNvSpPr>
          <p:nvPr/>
        </p:nvSpPr>
        <p:spPr>
          <a:xfrm>
            <a:off x="1285875" y="3143250"/>
            <a:ext cx="657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KDB view: same table idea, optimized for symbols and time.</a:t>
            </a:r>
          </a:p>
        </p:txBody>
      </p:sp>
    </p:spTree>
    <p:extLst>
      <p:ext uri="{BB962C8B-B14F-4D97-AF65-F5344CB8AC3E}">
        <p14:creationId xmlns:p14="http://schemas.microsoft.com/office/powerpoint/2010/main" val="17768257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5A284-D0C5-4EE9-85C7-06FAF057C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E56B0-CCD9-4719-AC2E-61B0D1088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 SELECT * FROM trades WHERE symbol='AAPL'</a:t>
            </a:r>
          </a:p>
          <a:p>
            <a:r>
              <a:t>KDB: select from trade where sym=`AAPL</a:t>
            </a:r>
          </a:p>
          <a:p>
            <a:r>
              <a:t>Same Logic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0077C850-189A-48F2-909E-82B91CF391A2}"/>
              </a:ext>
            </a:extLst>
          </p:cNvPr>
          <p:cNvSpPr>
            <a:spLocks noGrp="1"/>
          </p:cNvSpPr>
          <p:nvPr/>
        </p:nvSpPr>
        <p:spPr>
          <a:xfrm>
            <a:off x="404812" y="1198599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8A8A899-352B-4C4D-B831-17D0A5C55B3E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3714750" cy="2238375"/>
          </a:xfrm>
          <a:prstGeom prst="roundRect">
            <a:avLst>
              <a:gd name="adj" fmla="val 3404"/>
            </a:avLst>
          </a:prstGeom>
          <a:solidFill>
            <a:srgbClr val="101827"/>
          </a:solidFill>
          <a:ln w="0">
            <a:solidFill>
              <a:srgbClr val="101827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133EE9-DA28-4D02-95B9-E0CC3FBA2162}"/>
              </a:ext>
            </a:extLst>
          </p:cNvPr>
          <p:cNvSpPr>
            <a:spLocks noGrp="1"/>
          </p:cNvSpPr>
          <p:nvPr/>
        </p:nvSpPr>
        <p:spPr>
          <a:xfrm>
            <a:off x="4762500" y="1476375"/>
            <a:ext cx="3714750" cy="2238375"/>
          </a:xfrm>
          <a:prstGeom prst="roundRect">
            <a:avLst>
              <a:gd name="adj" fmla="val 3404"/>
            </a:avLst>
          </a:prstGeom>
          <a:solidFill>
            <a:srgbClr val="0F302F"/>
          </a:solidFill>
          <a:ln w="0">
            <a:solidFill>
              <a:srgbClr val="0F302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AD2610-E96E-4004-A03C-56460A35F04F}"/>
              </a:ext>
            </a:extLst>
          </p:cNvPr>
          <p:cNvSpPr>
            <a:spLocks noGrp="1"/>
          </p:cNvSpPr>
          <p:nvPr/>
        </p:nvSpPr>
        <p:spPr>
          <a:xfrm>
            <a:off x="876300" y="16954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9CC7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C7FF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7CB2F4-D576-40D1-A851-EAEFD6FF8FC3}"/>
              </a:ext>
            </a:extLst>
          </p:cNvPr>
          <p:cNvSpPr>
            <a:spLocks noGrp="1"/>
          </p:cNvSpPr>
          <p:nvPr/>
        </p:nvSpPr>
        <p:spPr>
          <a:xfrm>
            <a:off x="4972050" y="16954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8EE0D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E0D0"/>
                </a:solidFill>
                <a:latin typeface="Aptos"/>
                <a:ea typeface="Aptos"/>
                <a:cs typeface="Aptos"/>
              </a:rPr>
              <a:t>q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16BCE8-33E3-4402-804B-1941D7479866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31908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SELECT *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trades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WHERE symbol='AAPL';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00B9C4-46DF-464D-8482-975431B6DABE}"/>
              </a:ext>
            </a:extLst>
          </p:cNvPr>
          <p:cNvSpPr>
            <a:spLocks noGrp="1"/>
          </p:cNvSpPr>
          <p:nvPr/>
        </p:nvSpPr>
        <p:spPr>
          <a:xfrm>
            <a:off x="4972050" y="2095500"/>
            <a:ext cx="31908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select from trades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where sym=`AAPL</a:t>
            </a:r>
          </a:p>
        </p:txBody>
      </p:sp>
    </p:spTree>
    <p:extLst>
      <p:ext uri="{BB962C8B-B14F-4D97-AF65-F5344CB8AC3E}">
        <p14:creationId xmlns:p14="http://schemas.microsoft.com/office/powerpoint/2010/main" val="3686094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9906-F6A5-4FB4-AA91-741B5C77A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BY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61A46-3A2A-4040-973A-0AEE2D405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AVG(price) GROUP BY symbol</a:t>
            </a:r>
          </a:p>
          <a:p>
            <a:r>
              <a:t>KDB select avg price by sym</a:t>
            </a:r>
          </a:p>
          <a:p>
            <a:r>
              <a:t>GROUP BY -&gt; by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F34A9CBF-456F-43ED-8CA8-21F36E0B019E}"/>
              </a:ext>
            </a:extLst>
          </p:cNvPr>
          <p:cNvSpPr>
            <a:spLocks noGrp="1"/>
          </p:cNvSpPr>
          <p:nvPr/>
        </p:nvSpPr>
        <p:spPr>
          <a:xfrm>
            <a:off x="404812" y="1205687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6FF018-01E9-424D-8EFB-B346E6B97431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3714750" cy="2238375"/>
          </a:xfrm>
          <a:prstGeom prst="roundRect">
            <a:avLst>
              <a:gd name="adj" fmla="val 3404"/>
            </a:avLst>
          </a:prstGeom>
          <a:solidFill>
            <a:srgbClr val="101827"/>
          </a:solidFill>
          <a:ln w="0">
            <a:solidFill>
              <a:srgbClr val="101827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19D688-132F-49C7-B11F-C85E66D275E8}"/>
              </a:ext>
            </a:extLst>
          </p:cNvPr>
          <p:cNvSpPr>
            <a:spLocks noGrp="1"/>
          </p:cNvSpPr>
          <p:nvPr/>
        </p:nvSpPr>
        <p:spPr>
          <a:xfrm>
            <a:off x="4762500" y="1476375"/>
            <a:ext cx="3714750" cy="2238375"/>
          </a:xfrm>
          <a:prstGeom prst="roundRect">
            <a:avLst>
              <a:gd name="adj" fmla="val 3404"/>
            </a:avLst>
          </a:prstGeom>
          <a:solidFill>
            <a:srgbClr val="0F302F"/>
          </a:solidFill>
          <a:ln w="0">
            <a:solidFill>
              <a:srgbClr val="0F302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81F42F-8249-4DC2-96CF-012E6CEB0C14}"/>
              </a:ext>
            </a:extLst>
          </p:cNvPr>
          <p:cNvSpPr>
            <a:spLocks noGrp="1"/>
          </p:cNvSpPr>
          <p:nvPr/>
        </p:nvSpPr>
        <p:spPr>
          <a:xfrm>
            <a:off x="876300" y="16954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9CC7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C7FF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4422FC-5B3C-4CDB-8A7D-520B84764371}"/>
              </a:ext>
            </a:extLst>
          </p:cNvPr>
          <p:cNvSpPr>
            <a:spLocks noGrp="1"/>
          </p:cNvSpPr>
          <p:nvPr/>
        </p:nvSpPr>
        <p:spPr>
          <a:xfrm>
            <a:off x="4972050" y="16954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8EE0D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E0D0"/>
                </a:solidFill>
                <a:latin typeface="Aptos"/>
                <a:ea typeface="Aptos"/>
                <a:cs typeface="Aptos"/>
              </a:rPr>
              <a:t>q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F8E41C-2D26-47EC-8369-7754C40F0FF6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31908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SELECT symbol,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AVG(price)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trades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GROUP BY symbol;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74DF6E-6C41-4354-8BB8-E7F509261E1F}"/>
              </a:ext>
            </a:extLst>
          </p:cNvPr>
          <p:cNvSpPr>
            <a:spLocks noGrp="1"/>
          </p:cNvSpPr>
          <p:nvPr/>
        </p:nvSpPr>
        <p:spPr>
          <a:xfrm>
            <a:off x="4972050" y="2095500"/>
            <a:ext cx="31908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select avg price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by sym from trades</a:t>
            </a:r>
          </a:p>
        </p:txBody>
      </p:sp>
    </p:spTree>
    <p:extLst>
      <p:ext uri="{BB962C8B-B14F-4D97-AF65-F5344CB8AC3E}">
        <p14:creationId xmlns:p14="http://schemas.microsoft.com/office/powerpoint/2010/main" val="463672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C487-A96C-446B-98A8-1E128E8E6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726C4-60DB-46E2-A4F9-F3BD5C676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SUM(size)</a:t>
            </a:r>
          </a:p>
          <a:p>
            <a:r>
              <a:t>KDB select sum size by sym</a:t>
            </a:r>
          </a:p>
          <a:p>
            <a:r>
              <a:t>Aggregation Concepts Transfer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BB429DCA-4B9D-491E-BF97-9894430A6B08}"/>
              </a:ext>
            </a:extLst>
          </p:cNvPr>
          <p:cNvSpPr>
            <a:spLocks noGrp="1"/>
          </p:cNvSpPr>
          <p:nvPr/>
        </p:nvSpPr>
        <p:spPr>
          <a:xfrm>
            <a:off x="404812" y="1198599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FE15524-A773-459D-9AAD-08A506855C2F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3714750" cy="2238375"/>
          </a:xfrm>
          <a:prstGeom prst="roundRect">
            <a:avLst>
              <a:gd name="adj" fmla="val 3404"/>
            </a:avLst>
          </a:prstGeom>
          <a:solidFill>
            <a:srgbClr val="101827"/>
          </a:solidFill>
          <a:ln w="0">
            <a:solidFill>
              <a:srgbClr val="101827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628303-B6E7-4316-8C49-E399207ADBFE}"/>
              </a:ext>
            </a:extLst>
          </p:cNvPr>
          <p:cNvSpPr>
            <a:spLocks noGrp="1"/>
          </p:cNvSpPr>
          <p:nvPr/>
        </p:nvSpPr>
        <p:spPr>
          <a:xfrm>
            <a:off x="4762500" y="1476375"/>
            <a:ext cx="3714750" cy="2238375"/>
          </a:xfrm>
          <a:prstGeom prst="roundRect">
            <a:avLst>
              <a:gd name="adj" fmla="val 3404"/>
            </a:avLst>
          </a:prstGeom>
          <a:solidFill>
            <a:srgbClr val="0F302F"/>
          </a:solidFill>
          <a:ln w="0">
            <a:solidFill>
              <a:srgbClr val="0F302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C63970-55E6-46E0-99F4-5E817379F4CF}"/>
              </a:ext>
            </a:extLst>
          </p:cNvPr>
          <p:cNvSpPr>
            <a:spLocks noGrp="1"/>
          </p:cNvSpPr>
          <p:nvPr/>
        </p:nvSpPr>
        <p:spPr>
          <a:xfrm>
            <a:off x="876300" y="16954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9CC7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C7FF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CF0355-60F2-4980-B593-E4AA80EC682F}"/>
              </a:ext>
            </a:extLst>
          </p:cNvPr>
          <p:cNvSpPr>
            <a:spLocks noGrp="1"/>
          </p:cNvSpPr>
          <p:nvPr/>
        </p:nvSpPr>
        <p:spPr>
          <a:xfrm>
            <a:off x="4972050" y="16954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8EE0D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E0D0"/>
                </a:solidFill>
                <a:latin typeface="Aptos"/>
                <a:ea typeface="Aptos"/>
                <a:cs typeface="Aptos"/>
              </a:rPr>
              <a:t>q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20A968-55DF-4A67-AD89-6E78D87DBFDA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31908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SELECT symbol,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SUM(size)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trades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GROUP BY symbol;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59EC3B-E754-4639-9046-42EF0FCB9955}"/>
              </a:ext>
            </a:extLst>
          </p:cNvPr>
          <p:cNvSpPr>
            <a:spLocks noGrp="1"/>
          </p:cNvSpPr>
          <p:nvPr/>
        </p:nvSpPr>
        <p:spPr>
          <a:xfrm>
            <a:off x="4972050" y="2095500"/>
            <a:ext cx="31908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select sum size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by sym from trades</a:t>
            </a:r>
          </a:p>
        </p:txBody>
      </p:sp>
    </p:spTree>
    <p:extLst>
      <p:ext uri="{BB962C8B-B14F-4D97-AF65-F5344CB8AC3E}">
        <p14:creationId xmlns:p14="http://schemas.microsoft.com/office/powerpoint/2010/main" val="3457623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9DB10-B206-4FDB-A951-2BA48EF89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Time-Series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CAA43-EBD7-4FA3-BF64-583737B3C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 WHERE time BETWEEN ...</a:t>
            </a:r>
          </a:p>
          <a:p>
            <a:r>
              <a:t>KDB: time within (...)</a:t>
            </a:r>
          </a:p>
          <a:p>
            <a:r>
              <a:t>Time Filtering Is Core To KDB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E06DAD85-B46A-4CC4-9150-2A387AE8AB93}"/>
              </a:ext>
            </a:extLst>
          </p:cNvPr>
          <p:cNvSpPr>
            <a:spLocks noGrp="1"/>
          </p:cNvSpPr>
          <p:nvPr/>
        </p:nvSpPr>
        <p:spPr>
          <a:xfrm>
            <a:off x="404812" y="1170246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D2993B1-2C77-4437-B0A1-1D97E96A81A3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3714750" cy="2238375"/>
          </a:xfrm>
          <a:prstGeom prst="roundRect">
            <a:avLst>
              <a:gd name="adj" fmla="val 3404"/>
            </a:avLst>
          </a:prstGeom>
          <a:solidFill>
            <a:srgbClr val="101827"/>
          </a:solidFill>
          <a:ln w="0">
            <a:solidFill>
              <a:srgbClr val="101827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B489857-9619-4645-8A56-FC18EC594057}"/>
              </a:ext>
            </a:extLst>
          </p:cNvPr>
          <p:cNvSpPr>
            <a:spLocks noGrp="1"/>
          </p:cNvSpPr>
          <p:nvPr/>
        </p:nvSpPr>
        <p:spPr>
          <a:xfrm>
            <a:off x="4762500" y="1476375"/>
            <a:ext cx="3714750" cy="2238375"/>
          </a:xfrm>
          <a:prstGeom prst="roundRect">
            <a:avLst>
              <a:gd name="adj" fmla="val 3404"/>
            </a:avLst>
          </a:prstGeom>
          <a:solidFill>
            <a:srgbClr val="0F302F"/>
          </a:solidFill>
          <a:ln w="0">
            <a:solidFill>
              <a:srgbClr val="0F302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9408F6-3D2A-4B53-820A-F1ACCFF511B0}"/>
              </a:ext>
            </a:extLst>
          </p:cNvPr>
          <p:cNvSpPr>
            <a:spLocks noGrp="1"/>
          </p:cNvSpPr>
          <p:nvPr/>
        </p:nvSpPr>
        <p:spPr>
          <a:xfrm>
            <a:off x="876300" y="16954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9CC7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C7FF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64088F-4CC6-4CE5-A29D-3900C5353685}"/>
              </a:ext>
            </a:extLst>
          </p:cNvPr>
          <p:cNvSpPr>
            <a:spLocks noGrp="1"/>
          </p:cNvSpPr>
          <p:nvPr/>
        </p:nvSpPr>
        <p:spPr>
          <a:xfrm>
            <a:off x="4972050" y="16954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8EE0D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E0D0"/>
                </a:solidFill>
                <a:latin typeface="Aptos"/>
                <a:ea typeface="Aptos"/>
                <a:cs typeface="Aptos"/>
              </a:rPr>
              <a:t>q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40BDDC-EFE3-4377-B9E2-8798E83023E9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31908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SELECT * FROM trades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WHERE time BETWEEN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'09:30' AND '10:00';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3F180-8E72-4E51-B34E-2D4F4C5D427C}"/>
              </a:ext>
            </a:extLst>
          </p:cNvPr>
          <p:cNvSpPr>
            <a:spLocks noGrp="1"/>
          </p:cNvSpPr>
          <p:nvPr/>
        </p:nvSpPr>
        <p:spPr>
          <a:xfrm>
            <a:off x="4972050" y="2095500"/>
            <a:ext cx="31908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select from trades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where time within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09:30 10:00</a:t>
            </a:r>
          </a:p>
        </p:txBody>
      </p:sp>
    </p:spTree>
    <p:extLst>
      <p:ext uri="{BB962C8B-B14F-4D97-AF65-F5344CB8AC3E}">
        <p14:creationId xmlns:p14="http://schemas.microsoft.com/office/powerpoint/2010/main" val="13477651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07E9D-504E-48B5-917B-EB550ED4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VWAP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48E69-058D-4B37-AEF1-7246180F2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VWAP = Σ(price×size)/Σ(size)</a:t>
            </a:r>
          </a:p>
          <a:p>
            <a:r>
              <a:t>SQL and KDB solve same problem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ADC41DCA-23DF-423E-BE4D-56895610E63C}"/>
              </a:ext>
            </a:extLst>
          </p:cNvPr>
          <p:cNvSpPr>
            <a:spLocks noGrp="1"/>
          </p:cNvSpPr>
          <p:nvPr/>
        </p:nvSpPr>
        <p:spPr>
          <a:xfrm>
            <a:off x="352425" y="1338262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3C0B35-4D9E-4364-8E6D-5085D2777AB9}"/>
              </a:ext>
            </a:extLst>
          </p:cNvPr>
          <p:cNvSpPr>
            <a:spLocks noGrp="1"/>
          </p:cNvSpPr>
          <p:nvPr/>
        </p:nvSpPr>
        <p:spPr>
          <a:xfrm>
            <a:off x="904875" y="1762125"/>
            <a:ext cx="1619250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BB5968-8CAB-42F9-A072-C7BBDD82063F}"/>
              </a:ext>
            </a:extLst>
          </p:cNvPr>
          <p:cNvSpPr>
            <a:spLocks noGrp="1"/>
          </p:cNvSpPr>
          <p:nvPr/>
        </p:nvSpPr>
        <p:spPr>
          <a:xfrm>
            <a:off x="981075" y="1962150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Trade prices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6AEF24-724E-4877-85C0-5B7E69850818}"/>
              </a:ext>
            </a:extLst>
          </p:cNvPr>
          <p:cNvSpPr>
            <a:spLocks noGrp="1"/>
          </p:cNvSpPr>
          <p:nvPr/>
        </p:nvSpPr>
        <p:spPr>
          <a:xfrm>
            <a:off x="904875" y="2857500"/>
            <a:ext cx="1619250" cy="590550"/>
          </a:xfrm>
          <a:prstGeom prst="roundRect">
            <a:avLst>
              <a:gd name="adj" fmla="val 12903"/>
            </a:avLst>
          </a:prstGeom>
          <a:solidFill>
            <a:srgbClr val="FFF4DF"/>
          </a:solidFill>
          <a:ln w="13335">
            <a:solidFill>
              <a:srgbClr val="C8892D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767DDB-4B92-4033-8EF3-4E176311BA0B}"/>
              </a:ext>
            </a:extLst>
          </p:cNvPr>
          <p:cNvSpPr>
            <a:spLocks noGrp="1"/>
          </p:cNvSpPr>
          <p:nvPr/>
        </p:nvSpPr>
        <p:spPr>
          <a:xfrm>
            <a:off x="981075" y="3057525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C889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892D"/>
                </a:solidFill>
                <a:latin typeface="Aptos"/>
                <a:ea typeface="Aptos"/>
                <a:cs typeface="Aptos"/>
              </a:rPr>
              <a:t>Trade sizes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B7AE4E-A77D-4FCF-85C5-F85663F98520}"/>
              </a:ext>
            </a:extLst>
          </p:cNvPr>
          <p:cNvSpPr>
            <a:spLocks noGrp="1"/>
          </p:cNvSpPr>
          <p:nvPr/>
        </p:nvSpPr>
        <p:spPr>
          <a:xfrm>
            <a:off x="2667000" y="2038350"/>
            <a:ext cx="1257300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12AA5523-1A7F-4EE0-AD33-433142BA9652}"/>
              </a:ext>
            </a:extLst>
          </p:cNvPr>
          <p:cNvSpPr>
            <a:spLocks noGrp="1"/>
          </p:cNvSpPr>
          <p:nvPr/>
        </p:nvSpPr>
        <p:spPr>
          <a:xfrm>
            <a:off x="3876675" y="1990725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08F26F-5D47-4075-A535-47E7874BE2C2}"/>
              </a:ext>
            </a:extLst>
          </p:cNvPr>
          <p:cNvSpPr>
            <a:spLocks noGrp="1"/>
          </p:cNvSpPr>
          <p:nvPr/>
        </p:nvSpPr>
        <p:spPr>
          <a:xfrm>
            <a:off x="2667000" y="3133725"/>
            <a:ext cx="1257300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6DB8A431-6973-4404-B727-4933090DA32F}"/>
              </a:ext>
            </a:extLst>
          </p:cNvPr>
          <p:cNvSpPr>
            <a:spLocks noGrp="1"/>
          </p:cNvSpPr>
          <p:nvPr/>
        </p:nvSpPr>
        <p:spPr>
          <a:xfrm>
            <a:off x="3876675" y="308610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A04489-1065-4D99-9A2B-F4E65005AE0C}"/>
              </a:ext>
            </a:extLst>
          </p:cNvPr>
          <p:cNvSpPr>
            <a:spLocks noGrp="1"/>
          </p:cNvSpPr>
          <p:nvPr/>
        </p:nvSpPr>
        <p:spPr>
          <a:xfrm>
            <a:off x="4095750" y="230505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F5F8FC"/>
          </a:solidFill>
          <a:ln w="13335">
            <a:solidFill>
              <a:srgbClr val="596777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BC672E-3F74-4484-8D99-743014F22818}"/>
              </a:ext>
            </a:extLst>
          </p:cNvPr>
          <p:cNvSpPr>
            <a:spLocks noGrp="1"/>
          </p:cNvSpPr>
          <p:nvPr/>
        </p:nvSpPr>
        <p:spPr>
          <a:xfrm>
            <a:off x="4171950" y="2552700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777"/>
                </a:solidFill>
                <a:latin typeface="Aptos"/>
                <a:ea typeface="Aptos"/>
                <a:cs typeface="Aptos"/>
              </a:rPr>
              <a:t>price x size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157E1F-6E26-4D92-9335-6E1316CAC626}"/>
              </a:ext>
            </a:extLst>
          </p:cNvPr>
          <p:cNvSpPr>
            <a:spLocks noGrp="1"/>
          </p:cNvSpPr>
          <p:nvPr/>
        </p:nvSpPr>
        <p:spPr>
          <a:xfrm>
            <a:off x="5857875" y="2628900"/>
            <a:ext cx="781050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AC51F79B-84F6-4A4C-A69F-48AA8CF3469D}"/>
              </a:ext>
            </a:extLst>
          </p:cNvPr>
          <p:cNvSpPr>
            <a:spLocks noGrp="1"/>
          </p:cNvSpPr>
          <p:nvPr/>
        </p:nvSpPr>
        <p:spPr>
          <a:xfrm>
            <a:off x="6591300" y="2581275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39CBFAF-3440-41CF-9168-5F66F819B573}"/>
              </a:ext>
            </a:extLst>
          </p:cNvPr>
          <p:cNvSpPr>
            <a:spLocks noGrp="1"/>
          </p:cNvSpPr>
          <p:nvPr/>
        </p:nvSpPr>
        <p:spPr>
          <a:xfrm>
            <a:off x="6810375" y="2305050"/>
            <a:ext cx="1381125" cy="685800"/>
          </a:xfrm>
          <a:prstGeom prst="roundRect">
            <a:avLst>
              <a:gd name="adj" fmla="val 11111"/>
            </a:avLst>
          </a:prstGeom>
          <a:solidFill>
            <a:srgbClr val="EAF5EF"/>
          </a:solidFill>
          <a:ln w="13335">
            <a:solidFill>
              <a:srgbClr val="2E7D5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66B0C1-FA1B-4EF7-BFF7-F9C6E5E90F0A}"/>
              </a:ext>
            </a:extLst>
          </p:cNvPr>
          <p:cNvSpPr>
            <a:spLocks noGrp="1"/>
          </p:cNvSpPr>
          <p:nvPr/>
        </p:nvSpPr>
        <p:spPr>
          <a:xfrm>
            <a:off x="6886575" y="2428875"/>
            <a:ext cx="12287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VWAP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4F12F0-F76F-4960-A670-497B654F8F2F}"/>
              </a:ext>
            </a:extLst>
          </p:cNvPr>
          <p:cNvSpPr>
            <a:spLocks noGrp="1"/>
          </p:cNvSpPr>
          <p:nvPr/>
        </p:nvSpPr>
        <p:spPr>
          <a:xfrm>
            <a:off x="6886575" y="2705100"/>
            <a:ext cx="1228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weighted average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BAF904-ADD3-4D55-895A-F4A5FDC9F11C}"/>
              </a:ext>
            </a:extLst>
          </p:cNvPr>
          <p:cNvSpPr>
            <a:spLocks noGrp="1"/>
          </p:cNvSpPr>
          <p:nvPr/>
        </p:nvSpPr>
        <p:spPr>
          <a:xfrm>
            <a:off x="2190750" y="3857625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VWAP = sum(price x size) / sum(size)</a:t>
            </a:r>
          </a:p>
        </p:txBody>
      </p:sp>
    </p:spTree>
    <p:extLst>
      <p:ext uri="{BB962C8B-B14F-4D97-AF65-F5344CB8AC3E}">
        <p14:creationId xmlns:p14="http://schemas.microsoft.com/office/powerpoint/2010/main" val="20979196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74173-5C82-40B3-9950-34A7AD48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vs KDB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2B081-EA02-4EC5-87E9-88EB6F839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General vs Time-Series</a:t>
            </a:r>
          </a:p>
          <a:p>
            <a:r>
              <a:t>Row vs Column</a:t>
            </a:r>
          </a:p>
          <a:p>
            <a:r>
              <a:t>Business vs Market Analytics</a:t>
            </a:r>
          </a:p>
          <a:p>
            <a:r>
              <a:t>Seconds vs Milliseconds</a:t>
            </a:r>
          </a:p>
          <a:p>
            <a:r>
              <a:t>Broad Usage vs Finance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6600707E-497C-4FFC-A210-B161A1F888B3}"/>
              </a:ext>
            </a:extLst>
          </p:cNvPr>
          <p:cNvSpPr>
            <a:spLocks noGrp="1"/>
          </p:cNvSpPr>
          <p:nvPr/>
        </p:nvSpPr>
        <p:spPr>
          <a:xfrm>
            <a:off x="404812" y="1147762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C5D8BB-3241-4D6C-ADCE-7C202A8C99E6}"/>
              </a:ext>
            </a:extLst>
          </p:cNvPr>
          <p:cNvSpPr>
            <a:spLocks noGrp="1"/>
          </p:cNvSpPr>
          <p:nvPr/>
        </p:nvSpPr>
        <p:spPr>
          <a:xfrm>
            <a:off x="1000125" y="1428750"/>
            <a:ext cx="2381250" cy="40005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BD42B7-99BD-4DBF-820B-FC6E31813723}"/>
              </a:ext>
            </a:extLst>
          </p:cNvPr>
          <p:cNvSpPr>
            <a:spLocks noGrp="1"/>
          </p:cNvSpPr>
          <p:nvPr/>
        </p:nvSpPr>
        <p:spPr>
          <a:xfrm>
            <a:off x="1047750" y="151447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F92116-0443-4735-850E-BFC0D8DE6B53}"/>
              </a:ext>
            </a:extLst>
          </p:cNvPr>
          <p:cNvSpPr>
            <a:spLocks noGrp="1"/>
          </p:cNvSpPr>
          <p:nvPr/>
        </p:nvSpPr>
        <p:spPr>
          <a:xfrm>
            <a:off x="3381375" y="1428750"/>
            <a:ext cx="2381250" cy="40005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54CF68-77E2-460C-AEA6-DD5A12C2EA5D}"/>
              </a:ext>
            </a:extLst>
          </p:cNvPr>
          <p:cNvSpPr>
            <a:spLocks noGrp="1"/>
          </p:cNvSpPr>
          <p:nvPr/>
        </p:nvSpPr>
        <p:spPr>
          <a:xfrm>
            <a:off x="3429000" y="151447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7AECD8-37B4-40F2-BFBA-8E9346DE58E9}"/>
              </a:ext>
            </a:extLst>
          </p:cNvPr>
          <p:cNvSpPr>
            <a:spLocks noGrp="1"/>
          </p:cNvSpPr>
          <p:nvPr/>
        </p:nvSpPr>
        <p:spPr>
          <a:xfrm>
            <a:off x="5762625" y="1428750"/>
            <a:ext cx="2381250" cy="40005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DFA166-9BAC-4E96-B68D-9F06D596BD49}"/>
              </a:ext>
            </a:extLst>
          </p:cNvPr>
          <p:cNvSpPr>
            <a:spLocks noGrp="1"/>
          </p:cNvSpPr>
          <p:nvPr/>
        </p:nvSpPr>
        <p:spPr>
          <a:xfrm>
            <a:off x="5810250" y="151447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KDB/q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4764F1-8502-4959-936B-086E17B95B92}"/>
              </a:ext>
            </a:extLst>
          </p:cNvPr>
          <p:cNvSpPr>
            <a:spLocks noGrp="1"/>
          </p:cNvSpPr>
          <p:nvPr/>
        </p:nvSpPr>
        <p:spPr>
          <a:xfrm>
            <a:off x="1000125" y="1828800"/>
            <a:ext cx="2381250" cy="40005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B37EF5-976C-4990-81CF-17A9C0BF6200}"/>
              </a:ext>
            </a:extLst>
          </p:cNvPr>
          <p:cNvSpPr>
            <a:spLocks noGrp="1"/>
          </p:cNvSpPr>
          <p:nvPr/>
        </p:nvSpPr>
        <p:spPr>
          <a:xfrm>
            <a:off x="1047750" y="191452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Filter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63A4C6-0AE0-4E43-97F7-C4D9EB3E14CC}"/>
              </a:ext>
            </a:extLst>
          </p:cNvPr>
          <p:cNvSpPr>
            <a:spLocks noGrp="1"/>
          </p:cNvSpPr>
          <p:nvPr/>
        </p:nvSpPr>
        <p:spPr>
          <a:xfrm>
            <a:off x="3381375" y="1828800"/>
            <a:ext cx="2381250" cy="40005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95A2A0-60B1-4203-B318-D442F631C878}"/>
              </a:ext>
            </a:extLst>
          </p:cNvPr>
          <p:cNvSpPr>
            <a:spLocks noGrp="1"/>
          </p:cNvSpPr>
          <p:nvPr/>
        </p:nvSpPr>
        <p:spPr>
          <a:xfrm>
            <a:off x="3429000" y="191452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WHERE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70915D-C3DB-48A8-A7D4-302ECC94766C}"/>
              </a:ext>
            </a:extLst>
          </p:cNvPr>
          <p:cNvSpPr>
            <a:spLocks noGrp="1"/>
          </p:cNvSpPr>
          <p:nvPr/>
        </p:nvSpPr>
        <p:spPr>
          <a:xfrm>
            <a:off x="5762625" y="1828800"/>
            <a:ext cx="2381250" cy="40005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8DC7F0-7241-4561-94A6-947D490A77C5}"/>
              </a:ext>
            </a:extLst>
          </p:cNvPr>
          <p:cNvSpPr>
            <a:spLocks noGrp="1"/>
          </p:cNvSpPr>
          <p:nvPr/>
        </p:nvSpPr>
        <p:spPr>
          <a:xfrm>
            <a:off x="5810250" y="191452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where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F7A3BD-5CFF-4AFD-8BE7-6139C141B546}"/>
              </a:ext>
            </a:extLst>
          </p:cNvPr>
          <p:cNvSpPr>
            <a:spLocks noGrp="1"/>
          </p:cNvSpPr>
          <p:nvPr/>
        </p:nvSpPr>
        <p:spPr>
          <a:xfrm>
            <a:off x="1000125" y="2228850"/>
            <a:ext cx="2381250" cy="40005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D3979D-B84E-45E2-A875-6A338E50934C}"/>
              </a:ext>
            </a:extLst>
          </p:cNvPr>
          <p:cNvSpPr>
            <a:spLocks noGrp="1"/>
          </p:cNvSpPr>
          <p:nvPr/>
        </p:nvSpPr>
        <p:spPr>
          <a:xfrm>
            <a:off x="1047750" y="231457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Group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5384FE-76EE-4123-93C3-051BBA67A083}"/>
              </a:ext>
            </a:extLst>
          </p:cNvPr>
          <p:cNvSpPr>
            <a:spLocks noGrp="1"/>
          </p:cNvSpPr>
          <p:nvPr/>
        </p:nvSpPr>
        <p:spPr>
          <a:xfrm>
            <a:off x="3381375" y="2228850"/>
            <a:ext cx="2381250" cy="40005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1FF1B4-D87C-47FE-9EEC-E75E2304EB09}"/>
              </a:ext>
            </a:extLst>
          </p:cNvPr>
          <p:cNvSpPr>
            <a:spLocks noGrp="1"/>
          </p:cNvSpPr>
          <p:nvPr/>
        </p:nvSpPr>
        <p:spPr>
          <a:xfrm>
            <a:off x="3429000" y="231457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GROUP BY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858E28-1688-4066-A8D0-33E45F403B60}"/>
              </a:ext>
            </a:extLst>
          </p:cNvPr>
          <p:cNvSpPr>
            <a:spLocks noGrp="1"/>
          </p:cNvSpPr>
          <p:nvPr/>
        </p:nvSpPr>
        <p:spPr>
          <a:xfrm>
            <a:off x="5762625" y="2228850"/>
            <a:ext cx="2381250" cy="40005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BB4436-3F9A-4310-8821-8178A1978A27}"/>
              </a:ext>
            </a:extLst>
          </p:cNvPr>
          <p:cNvSpPr>
            <a:spLocks noGrp="1"/>
          </p:cNvSpPr>
          <p:nvPr/>
        </p:nvSpPr>
        <p:spPr>
          <a:xfrm>
            <a:off x="5810250" y="231457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by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8BEF31-5D4B-486A-9609-FE1F1092058F}"/>
              </a:ext>
            </a:extLst>
          </p:cNvPr>
          <p:cNvSpPr>
            <a:spLocks noGrp="1"/>
          </p:cNvSpPr>
          <p:nvPr/>
        </p:nvSpPr>
        <p:spPr>
          <a:xfrm>
            <a:off x="1000125" y="2628900"/>
            <a:ext cx="2381250" cy="40005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A9D500-A1C6-4CCE-A787-3B85195CF8C6}"/>
              </a:ext>
            </a:extLst>
          </p:cNvPr>
          <p:cNvSpPr>
            <a:spLocks noGrp="1"/>
          </p:cNvSpPr>
          <p:nvPr/>
        </p:nvSpPr>
        <p:spPr>
          <a:xfrm>
            <a:off x="1047750" y="271462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Average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A67437-CB42-451B-8657-10439FD64342}"/>
              </a:ext>
            </a:extLst>
          </p:cNvPr>
          <p:cNvSpPr>
            <a:spLocks noGrp="1"/>
          </p:cNvSpPr>
          <p:nvPr/>
        </p:nvSpPr>
        <p:spPr>
          <a:xfrm>
            <a:off x="3381375" y="2628900"/>
            <a:ext cx="2381250" cy="40005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131E6A-6B96-42AE-AB40-1F5369E9C18D}"/>
              </a:ext>
            </a:extLst>
          </p:cNvPr>
          <p:cNvSpPr>
            <a:spLocks noGrp="1"/>
          </p:cNvSpPr>
          <p:nvPr/>
        </p:nvSpPr>
        <p:spPr>
          <a:xfrm>
            <a:off x="3429000" y="271462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AVG(price)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122D33-FDC9-418D-A88D-3F940F036027}"/>
              </a:ext>
            </a:extLst>
          </p:cNvPr>
          <p:cNvSpPr>
            <a:spLocks noGrp="1"/>
          </p:cNvSpPr>
          <p:nvPr/>
        </p:nvSpPr>
        <p:spPr>
          <a:xfrm>
            <a:off x="5762625" y="2628900"/>
            <a:ext cx="2381250" cy="40005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9FBEB5-CC46-44B5-8DDB-B6F12FE0B0FB}"/>
              </a:ext>
            </a:extLst>
          </p:cNvPr>
          <p:cNvSpPr>
            <a:spLocks noGrp="1"/>
          </p:cNvSpPr>
          <p:nvPr/>
        </p:nvSpPr>
        <p:spPr>
          <a:xfrm>
            <a:off x="5810250" y="271462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avg price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0243EE-ADA9-43FD-A4AC-559BD7DA52C0}"/>
              </a:ext>
            </a:extLst>
          </p:cNvPr>
          <p:cNvSpPr>
            <a:spLocks noGrp="1"/>
          </p:cNvSpPr>
          <p:nvPr/>
        </p:nvSpPr>
        <p:spPr>
          <a:xfrm>
            <a:off x="1000125" y="3028950"/>
            <a:ext cx="2381250" cy="40005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5C59FD-4238-470D-9C7B-135C51E757AD}"/>
              </a:ext>
            </a:extLst>
          </p:cNvPr>
          <p:cNvSpPr>
            <a:spLocks noGrp="1"/>
          </p:cNvSpPr>
          <p:nvPr/>
        </p:nvSpPr>
        <p:spPr>
          <a:xfrm>
            <a:off x="1047750" y="311467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Time filter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AA141E-CE0D-4432-B9B1-5016A2B9E6E0}"/>
              </a:ext>
            </a:extLst>
          </p:cNvPr>
          <p:cNvSpPr>
            <a:spLocks noGrp="1"/>
          </p:cNvSpPr>
          <p:nvPr/>
        </p:nvSpPr>
        <p:spPr>
          <a:xfrm>
            <a:off x="3381375" y="3028950"/>
            <a:ext cx="2381250" cy="40005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FD4BE3-D8A4-4D29-AEAC-363B599D3345}"/>
              </a:ext>
            </a:extLst>
          </p:cNvPr>
          <p:cNvSpPr>
            <a:spLocks noGrp="1"/>
          </p:cNvSpPr>
          <p:nvPr/>
        </p:nvSpPr>
        <p:spPr>
          <a:xfrm>
            <a:off x="3429000" y="311467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BETWEEN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C7D28D-A0C1-417C-BFB4-21EDC2ED3C17}"/>
              </a:ext>
            </a:extLst>
          </p:cNvPr>
          <p:cNvSpPr>
            <a:spLocks noGrp="1"/>
          </p:cNvSpPr>
          <p:nvPr/>
        </p:nvSpPr>
        <p:spPr>
          <a:xfrm>
            <a:off x="5762625" y="3028950"/>
            <a:ext cx="2381250" cy="40005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B7FFB8-0BB5-4FB8-9857-82B781773899}"/>
              </a:ext>
            </a:extLst>
          </p:cNvPr>
          <p:cNvSpPr>
            <a:spLocks noGrp="1"/>
          </p:cNvSpPr>
          <p:nvPr/>
        </p:nvSpPr>
        <p:spPr>
          <a:xfrm>
            <a:off x="5810250" y="311467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within</a:t>
            </a:r>
          </a:p>
        </p:txBody>
      </p:sp>
    </p:spTree>
    <p:extLst>
      <p:ext uri="{BB962C8B-B14F-4D97-AF65-F5344CB8AC3E}">
        <p14:creationId xmlns:p14="http://schemas.microsoft.com/office/powerpoint/2010/main" val="19448608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F4424-FC82-4F57-90B0-310CDC516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VWAP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BD266-F397-4882-A8F6-A4F9B62E9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Was Today's VWAP For AAPL?</a:t>
            </a:r>
          </a:p>
          <a:p>
            <a:r>
              <a:t>SQL</a:t>
            </a:r>
          </a:p>
          <a:p>
            <a:r>
              <a:t>Pandas</a:t>
            </a:r>
          </a:p>
          <a:p>
            <a:r>
              <a:t>KDB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06E31C2F-2E06-4D55-BD17-8D61BC83E2BF}"/>
              </a:ext>
            </a:extLst>
          </p:cNvPr>
          <p:cNvSpPr>
            <a:spLocks noGrp="1"/>
          </p:cNvSpPr>
          <p:nvPr/>
        </p:nvSpPr>
        <p:spPr>
          <a:xfrm>
            <a:off x="404812" y="1214437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661983-07D6-4201-8020-0DBF10E61B53}"/>
              </a:ext>
            </a:extLst>
          </p:cNvPr>
          <p:cNvSpPr>
            <a:spLocks noGrp="1"/>
          </p:cNvSpPr>
          <p:nvPr/>
        </p:nvSpPr>
        <p:spPr>
          <a:xfrm>
            <a:off x="857250" y="1285875"/>
            <a:ext cx="7429500" cy="2952750"/>
          </a:xfrm>
          <a:prstGeom prst="roundRect">
            <a:avLst>
              <a:gd name="adj" fmla="val 2581"/>
            </a:avLst>
          </a:prstGeom>
          <a:solidFill>
            <a:srgbClr val="F7FA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0BAB49-C204-44C3-AF29-8A99B7FC51D7}"/>
              </a:ext>
            </a:extLst>
          </p:cNvPr>
          <p:cNvSpPr>
            <a:spLocks noGrp="1"/>
          </p:cNvSpPr>
          <p:nvPr/>
        </p:nvSpPr>
        <p:spPr>
          <a:xfrm>
            <a:off x="1066800" y="1524000"/>
            <a:ext cx="4619625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F01DA6-CA9B-46C5-AE0D-EE7EB23D9CC0}"/>
              </a:ext>
            </a:extLst>
          </p:cNvPr>
          <p:cNvSpPr>
            <a:spLocks noGrp="1"/>
          </p:cNvSpPr>
          <p:nvPr/>
        </p:nvSpPr>
        <p:spPr>
          <a:xfrm>
            <a:off x="1238250" y="3143250"/>
            <a:ext cx="476250" cy="28575"/>
          </a:xfrm>
          <a:prstGeom prst="rect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9DE4B7-6EF2-43B3-9A89-EB36D29346F6}"/>
              </a:ext>
            </a:extLst>
          </p:cNvPr>
          <p:cNvSpPr>
            <a:spLocks noGrp="1"/>
          </p:cNvSpPr>
          <p:nvPr/>
        </p:nvSpPr>
        <p:spPr>
          <a:xfrm>
            <a:off x="1714500" y="3000375"/>
            <a:ext cx="476250" cy="28575"/>
          </a:xfrm>
          <a:prstGeom prst="rect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5976E2-79BA-45E2-AF6B-EBFC536D55CC}"/>
              </a:ext>
            </a:extLst>
          </p:cNvPr>
          <p:cNvSpPr>
            <a:spLocks noGrp="1"/>
          </p:cNvSpPr>
          <p:nvPr/>
        </p:nvSpPr>
        <p:spPr>
          <a:xfrm>
            <a:off x="2190750" y="3095625"/>
            <a:ext cx="476250" cy="28575"/>
          </a:xfrm>
          <a:prstGeom prst="rect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C310A5-FBEB-44B1-8FCE-977B187DCDF8}"/>
              </a:ext>
            </a:extLst>
          </p:cNvPr>
          <p:cNvSpPr>
            <a:spLocks noGrp="1"/>
          </p:cNvSpPr>
          <p:nvPr/>
        </p:nvSpPr>
        <p:spPr>
          <a:xfrm>
            <a:off x="2667000" y="2762250"/>
            <a:ext cx="476250" cy="28575"/>
          </a:xfrm>
          <a:prstGeom prst="rect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02ECE6-FD69-4F58-8726-88EA001AE0A0}"/>
              </a:ext>
            </a:extLst>
          </p:cNvPr>
          <p:cNvSpPr>
            <a:spLocks noGrp="1"/>
          </p:cNvSpPr>
          <p:nvPr/>
        </p:nvSpPr>
        <p:spPr>
          <a:xfrm>
            <a:off x="3143250" y="2857500"/>
            <a:ext cx="476250" cy="28575"/>
          </a:xfrm>
          <a:prstGeom prst="rect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77B67B-5AAD-4894-9B24-96E5ACBE902A}"/>
              </a:ext>
            </a:extLst>
          </p:cNvPr>
          <p:cNvSpPr>
            <a:spLocks noGrp="1"/>
          </p:cNvSpPr>
          <p:nvPr/>
        </p:nvSpPr>
        <p:spPr>
          <a:xfrm>
            <a:off x="3619500" y="2571750"/>
            <a:ext cx="476250" cy="28575"/>
          </a:xfrm>
          <a:prstGeom prst="rect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E109BF-59D7-4E60-89A8-6DC245E3E7C4}"/>
              </a:ext>
            </a:extLst>
          </p:cNvPr>
          <p:cNvSpPr>
            <a:spLocks noGrp="1"/>
          </p:cNvSpPr>
          <p:nvPr/>
        </p:nvSpPr>
        <p:spPr>
          <a:xfrm>
            <a:off x="4095750" y="2714625"/>
            <a:ext cx="476250" cy="28575"/>
          </a:xfrm>
          <a:prstGeom prst="rect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C8AF33-0927-4B08-9F6A-F9AB28D9D4B6}"/>
              </a:ext>
            </a:extLst>
          </p:cNvPr>
          <p:cNvSpPr>
            <a:spLocks noGrp="1"/>
          </p:cNvSpPr>
          <p:nvPr/>
        </p:nvSpPr>
        <p:spPr>
          <a:xfrm>
            <a:off x="4572000" y="2381250"/>
            <a:ext cx="762000" cy="28575"/>
          </a:xfrm>
          <a:prstGeom prst="rect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7D0E7B-561A-4987-A1ED-16857E0365E5}"/>
              </a:ext>
            </a:extLst>
          </p:cNvPr>
          <p:cNvSpPr>
            <a:spLocks noGrp="1"/>
          </p:cNvSpPr>
          <p:nvPr/>
        </p:nvSpPr>
        <p:spPr>
          <a:xfrm>
            <a:off x="1238250" y="2619375"/>
            <a:ext cx="4095750" cy="28575"/>
          </a:xfrm>
          <a:prstGeom prst="rect">
            <a:avLst/>
          </a:prstGeom>
          <a:solidFill>
            <a:srgbClr val="C8892D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CD421D-5E4A-44F3-9E9B-1EF6B90FFB49}"/>
              </a:ext>
            </a:extLst>
          </p:cNvPr>
          <p:cNvSpPr>
            <a:spLocks noGrp="1"/>
          </p:cNvSpPr>
          <p:nvPr/>
        </p:nvSpPr>
        <p:spPr>
          <a:xfrm>
            <a:off x="1257300" y="16192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1C3E14-D022-4ED2-A425-23D1AA031A80}"/>
              </a:ext>
            </a:extLst>
          </p:cNvPr>
          <p:cNvSpPr>
            <a:spLocks noGrp="1"/>
          </p:cNvSpPr>
          <p:nvPr/>
        </p:nvSpPr>
        <p:spPr>
          <a:xfrm>
            <a:off x="4905375" y="245745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C889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892D"/>
                </a:solidFill>
                <a:latin typeface="Aptos"/>
                <a:ea typeface="Aptos"/>
                <a:cs typeface="Aptos"/>
              </a:rPr>
              <a:t>VWAP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AFA8D92-E1BF-4124-A0F0-808926326026}"/>
              </a:ext>
            </a:extLst>
          </p:cNvPr>
          <p:cNvSpPr>
            <a:spLocks noGrp="1"/>
          </p:cNvSpPr>
          <p:nvPr/>
        </p:nvSpPr>
        <p:spPr>
          <a:xfrm>
            <a:off x="5953125" y="1524000"/>
            <a:ext cx="2198503" cy="3619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F8B652-A705-44A3-9F83-767ABFD93469}"/>
              </a:ext>
            </a:extLst>
          </p:cNvPr>
          <p:cNvSpPr>
            <a:spLocks noGrp="1"/>
          </p:cNvSpPr>
          <p:nvPr/>
        </p:nvSpPr>
        <p:spPr>
          <a:xfrm>
            <a:off x="6096000" y="1619250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VWAP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1082F3-3E10-4AFD-842A-346134CACA1C}"/>
              </a:ext>
            </a:extLst>
          </p:cNvPr>
          <p:cNvSpPr>
            <a:spLocks noGrp="1"/>
          </p:cNvSpPr>
          <p:nvPr/>
        </p:nvSpPr>
        <p:spPr>
          <a:xfrm>
            <a:off x="7239000" y="1581150"/>
            <a:ext cx="742507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100</a:t>
            </a:r>
            <a:r>
              <a:rPr lang="en-US" sz="12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.</a:t>
            </a:r>
            <a:r>
              <a:rPr sz="12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E21FF36-F1B8-412C-A39D-090D878401F3}"/>
              </a:ext>
            </a:extLst>
          </p:cNvPr>
          <p:cNvSpPr>
            <a:spLocks noGrp="1"/>
          </p:cNvSpPr>
          <p:nvPr/>
        </p:nvSpPr>
        <p:spPr>
          <a:xfrm>
            <a:off x="5953125" y="2047875"/>
            <a:ext cx="195262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E3D7C-E729-467B-9E4D-5E94E4864E3E}"/>
              </a:ext>
            </a:extLst>
          </p:cNvPr>
          <p:cNvSpPr>
            <a:spLocks noGrp="1"/>
          </p:cNvSpPr>
          <p:nvPr/>
        </p:nvSpPr>
        <p:spPr>
          <a:xfrm>
            <a:off x="6096000" y="2143125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Volume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D4840F-E1C9-4418-A093-F70B05D47263}"/>
              </a:ext>
            </a:extLst>
          </p:cNvPr>
          <p:cNvSpPr>
            <a:spLocks noGrp="1"/>
          </p:cNvSpPr>
          <p:nvPr/>
        </p:nvSpPr>
        <p:spPr>
          <a:xfrm>
            <a:off x="7239000" y="2105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2.4M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EEE77F4-C019-4001-A512-D1C1B7429BAC}"/>
              </a:ext>
            </a:extLst>
          </p:cNvPr>
          <p:cNvSpPr>
            <a:spLocks noGrp="1"/>
          </p:cNvSpPr>
          <p:nvPr/>
        </p:nvSpPr>
        <p:spPr>
          <a:xfrm>
            <a:off x="5953125" y="2571750"/>
            <a:ext cx="195262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B86459-5C4B-4723-8158-C769386D351D}"/>
              </a:ext>
            </a:extLst>
          </p:cNvPr>
          <p:cNvSpPr>
            <a:spLocks noGrp="1"/>
          </p:cNvSpPr>
          <p:nvPr/>
        </p:nvSpPr>
        <p:spPr>
          <a:xfrm>
            <a:off x="6096000" y="2667000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Spread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4D49DF-F261-4C7F-9ED0-545EC80A89B9}"/>
              </a:ext>
            </a:extLst>
          </p:cNvPr>
          <p:cNvSpPr>
            <a:spLocks noGrp="1"/>
          </p:cNvSpPr>
          <p:nvPr/>
        </p:nvSpPr>
        <p:spPr>
          <a:xfrm>
            <a:off x="7239000" y="2628900"/>
            <a:ext cx="71913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42033"/>
                </a:solidFill>
                <a:latin typeface="Aptos"/>
                <a:ea typeface="Aptos"/>
                <a:cs typeface="Aptos"/>
              </a:rPr>
              <a:t>3 bps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D0D5538-FCBF-43CC-9133-2BE936C9000D}"/>
              </a:ext>
            </a:extLst>
          </p:cNvPr>
          <p:cNvSpPr>
            <a:spLocks noGrp="1"/>
          </p:cNvSpPr>
          <p:nvPr/>
        </p:nvSpPr>
        <p:spPr>
          <a:xfrm>
            <a:off x="5953125" y="3095625"/>
            <a:ext cx="195262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B08ED8-682C-489B-A465-D2EC4E05BB57}"/>
              </a:ext>
            </a:extLst>
          </p:cNvPr>
          <p:cNvSpPr>
            <a:spLocks noGrp="1"/>
          </p:cNvSpPr>
          <p:nvPr/>
        </p:nvSpPr>
        <p:spPr>
          <a:xfrm>
            <a:off x="6096000" y="3190875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7BA562-A661-404A-B4B1-9F72484A3301}"/>
              </a:ext>
            </a:extLst>
          </p:cNvPr>
          <p:cNvSpPr>
            <a:spLocks noGrp="1"/>
          </p:cNvSpPr>
          <p:nvPr/>
        </p:nvSpPr>
        <p:spPr>
          <a:xfrm>
            <a:off x="7239000" y="315277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4003898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83A16-C2CC-4E60-A2C2-D1693DCA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+ KDB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90598-571A-4B76-9D55-19A553CD5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Data</a:t>
            </a:r>
          </a:p>
          <a:p>
            <a:r>
              <a:t>KDB</a:t>
            </a:r>
          </a:p>
          <a:p>
            <a:r>
              <a:t>Python</a:t>
            </a:r>
          </a:p>
          <a:p>
            <a:r>
              <a:t>Feature Engineering</a:t>
            </a:r>
          </a:p>
          <a:p>
            <a:r>
              <a:t>Backtest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A15E48C3-F2C4-4527-AC8D-F74ED49A2497}"/>
              </a:ext>
            </a:extLst>
          </p:cNvPr>
          <p:cNvSpPr>
            <a:spLocks noGrp="1"/>
          </p:cNvSpPr>
          <p:nvPr/>
        </p:nvSpPr>
        <p:spPr>
          <a:xfrm>
            <a:off x="352425" y="1281112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BED1F1-07A8-4200-84E9-29C3F049477D}"/>
              </a:ext>
            </a:extLst>
          </p:cNvPr>
          <p:cNvSpPr>
            <a:spLocks noGrp="1"/>
          </p:cNvSpPr>
          <p:nvPr/>
        </p:nvSpPr>
        <p:spPr>
          <a:xfrm>
            <a:off x="590550" y="2571750"/>
            <a:ext cx="1158875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399EC7-5FEC-4445-9C60-78B4AD76353D}"/>
              </a:ext>
            </a:extLst>
          </p:cNvPr>
          <p:cNvSpPr>
            <a:spLocks noGrp="1"/>
          </p:cNvSpPr>
          <p:nvPr/>
        </p:nvSpPr>
        <p:spPr>
          <a:xfrm>
            <a:off x="666750" y="2771775"/>
            <a:ext cx="1006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Market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41D832-B043-49A6-9CDB-FE5DE33D6B98}"/>
              </a:ext>
            </a:extLst>
          </p:cNvPr>
          <p:cNvSpPr>
            <a:spLocks noGrp="1"/>
          </p:cNvSpPr>
          <p:nvPr/>
        </p:nvSpPr>
        <p:spPr>
          <a:xfrm>
            <a:off x="1778000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D6BE8D84-D2FF-4138-9A20-8F2DF17D85BB}"/>
              </a:ext>
            </a:extLst>
          </p:cNvPr>
          <p:cNvSpPr>
            <a:spLocks noGrp="1"/>
          </p:cNvSpPr>
          <p:nvPr/>
        </p:nvSpPr>
        <p:spPr>
          <a:xfrm>
            <a:off x="1797050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00B8EF-CDE0-41C0-A343-82051FC242FC}"/>
              </a:ext>
            </a:extLst>
          </p:cNvPr>
          <p:cNvSpPr>
            <a:spLocks noGrp="1"/>
          </p:cNvSpPr>
          <p:nvPr/>
        </p:nvSpPr>
        <p:spPr>
          <a:xfrm>
            <a:off x="1958975" y="2571750"/>
            <a:ext cx="1158875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E24F3C-2AD8-4B1E-A5F3-E0B1BF575B22}"/>
              </a:ext>
            </a:extLst>
          </p:cNvPr>
          <p:cNvSpPr>
            <a:spLocks noGrp="1"/>
          </p:cNvSpPr>
          <p:nvPr/>
        </p:nvSpPr>
        <p:spPr>
          <a:xfrm>
            <a:off x="2035175" y="2771775"/>
            <a:ext cx="1006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KDB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D5A322-4565-4229-A3A6-771EBED6438D}"/>
              </a:ext>
            </a:extLst>
          </p:cNvPr>
          <p:cNvSpPr>
            <a:spLocks noGrp="1"/>
          </p:cNvSpPr>
          <p:nvPr/>
        </p:nvSpPr>
        <p:spPr>
          <a:xfrm>
            <a:off x="3146425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96DE2F84-F6F6-4FC3-9B41-FB427A3DFACF}"/>
              </a:ext>
            </a:extLst>
          </p:cNvPr>
          <p:cNvSpPr>
            <a:spLocks noGrp="1"/>
          </p:cNvSpPr>
          <p:nvPr/>
        </p:nvSpPr>
        <p:spPr>
          <a:xfrm>
            <a:off x="3165475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151FE7-79DE-402D-AB60-9C4D432A2F19}"/>
              </a:ext>
            </a:extLst>
          </p:cNvPr>
          <p:cNvSpPr>
            <a:spLocks noGrp="1"/>
          </p:cNvSpPr>
          <p:nvPr/>
        </p:nvSpPr>
        <p:spPr>
          <a:xfrm>
            <a:off x="3327400" y="2571750"/>
            <a:ext cx="1158875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845B9-2164-4864-ABF0-C07FEFCE7597}"/>
              </a:ext>
            </a:extLst>
          </p:cNvPr>
          <p:cNvSpPr>
            <a:spLocks noGrp="1"/>
          </p:cNvSpPr>
          <p:nvPr/>
        </p:nvSpPr>
        <p:spPr>
          <a:xfrm>
            <a:off x="3403600" y="2771775"/>
            <a:ext cx="1006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Python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6C907-C838-4B3E-BF4C-37D3D351D248}"/>
              </a:ext>
            </a:extLst>
          </p:cNvPr>
          <p:cNvSpPr>
            <a:spLocks noGrp="1"/>
          </p:cNvSpPr>
          <p:nvPr/>
        </p:nvSpPr>
        <p:spPr>
          <a:xfrm>
            <a:off x="4514850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D29BE078-27DC-493B-BC4E-08C7250EA078}"/>
              </a:ext>
            </a:extLst>
          </p:cNvPr>
          <p:cNvSpPr>
            <a:spLocks noGrp="1"/>
          </p:cNvSpPr>
          <p:nvPr/>
        </p:nvSpPr>
        <p:spPr>
          <a:xfrm>
            <a:off x="4533900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91522CA-5909-4B1D-824B-4E3F422B5B3C}"/>
              </a:ext>
            </a:extLst>
          </p:cNvPr>
          <p:cNvSpPr>
            <a:spLocks noGrp="1"/>
          </p:cNvSpPr>
          <p:nvPr/>
        </p:nvSpPr>
        <p:spPr>
          <a:xfrm>
            <a:off x="4695825" y="2571750"/>
            <a:ext cx="1158875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602D1D-4407-4FC2-B62D-D02AFA8FFB37}"/>
              </a:ext>
            </a:extLst>
          </p:cNvPr>
          <p:cNvSpPr>
            <a:spLocks noGrp="1"/>
          </p:cNvSpPr>
          <p:nvPr/>
        </p:nvSpPr>
        <p:spPr>
          <a:xfrm>
            <a:off x="4772025" y="2771775"/>
            <a:ext cx="1006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B9A1C5-D59F-4548-9704-21750A20A157}"/>
              </a:ext>
            </a:extLst>
          </p:cNvPr>
          <p:cNvSpPr>
            <a:spLocks noGrp="1"/>
          </p:cNvSpPr>
          <p:nvPr/>
        </p:nvSpPr>
        <p:spPr>
          <a:xfrm>
            <a:off x="5883275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75E186-E473-496F-869A-1CF0296D3841}"/>
              </a:ext>
            </a:extLst>
          </p:cNvPr>
          <p:cNvSpPr>
            <a:spLocks noGrp="1"/>
          </p:cNvSpPr>
          <p:nvPr/>
        </p:nvSpPr>
        <p:spPr>
          <a:xfrm>
            <a:off x="5902325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F79CCF0-C129-42DC-A44A-B0D97BDEBF5C}"/>
              </a:ext>
            </a:extLst>
          </p:cNvPr>
          <p:cNvSpPr>
            <a:spLocks noGrp="1"/>
          </p:cNvSpPr>
          <p:nvPr/>
        </p:nvSpPr>
        <p:spPr>
          <a:xfrm>
            <a:off x="6064250" y="2571750"/>
            <a:ext cx="1158875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211A7D-8D8A-4E21-9389-997A39162460}"/>
              </a:ext>
            </a:extLst>
          </p:cNvPr>
          <p:cNvSpPr>
            <a:spLocks noGrp="1"/>
          </p:cNvSpPr>
          <p:nvPr/>
        </p:nvSpPr>
        <p:spPr>
          <a:xfrm>
            <a:off x="6140450" y="2771775"/>
            <a:ext cx="1006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Signals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B9045A-C046-49B0-9C28-310C58A26B3B}"/>
              </a:ext>
            </a:extLst>
          </p:cNvPr>
          <p:cNvSpPr>
            <a:spLocks noGrp="1"/>
          </p:cNvSpPr>
          <p:nvPr/>
        </p:nvSpPr>
        <p:spPr>
          <a:xfrm>
            <a:off x="7251700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6E1011F-BD00-4720-BBF2-749354EEAB74}"/>
              </a:ext>
            </a:extLst>
          </p:cNvPr>
          <p:cNvSpPr>
            <a:spLocks noGrp="1"/>
          </p:cNvSpPr>
          <p:nvPr/>
        </p:nvSpPr>
        <p:spPr>
          <a:xfrm>
            <a:off x="7270750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6835010-9756-4D8A-8C91-93C6DC1851A0}"/>
              </a:ext>
            </a:extLst>
          </p:cNvPr>
          <p:cNvSpPr>
            <a:spLocks noGrp="1"/>
          </p:cNvSpPr>
          <p:nvPr/>
        </p:nvSpPr>
        <p:spPr>
          <a:xfrm>
            <a:off x="7432675" y="2571750"/>
            <a:ext cx="1158875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504014-3316-4EA7-A3EB-D9499C9F65FE}"/>
              </a:ext>
            </a:extLst>
          </p:cNvPr>
          <p:cNvSpPr>
            <a:spLocks noGrp="1"/>
          </p:cNvSpPr>
          <p:nvPr/>
        </p:nvSpPr>
        <p:spPr>
          <a:xfrm>
            <a:off x="7508875" y="2771775"/>
            <a:ext cx="1006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Backtest</a:t>
            </a:r>
          </a:p>
        </p:txBody>
      </p:sp>
    </p:spTree>
    <p:extLst>
      <p:ext uri="{BB962C8B-B14F-4D97-AF65-F5344CB8AC3E}">
        <p14:creationId xmlns:p14="http://schemas.microsoft.com/office/powerpoint/2010/main" val="17013157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0AA4A-7945-462F-81AF-026900EB2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Quant Research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C532-E026-4FB9-965C-093C54697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 Historical Data</a:t>
            </a:r>
          </a:p>
          <a:p>
            <a:r>
              <a:t>Build Features</a:t>
            </a:r>
          </a:p>
          <a:p>
            <a:r>
              <a:t>Generate Signals</a:t>
            </a:r>
          </a:p>
          <a:p>
            <a:r>
              <a:t>Evaluate Performance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1D6CD509-F8B7-4F81-B9EE-53389F373000}"/>
              </a:ext>
            </a:extLst>
          </p:cNvPr>
          <p:cNvSpPr>
            <a:spLocks noGrp="1"/>
          </p:cNvSpPr>
          <p:nvPr/>
        </p:nvSpPr>
        <p:spPr>
          <a:xfrm>
            <a:off x="352425" y="1458396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727BD9F-013E-460E-88C0-DA7C1B1F231E}"/>
              </a:ext>
            </a:extLst>
          </p:cNvPr>
          <p:cNvSpPr>
            <a:spLocks noGrp="1"/>
          </p:cNvSpPr>
          <p:nvPr/>
        </p:nvSpPr>
        <p:spPr>
          <a:xfrm>
            <a:off x="1047750" y="2571750"/>
            <a:ext cx="1604963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31C983-F572-45AC-9C90-0183B6DDF79C}"/>
              </a:ext>
            </a:extLst>
          </p:cNvPr>
          <p:cNvSpPr>
            <a:spLocks noGrp="1"/>
          </p:cNvSpPr>
          <p:nvPr/>
        </p:nvSpPr>
        <p:spPr>
          <a:xfrm>
            <a:off x="1123950" y="2771775"/>
            <a:ext cx="145256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Query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252165-CC43-445C-A2B3-B2AFDCAE0D5F}"/>
              </a:ext>
            </a:extLst>
          </p:cNvPr>
          <p:cNvSpPr>
            <a:spLocks noGrp="1"/>
          </p:cNvSpPr>
          <p:nvPr/>
        </p:nvSpPr>
        <p:spPr>
          <a:xfrm>
            <a:off x="2681288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33BB324B-2720-4EF8-8C22-6169B67A5EC5}"/>
              </a:ext>
            </a:extLst>
          </p:cNvPr>
          <p:cNvSpPr>
            <a:spLocks noGrp="1"/>
          </p:cNvSpPr>
          <p:nvPr/>
        </p:nvSpPr>
        <p:spPr>
          <a:xfrm>
            <a:off x="2700338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2EF86E-ED0B-4FA9-AD23-97D09B5EA841}"/>
              </a:ext>
            </a:extLst>
          </p:cNvPr>
          <p:cNvSpPr>
            <a:spLocks noGrp="1"/>
          </p:cNvSpPr>
          <p:nvPr/>
        </p:nvSpPr>
        <p:spPr>
          <a:xfrm>
            <a:off x="2862263" y="2571750"/>
            <a:ext cx="1604963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60805D-04E3-4FAE-B260-050512C16DC3}"/>
              </a:ext>
            </a:extLst>
          </p:cNvPr>
          <p:cNvSpPr>
            <a:spLocks noGrp="1"/>
          </p:cNvSpPr>
          <p:nvPr/>
        </p:nvSpPr>
        <p:spPr>
          <a:xfrm>
            <a:off x="2938463" y="2771775"/>
            <a:ext cx="145256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Build Features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7E5D5A-263E-415A-9DDA-691FE9FE9EDD}"/>
              </a:ext>
            </a:extLst>
          </p:cNvPr>
          <p:cNvSpPr>
            <a:spLocks noGrp="1"/>
          </p:cNvSpPr>
          <p:nvPr/>
        </p:nvSpPr>
        <p:spPr>
          <a:xfrm>
            <a:off x="4495800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64694F1-6528-4D93-AA92-3537C208737C}"/>
              </a:ext>
            </a:extLst>
          </p:cNvPr>
          <p:cNvSpPr>
            <a:spLocks noGrp="1"/>
          </p:cNvSpPr>
          <p:nvPr/>
        </p:nvSpPr>
        <p:spPr>
          <a:xfrm>
            <a:off x="4514850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B3D2F93-5C3E-49C5-90A0-1C302B4C6A80}"/>
              </a:ext>
            </a:extLst>
          </p:cNvPr>
          <p:cNvSpPr>
            <a:spLocks noGrp="1"/>
          </p:cNvSpPr>
          <p:nvPr/>
        </p:nvSpPr>
        <p:spPr>
          <a:xfrm>
            <a:off x="4676775" y="2571750"/>
            <a:ext cx="1604963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AB51FD-47EF-492F-A0AA-A14A8CAD2ECC}"/>
              </a:ext>
            </a:extLst>
          </p:cNvPr>
          <p:cNvSpPr>
            <a:spLocks noGrp="1"/>
          </p:cNvSpPr>
          <p:nvPr/>
        </p:nvSpPr>
        <p:spPr>
          <a:xfrm>
            <a:off x="4752975" y="2771775"/>
            <a:ext cx="145256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Generate Signals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8E4694-3DF1-47A0-9CDA-B8D5C6BA9F39}"/>
              </a:ext>
            </a:extLst>
          </p:cNvPr>
          <p:cNvSpPr>
            <a:spLocks noGrp="1"/>
          </p:cNvSpPr>
          <p:nvPr/>
        </p:nvSpPr>
        <p:spPr>
          <a:xfrm>
            <a:off x="6310313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CB263D94-CDE8-44E3-935A-CD7CE17FC9BF}"/>
              </a:ext>
            </a:extLst>
          </p:cNvPr>
          <p:cNvSpPr>
            <a:spLocks noGrp="1"/>
          </p:cNvSpPr>
          <p:nvPr/>
        </p:nvSpPr>
        <p:spPr>
          <a:xfrm>
            <a:off x="6329363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4AF8F46-E9DD-4BDB-A53D-1A8035F88385}"/>
              </a:ext>
            </a:extLst>
          </p:cNvPr>
          <p:cNvSpPr>
            <a:spLocks noGrp="1"/>
          </p:cNvSpPr>
          <p:nvPr/>
        </p:nvSpPr>
        <p:spPr>
          <a:xfrm>
            <a:off x="6491288" y="2571750"/>
            <a:ext cx="1604963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C1995F-C7AE-418F-B8FC-C0143FF18D68}"/>
              </a:ext>
            </a:extLst>
          </p:cNvPr>
          <p:cNvSpPr>
            <a:spLocks noGrp="1"/>
          </p:cNvSpPr>
          <p:nvPr/>
        </p:nvSpPr>
        <p:spPr>
          <a:xfrm>
            <a:off x="6567488" y="2771775"/>
            <a:ext cx="145256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Evaluate Performance</a:t>
            </a:r>
          </a:p>
        </p:txBody>
      </p:sp>
    </p:spTree>
    <p:extLst>
      <p:ext uri="{BB962C8B-B14F-4D97-AF65-F5344CB8AC3E}">
        <p14:creationId xmlns:p14="http://schemas.microsoft.com/office/powerpoint/2010/main" val="10233001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63376-CC83-4BA8-9E73-5E6328CD7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27C7-5EE0-40CF-9DDB-DEF9E5EDE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VWAP Monitoring</a:t>
            </a:r>
          </a:p>
          <a:p>
            <a:r>
              <a:t>Liquidity Analysis</a:t>
            </a:r>
          </a:p>
          <a:p>
            <a:r>
              <a:t>Risk Monitoring</a:t>
            </a:r>
          </a:p>
          <a:p>
            <a:r>
              <a:t>Execution Tracking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18721DF9-7BE3-4DB2-A6C7-C15923DD5FFA}"/>
              </a:ext>
            </a:extLst>
          </p:cNvPr>
          <p:cNvSpPr>
            <a:spLocks noGrp="1"/>
          </p:cNvSpPr>
          <p:nvPr/>
        </p:nvSpPr>
        <p:spPr>
          <a:xfrm>
            <a:off x="352425" y="1243012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07ED56-E2FD-4675-AED2-5757CBB007B3}"/>
              </a:ext>
            </a:extLst>
          </p:cNvPr>
          <p:cNvSpPr>
            <a:spLocks noGrp="1"/>
          </p:cNvSpPr>
          <p:nvPr/>
        </p:nvSpPr>
        <p:spPr>
          <a:xfrm>
            <a:off x="857250" y="1285875"/>
            <a:ext cx="7429500" cy="2952750"/>
          </a:xfrm>
          <a:prstGeom prst="roundRect">
            <a:avLst>
              <a:gd name="adj" fmla="val 2581"/>
            </a:avLst>
          </a:prstGeom>
          <a:solidFill>
            <a:srgbClr val="F7FAFD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5FCA6B-E56A-4851-A35B-9FD93F50B13F}"/>
              </a:ext>
            </a:extLst>
          </p:cNvPr>
          <p:cNvSpPr>
            <a:spLocks noGrp="1"/>
          </p:cNvSpPr>
          <p:nvPr/>
        </p:nvSpPr>
        <p:spPr>
          <a:xfrm>
            <a:off x="1066800" y="1524000"/>
            <a:ext cx="4619625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B29D93-0EF9-4A3D-B2EA-7C8FE2F7124B}"/>
              </a:ext>
            </a:extLst>
          </p:cNvPr>
          <p:cNvSpPr>
            <a:spLocks noGrp="1"/>
          </p:cNvSpPr>
          <p:nvPr/>
        </p:nvSpPr>
        <p:spPr>
          <a:xfrm>
            <a:off x="1238250" y="3143250"/>
            <a:ext cx="476250" cy="28575"/>
          </a:xfrm>
          <a:prstGeom prst="rect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542722-B1F5-48DB-851A-0478AC3700A3}"/>
              </a:ext>
            </a:extLst>
          </p:cNvPr>
          <p:cNvSpPr>
            <a:spLocks noGrp="1"/>
          </p:cNvSpPr>
          <p:nvPr/>
        </p:nvSpPr>
        <p:spPr>
          <a:xfrm>
            <a:off x="1714500" y="3000375"/>
            <a:ext cx="476250" cy="28575"/>
          </a:xfrm>
          <a:prstGeom prst="rect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59847E-F5E9-4142-B63C-0CF438532D3D}"/>
              </a:ext>
            </a:extLst>
          </p:cNvPr>
          <p:cNvSpPr>
            <a:spLocks noGrp="1"/>
          </p:cNvSpPr>
          <p:nvPr/>
        </p:nvSpPr>
        <p:spPr>
          <a:xfrm>
            <a:off x="2190750" y="3095625"/>
            <a:ext cx="476250" cy="28575"/>
          </a:xfrm>
          <a:prstGeom prst="rect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26F6F2-1828-4BEE-8E87-B8787BFD881D}"/>
              </a:ext>
            </a:extLst>
          </p:cNvPr>
          <p:cNvSpPr>
            <a:spLocks noGrp="1"/>
          </p:cNvSpPr>
          <p:nvPr/>
        </p:nvSpPr>
        <p:spPr>
          <a:xfrm>
            <a:off x="2667000" y="2762250"/>
            <a:ext cx="476250" cy="28575"/>
          </a:xfrm>
          <a:prstGeom prst="rect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A3FF94-3E72-4377-8145-BA60A72AA755}"/>
              </a:ext>
            </a:extLst>
          </p:cNvPr>
          <p:cNvSpPr>
            <a:spLocks noGrp="1"/>
          </p:cNvSpPr>
          <p:nvPr/>
        </p:nvSpPr>
        <p:spPr>
          <a:xfrm>
            <a:off x="3143250" y="2857500"/>
            <a:ext cx="476250" cy="28575"/>
          </a:xfrm>
          <a:prstGeom prst="rect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04166C-C8C1-4EA4-B572-83FE851FCE34}"/>
              </a:ext>
            </a:extLst>
          </p:cNvPr>
          <p:cNvSpPr>
            <a:spLocks noGrp="1"/>
          </p:cNvSpPr>
          <p:nvPr/>
        </p:nvSpPr>
        <p:spPr>
          <a:xfrm>
            <a:off x="3619500" y="2571750"/>
            <a:ext cx="476250" cy="28575"/>
          </a:xfrm>
          <a:prstGeom prst="rect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9FE7C8-2EAE-433F-B26B-33D74F22B270}"/>
              </a:ext>
            </a:extLst>
          </p:cNvPr>
          <p:cNvSpPr>
            <a:spLocks noGrp="1"/>
          </p:cNvSpPr>
          <p:nvPr/>
        </p:nvSpPr>
        <p:spPr>
          <a:xfrm>
            <a:off x="4095750" y="2714625"/>
            <a:ext cx="476250" cy="28575"/>
          </a:xfrm>
          <a:prstGeom prst="rect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55CF6-18B3-403C-8766-8E534D5A8DBB}"/>
              </a:ext>
            </a:extLst>
          </p:cNvPr>
          <p:cNvSpPr>
            <a:spLocks noGrp="1"/>
          </p:cNvSpPr>
          <p:nvPr/>
        </p:nvSpPr>
        <p:spPr>
          <a:xfrm>
            <a:off x="4572000" y="2381250"/>
            <a:ext cx="762000" cy="28575"/>
          </a:xfrm>
          <a:prstGeom prst="rect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358C35-F948-4C11-BE35-67B34BAE8EF6}"/>
              </a:ext>
            </a:extLst>
          </p:cNvPr>
          <p:cNvSpPr>
            <a:spLocks noGrp="1"/>
          </p:cNvSpPr>
          <p:nvPr/>
        </p:nvSpPr>
        <p:spPr>
          <a:xfrm>
            <a:off x="1238250" y="2619375"/>
            <a:ext cx="4095750" cy="28575"/>
          </a:xfrm>
          <a:prstGeom prst="rect">
            <a:avLst/>
          </a:prstGeom>
          <a:solidFill>
            <a:srgbClr val="C8892D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FAA5E4-AB2B-4E1F-8005-98A8CEF5CEFC}"/>
              </a:ext>
            </a:extLst>
          </p:cNvPr>
          <p:cNvSpPr>
            <a:spLocks noGrp="1"/>
          </p:cNvSpPr>
          <p:nvPr/>
        </p:nvSpPr>
        <p:spPr>
          <a:xfrm>
            <a:off x="1257300" y="16192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310DB6-E145-4993-952D-76B90056C49A}"/>
              </a:ext>
            </a:extLst>
          </p:cNvPr>
          <p:cNvSpPr>
            <a:spLocks noGrp="1"/>
          </p:cNvSpPr>
          <p:nvPr/>
        </p:nvSpPr>
        <p:spPr>
          <a:xfrm>
            <a:off x="4905375" y="245745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C889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892D"/>
                </a:solidFill>
                <a:latin typeface="Aptos"/>
                <a:ea typeface="Aptos"/>
                <a:cs typeface="Aptos"/>
              </a:rPr>
              <a:t>VWAP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786BD3-0F57-42A6-BE5C-3C7DA88DF64C}"/>
              </a:ext>
            </a:extLst>
          </p:cNvPr>
          <p:cNvSpPr>
            <a:spLocks noGrp="1"/>
          </p:cNvSpPr>
          <p:nvPr/>
        </p:nvSpPr>
        <p:spPr>
          <a:xfrm>
            <a:off x="5953125" y="1524000"/>
            <a:ext cx="195262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E99FC6-A58A-47F9-AF09-A7CFE8DCD5E1}"/>
              </a:ext>
            </a:extLst>
          </p:cNvPr>
          <p:cNvSpPr>
            <a:spLocks noGrp="1"/>
          </p:cNvSpPr>
          <p:nvPr/>
        </p:nvSpPr>
        <p:spPr>
          <a:xfrm>
            <a:off x="6096000" y="1619250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VWAP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E36BE7-B107-495F-9CFE-7CD3974BA966}"/>
              </a:ext>
            </a:extLst>
          </p:cNvPr>
          <p:cNvSpPr>
            <a:spLocks noGrp="1"/>
          </p:cNvSpPr>
          <p:nvPr/>
        </p:nvSpPr>
        <p:spPr>
          <a:xfrm>
            <a:off x="7239000" y="15811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100.42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B6B1EA6-EB71-402C-BE0C-4AE7DD04E0D1}"/>
              </a:ext>
            </a:extLst>
          </p:cNvPr>
          <p:cNvSpPr>
            <a:spLocks noGrp="1"/>
          </p:cNvSpPr>
          <p:nvPr/>
        </p:nvSpPr>
        <p:spPr>
          <a:xfrm>
            <a:off x="5953125" y="2047875"/>
            <a:ext cx="195262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20F038-7AC8-43E2-84C1-DBF78D538E2A}"/>
              </a:ext>
            </a:extLst>
          </p:cNvPr>
          <p:cNvSpPr>
            <a:spLocks noGrp="1"/>
          </p:cNvSpPr>
          <p:nvPr/>
        </p:nvSpPr>
        <p:spPr>
          <a:xfrm>
            <a:off x="6096000" y="2143125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Volume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5F4614-F8DB-4473-9FEE-7911AE289CD2}"/>
              </a:ext>
            </a:extLst>
          </p:cNvPr>
          <p:cNvSpPr>
            <a:spLocks noGrp="1"/>
          </p:cNvSpPr>
          <p:nvPr/>
        </p:nvSpPr>
        <p:spPr>
          <a:xfrm>
            <a:off x="7239000" y="210502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2.4M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3288D23-06A2-4A74-90E1-DC5F6C3B5347}"/>
              </a:ext>
            </a:extLst>
          </p:cNvPr>
          <p:cNvSpPr>
            <a:spLocks noGrp="1"/>
          </p:cNvSpPr>
          <p:nvPr/>
        </p:nvSpPr>
        <p:spPr>
          <a:xfrm>
            <a:off x="5953125" y="2571750"/>
            <a:ext cx="195262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E34AF7-5137-415B-AC94-2FBCDC8E73AE}"/>
              </a:ext>
            </a:extLst>
          </p:cNvPr>
          <p:cNvSpPr>
            <a:spLocks noGrp="1"/>
          </p:cNvSpPr>
          <p:nvPr/>
        </p:nvSpPr>
        <p:spPr>
          <a:xfrm>
            <a:off x="6096000" y="2667000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Spread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602A4E-7780-49A5-8592-600486E01367}"/>
              </a:ext>
            </a:extLst>
          </p:cNvPr>
          <p:cNvSpPr>
            <a:spLocks noGrp="1"/>
          </p:cNvSpPr>
          <p:nvPr/>
        </p:nvSpPr>
        <p:spPr>
          <a:xfrm>
            <a:off x="7239000" y="262890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3 bps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ADA32D4-EDD9-4353-90D0-58CE70F65A20}"/>
              </a:ext>
            </a:extLst>
          </p:cNvPr>
          <p:cNvSpPr>
            <a:spLocks noGrp="1"/>
          </p:cNvSpPr>
          <p:nvPr/>
        </p:nvSpPr>
        <p:spPr>
          <a:xfrm>
            <a:off x="5953125" y="3095625"/>
            <a:ext cx="195262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8AF5BC-E352-488F-AC90-D2596D6F91A3}"/>
              </a:ext>
            </a:extLst>
          </p:cNvPr>
          <p:cNvSpPr>
            <a:spLocks noGrp="1"/>
          </p:cNvSpPr>
          <p:nvPr/>
        </p:nvSpPr>
        <p:spPr>
          <a:xfrm>
            <a:off x="6096000" y="3190875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6365F2-AEAD-43B8-93D8-3F518491B7DA}"/>
              </a:ext>
            </a:extLst>
          </p:cNvPr>
          <p:cNvSpPr>
            <a:spLocks noGrp="1"/>
          </p:cNvSpPr>
          <p:nvPr/>
        </p:nvSpPr>
        <p:spPr>
          <a:xfrm>
            <a:off x="7239000" y="3152775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2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6528689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EF93-30E9-45A0-B2FC-9CB820FAC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vs 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DF176-C363-4E5A-8136-E2B714892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Research: Explore Ideas</a:t>
            </a:r>
          </a:p>
          <a:p>
            <a:r>
              <a:t>Production: Run Systems</a:t>
            </a:r>
          </a:p>
          <a:p>
            <a:r>
              <a:t>Backtest vs Live Markets</a:t>
            </a:r>
          </a:p>
          <a:p>
            <a:r>
              <a:t>Experiment vs Monitoring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2CB27657-617B-49AF-B653-C8853AE877FB}"/>
              </a:ext>
            </a:extLst>
          </p:cNvPr>
          <p:cNvSpPr>
            <a:spLocks noGrp="1"/>
          </p:cNvSpPr>
          <p:nvPr/>
        </p:nvSpPr>
        <p:spPr>
          <a:xfrm>
            <a:off x="357187" y="1233487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B00A92-2FE3-468B-8DC7-456B1BF05B3E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3381375" cy="40005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BF2CAA-C371-44F1-B5E6-4DC138DEA8A1}"/>
              </a:ext>
            </a:extLst>
          </p:cNvPr>
          <p:cNvSpPr>
            <a:spLocks noGrp="1"/>
          </p:cNvSpPr>
          <p:nvPr/>
        </p:nvSpPr>
        <p:spPr>
          <a:xfrm>
            <a:off x="1238250" y="1514475"/>
            <a:ext cx="3286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737191-B9A6-412B-A181-0BDE30528C7D}"/>
              </a:ext>
            </a:extLst>
          </p:cNvPr>
          <p:cNvSpPr>
            <a:spLocks noGrp="1"/>
          </p:cNvSpPr>
          <p:nvPr/>
        </p:nvSpPr>
        <p:spPr>
          <a:xfrm>
            <a:off x="4572000" y="1428750"/>
            <a:ext cx="3381375" cy="400050"/>
          </a:xfrm>
          <a:prstGeom prst="rect">
            <a:avLst/>
          </a:prstGeom>
          <a:solidFill>
            <a:srgbClr val="172033"/>
          </a:solidFill>
          <a:ln w="4763">
            <a:solidFill>
              <a:srgbClr val="172033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9D0336-0D84-440A-AA2A-273A7E5B81E5}"/>
              </a:ext>
            </a:extLst>
          </p:cNvPr>
          <p:cNvSpPr>
            <a:spLocks noGrp="1"/>
          </p:cNvSpPr>
          <p:nvPr/>
        </p:nvSpPr>
        <p:spPr>
          <a:xfrm>
            <a:off x="4619625" y="1514475"/>
            <a:ext cx="3286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3B7EFA-97CB-4184-ABFD-3581D96FC1A7}"/>
              </a:ext>
            </a:extLst>
          </p:cNvPr>
          <p:cNvSpPr>
            <a:spLocks noGrp="1"/>
          </p:cNvSpPr>
          <p:nvPr/>
        </p:nvSpPr>
        <p:spPr>
          <a:xfrm>
            <a:off x="1190625" y="1828800"/>
            <a:ext cx="3381375" cy="40005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ABFDBD-A656-4197-A9CF-F9F6E3249683}"/>
              </a:ext>
            </a:extLst>
          </p:cNvPr>
          <p:cNvSpPr>
            <a:spLocks noGrp="1"/>
          </p:cNvSpPr>
          <p:nvPr/>
        </p:nvSpPr>
        <p:spPr>
          <a:xfrm>
            <a:off x="1238250" y="1914525"/>
            <a:ext cx="3286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Flexible notebooks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76F189-A146-4799-8642-D5370AD1A7D2}"/>
              </a:ext>
            </a:extLst>
          </p:cNvPr>
          <p:cNvSpPr>
            <a:spLocks noGrp="1"/>
          </p:cNvSpPr>
          <p:nvPr/>
        </p:nvSpPr>
        <p:spPr>
          <a:xfrm>
            <a:off x="4572000" y="1828800"/>
            <a:ext cx="3381375" cy="40005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A00250-3779-4FE0-8244-19EF2944ADB9}"/>
              </a:ext>
            </a:extLst>
          </p:cNvPr>
          <p:cNvSpPr>
            <a:spLocks noGrp="1"/>
          </p:cNvSpPr>
          <p:nvPr/>
        </p:nvSpPr>
        <p:spPr>
          <a:xfrm>
            <a:off x="4619625" y="1914525"/>
            <a:ext cx="3286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Reliable services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1F424F-BF37-46D5-9982-8D4D811DD16B}"/>
              </a:ext>
            </a:extLst>
          </p:cNvPr>
          <p:cNvSpPr>
            <a:spLocks noGrp="1"/>
          </p:cNvSpPr>
          <p:nvPr/>
        </p:nvSpPr>
        <p:spPr>
          <a:xfrm>
            <a:off x="1190625" y="2228850"/>
            <a:ext cx="3381375" cy="40005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1B7E4F-787E-4F84-BC4A-BE69F6EABFF8}"/>
              </a:ext>
            </a:extLst>
          </p:cNvPr>
          <p:cNvSpPr>
            <a:spLocks noGrp="1"/>
          </p:cNvSpPr>
          <p:nvPr/>
        </p:nvSpPr>
        <p:spPr>
          <a:xfrm>
            <a:off x="1238250" y="2314575"/>
            <a:ext cx="3286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Exploration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1B7AF3-7164-48BA-B0B7-422D49CE1F56}"/>
              </a:ext>
            </a:extLst>
          </p:cNvPr>
          <p:cNvSpPr>
            <a:spLocks noGrp="1"/>
          </p:cNvSpPr>
          <p:nvPr/>
        </p:nvSpPr>
        <p:spPr>
          <a:xfrm>
            <a:off x="4572000" y="2228850"/>
            <a:ext cx="3381375" cy="40005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CD7095-504F-4B4C-BAD7-3A347A5C373A}"/>
              </a:ext>
            </a:extLst>
          </p:cNvPr>
          <p:cNvSpPr>
            <a:spLocks noGrp="1"/>
          </p:cNvSpPr>
          <p:nvPr/>
        </p:nvSpPr>
        <p:spPr>
          <a:xfrm>
            <a:off x="4619625" y="2314575"/>
            <a:ext cx="3286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0DF7F2-879F-45BA-8A19-637701AA4336}"/>
              </a:ext>
            </a:extLst>
          </p:cNvPr>
          <p:cNvSpPr>
            <a:spLocks noGrp="1"/>
          </p:cNvSpPr>
          <p:nvPr/>
        </p:nvSpPr>
        <p:spPr>
          <a:xfrm>
            <a:off x="1190625" y="2628900"/>
            <a:ext cx="3381375" cy="40005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D6579D-5978-4135-9629-AC6BF394DDA9}"/>
              </a:ext>
            </a:extLst>
          </p:cNvPr>
          <p:cNvSpPr>
            <a:spLocks noGrp="1"/>
          </p:cNvSpPr>
          <p:nvPr/>
        </p:nvSpPr>
        <p:spPr>
          <a:xfrm>
            <a:off x="1238250" y="2714625"/>
            <a:ext cx="3286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Small mistakes acceptable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A2FDE0-0E25-4EE4-9C30-B356744F280A}"/>
              </a:ext>
            </a:extLst>
          </p:cNvPr>
          <p:cNvSpPr>
            <a:spLocks noGrp="1"/>
          </p:cNvSpPr>
          <p:nvPr/>
        </p:nvSpPr>
        <p:spPr>
          <a:xfrm>
            <a:off x="4572000" y="2628900"/>
            <a:ext cx="3381375" cy="40005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D78C5F-6B99-42FE-B32C-932F5550840E}"/>
              </a:ext>
            </a:extLst>
          </p:cNvPr>
          <p:cNvSpPr>
            <a:spLocks noGrp="1"/>
          </p:cNvSpPr>
          <p:nvPr/>
        </p:nvSpPr>
        <p:spPr>
          <a:xfrm>
            <a:off x="4619625" y="2714625"/>
            <a:ext cx="3286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Controls required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FE7B92-E7B0-451B-B63A-6D098DB95D06}"/>
              </a:ext>
            </a:extLst>
          </p:cNvPr>
          <p:cNvSpPr>
            <a:spLocks noGrp="1"/>
          </p:cNvSpPr>
          <p:nvPr/>
        </p:nvSpPr>
        <p:spPr>
          <a:xfrm>
            <a:off x="1190625" y="3028950"/>
            <a:ext cx="3381375" cy="40005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CCA64D-58EC-4D04-98C0-EAB59568FC3A}"/>
              </a:ext>
            </a:extLst>
          </p:cNvPr>
          <p:cNvSpPr>
            <a:spLocks noGrp="1"/>
          </p:cNvSpPr>
          <p:nvPr/>
        </p:nvSpPr>
        <p:spPr>
          <a:xfrm>
            <a:off x="1238250" y="3114675"/>
            <a:ext cx="3286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142033"/>
                </a:solidFill>
                <a:latin typeface="Consolas"/>
                <a:ea typeface="Consolas"/>
                <a:cs typeface="Consolas"/>
              </a:rPr>
              <a:t>Analyst speed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B8BDB9-CE54-4C98-A358-494F07790646}"/>
              </a:ext>
            </a:extLst>
          </p:cNvPr>
          <p:cNvSpPr>
            <a:spLocks noGrp="1"/>
          </p:cNvSpPr>
          <p:nvPr/>
        </p:nvSpPr>
        <p:spPr>
          <a:xfrm>
            <a:off x="4572000" y="3028950"/>
            <a:ext cx="3381375" cy="400050"/>
          </a:xfrm>
          <a:prstGeom prst="rect">
            <a:avLst/>
          </a:prstGeom>
          <a:solidFill>
            <a:srgbClr val="F7F9FC"/>
          </a:solidFill>
          <a:ln w="5715">
            <a:solidFill>
              <a:srgbClr val="D8DEE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1050D6-9FFC-49BB-A07F-0F7A76477B4D}"/>
              </a:ext>
            </a:extLst>
          </p:cNvPr>
          <p:cNvSpPr>
            <a:spLocks noGrp="1"/>
          </p:cNvSpPr>
          <p:nvPr/>
        </p:nvSpPr>
        <p:spPr>
          <a:xfrm>
            <a:off x="4619625" y="3114675"/>
            <a:ext cx="3286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System stability</a:t>
            </a:r>
          </a:p>
        </p:txBody>
      </p:sp>
    </p:spTree>
    <p:extLst>
      <p:ext uri="{BB962C8B-B14F-4D97-AF65-F5344CB8AC3E}">
        <p14:creationId xmlns:p14="http://schemas.microsoft.com/office/powerpoint/2010/main" val="11829829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4FC00-A6F6-4025-B078-4C9CE564C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Case Study: A Day In The Life Of A Quant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57FDE-919D-46F6-8D49-3942A5A5E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08:30 Query Historical Data</a:t>
            </a:r>
          </a:p>
          <a:p>
            <a:r>
              <a:t>10:00 Build Features</a:t>
            </a:r>
          </a:p>
          <a:p>
            <a:r>
              <a:t>14:00 Research Signals</a:t>
            </a:r>
          </a:p>
          <a:p>
            <a:r>
              <a:t>16:00 Backtest Strategies</a:t>
            </a:r>
          </a:p>
          <a:p>
            <a:r>
              <a:t>18:00 Review Results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6B39F011-43C5-4531-BD4F-8E995A759FB4}"/>
              </a:ext>
            </a:extLst>
          </p:cNvPr>
          <p:cNvSpPr>
            <a:spLocks noGrp="1"/>
          </p:cNvSpPr>
          <p:nvPr/>
        </p:nvSpPr>
        <p:spPr>
          <a:xfrm>
            <a:off x="400050" y="1000125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C1D3DB-E698-4B47-A98C-C2A960D0DC0C}"/>
              </a:ext>
            </a:extLst>
          </p:cNvPr>
          <p:cNvSpPr>
            <a:spLocks noGrp="1"/>
          </p:cNvSpPr>
          <p:nvPr/>
        </p:nvSpPr>
        <p:spPr>
          <a:xfrm>
            <a:off x="904875" y="2714625"/>
            <a:ext cx="7239000" cy="38100"/>
          </a:xfrm>
          <a:prstGeom prst="rect">
            <a:avLst/>
          </a:prstGeom>
          <a:solidFill>
            <a:srgbClr val="D8DEE8"/>
          </a:solidFill>
          <a:ln w="0">
            <a:noFill/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83B363-7770-4CC3-BE9C-6F7CB085AC7F}"/>
              </a:ext>
            </a:extLst>
          </p:cNvPr>
          <p:cNvSpPr>
            <a:spLocks noGrp="1"/>
          </p:cNvSpPr>
          <p:nvPr/>
        </p:nvSpPr>
        <p:spPr>
          <a:xfrm>
            <a:off x="1143000" y="2619375"/>
            <a:ext cx="190500" cy="190500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1E9118-C31A-4902-B5E7-8A63475686F0}"/>
              </a:ext>
            </a:extLst>
          </p:cNvPr>
          <p:cNvSpPr>
            <a:spLocks noGrp="1"/>
          </p:cNvSpPr>
          <p:nvPr/>
        </p:nvSpPr>
        <p:spPr>
          <a:xfrm>
            <a:off x="647700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08:30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9E310F-78EB-4515-932D-631F8EFBCECA}"/>
              </a:ext>
            </a:extLst>
          </p:cNvPr>
          <p:cNvSpPr>
            <a:spLocks noGrp="1"/>
          </p:cNvSpPr>
          <p:nvPr/>
        </p:nvSpPr>
        <p:spPr>
          <a:xfrm>
            <a:off x="647700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Query data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682817-95A0-4371-B9D7-6620198147EC}"/>
              </a:ext>
            </a:extLst>
          </p:cNvPr>
          <p:cNvSpPr>
            <a:spLocks noGrp="1"/>
          </p:cNvSpPr>
          <p:nvPr/>
        </p:nvSpPr>
        <p:spPr>
          <a:xfrm>
            <a:off x="2786063" y="2619375"/>
            <a:ext cx="190500" cy="190500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42D05E-7F37-4B1E-9510-8D9F0A75E784}"/>
              </a:ext>
            </a:extLst>
          </p:cNvPr>
          <p:cNvSpPr>
            <a:spLocks noGrp="1"/>
          </p:cNvSpPr>
          <p:nvPr/>
        </p:nvSpPr>
        <p:spPr>
          <a:xfrm>
            <a:off x="2290763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10:00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A92BE5-1D4C-4832-8609-DE3851D9A85A}"/>
              </a:ext>
            </a:extLst>
          </p:cNvPr>
          <p:cNvSpPr>
            <a:spLocks noGrp="1"/>
          </p:cNvSpPr>
          <p:nvPr/>
        </p:nvSpPr>
        <p:spPr>
          <a:xfrm>
            <a:off x="2290763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Build features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F33C01-4107-428C-8FD8-3B0002E3FCF5}"/>
              </a:ext>
            </a:extLst>
          </p:cNvPr>
          <p:cNvSpPr>
            <a:spLocks noGrp="1"/>
          </p:cNvSpPr>
          <p:nvPr/>
        </p:nvSpPr>
        <p:spPr>
          <a:xfrm>
            <a:off x="4429125" y="2619375"/>
            <a:ext cx="190500" cy="190500"/>
          </a:xfrm>
          <a:prstGeom prst="ellipse">
            <a:avLst/>
          </a:prstGeom>
          <a:solidFill>
            <a:srgbClr val="C65353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190101-B3B0-4D2D-8FCE-B397F1E0EC23}"/>
              </a:ext>
            </a:extLst>
          </p:cNvPr>
          <p:cNvSpPr>
            <a:spLocks noGrp="1"/>
          </p:cNvSpPr>
          <p:nvPr/>
        </p:nvSpPr>
        <p:spPr>
          <a:xfrm>
            <a:off x="3933825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C6535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5353"/>
                </a:solidFill>
                <a:latin typeface="Aptos"/>
                <a:ea typeface="Aptos"/>
                <a:cs typeface="Aptos"/>
              </a:rPr>
              <a:t>14:00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686798-6D5C-4E29-946B-043929AF2C86}"/>
              </a:ext>
            </a:extLst>
          </p:cNvPr>
          <p:cNvSpPr>
            <a:spLocks noGrp="1"/>
          </p:cNvSpPr>
          <p:nvPr/>
        </p:nvSpPr>
        <p:spPr>
          <a:xfrm>
            <a:off x="3933825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Research signals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04817EB-F512-4713-B2C3-943EF9045063}"/>
              </a:ext>
            </a:extLst>
          </p:cNvPr>
          <p:cNvSpPr>
            <a:spLocks noGrp="1"/>
          </p:cNvSpPr>
          <p:nvPr/>
        </p:nvSpPr>
        <p:spPr>
          <a:xfrm>
            <a:off x="6072188" y="2619375"/>
            <a:ext cx="190500" cy="190500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5C20E4-7683-4C4D-A01D-8C9D72F558D0}"/>
              </a:ext>
            </a:extLst>
          </p:cNvPr>
          <p:cNvSpPr>
            <a:spLocks noGrp="1"/>
          </p:cNvSpPr>
          <p:nvPr/>
        </p:nvSpPr>
        <p:spPr>
          <a:xfrm>
            <a:off x="5576888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16:00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36E3D9-2A04-4B35-A2A9-9980F2A5D63A}"/>
              </a:ext>
            </a:extLst>
          </p:cNvPr>
          <p:cNvSpPr>
            <a:spLocks noGrp="1"/>
          </p:cNvSpPr>
          <p:nvPr/>
        </p:nvSpPr>
        <p:spPr>
          <a:xfrm>
            <a:off x="5576888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Backtest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15AEAAE-976F-4C0F-8E08-1BCB740004C3}"/>
              </a:ext>
            </a:extLst>
          </p:cNvPr>
          <p:cNvSpPr>
            <a:spLocks noGrp="1"/>
          </p:cNvSpPr>
          <p:nvPr/>
        </p:nvSpPr>
        <p:spPr>
          <a:xfrm>
            <a:off x="7715250" y="2619375"/>
            <a:ext cx="190500" cy="190500"/>
          </a:xfrm>
          <a:prstGeom prst="ellipse">
            <a:avLst/>
          </a:prstGeom>
          <a:solidFill>
            <a:srgbClr val="3B82C4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434EB1-519E-44CA-9C94-66BAEA150DF2}"/>
              </a:ext>
            </a:extLst>
          </p:cNvPr>
          <p:cNvSpPr>
            <a:spLocks noGrp="1"/>
          </p:cNvSpPr>
          <p:nvPr/>
        </p:nvSpPr>
        <p:spPr>
          <a:xfrm>
            <a:off x="7219950" y="2943225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18:00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079A6C-D324-4360-B2BC-82FA23F3FFBE}"/>
              </a:ext>
            </a:extLst>
          </p:cNvPr>
          <p:cNvSpPr>
            <a:spLocks noGrp="1"/>
          </p:cNvSpPr>
          <p:nvPr/>
        </p:nvSpPr>
        <p:spPr>
          <a:xfrm>
            <a:off x="7219950" y="3171825"/>
            <a:ext cx="1181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1" name="title-correction-cover">
            <a:extLst>
              <a:ext uri="{FF2B5EF4-FFF2-40B4-BE49-F238E27FC236}">
                <a16:creationId xmlns:a16="http://schemas.microsoft.com/office/drawing/2014/main" id="{5FC05FEE-EC7D-4B19-B2C4-1B52443AC368}"/>
              </a:ext>
            </a:extLst>
          </p:cNvPr>
          <p:cNvSpPr>
            <a:spLocks noGrp="1"/>
          </p:cNvSpPr>
          <p:nvPr/>
        </p:nvSpPr>
        <p:spPr>
          <a:xfrm>
            <a:off x="333375" y="266700"/>
            <a:ext cx="8477250" cy="685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" name="title-correction">
            <a:extLst>
              <a:ext uri="{FF2B5EF4-FFF2-40B4-BE49-F238E27FC236}">
                <a16:creationId xmlns:a16="http://schemas.microsoft.com/office/drawing/2014/main" id="{F509FEFB-5E40-4546-9859-A316D63BAC1C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Day In The Life Of A Quant</a:t>
            </a:r>
          </a:p>
        </p:txBody>
      </p:sp>
    </p:spTree>
    <p:extLst>
      <p:ext uri="{BB962C8B-B14F-4D97-AF65-F5344CB8AC3E}">
        <p14:creationId xmlns:p14="http://schemas.microsoft.com/office/powerpoint/2010/main" val="10337800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5471D-1423-4739-A347-7187BEF7D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40211-2287-47C5-99C1-78B2A27D7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Markets Generate Massive Data</a:t>
            </a:r>
          </a:p>
          <a:p>
            <a:r>
              <a:t>Tick Data Preserves Detail</a:t>
            </a:r>
          </a:p>
          <a:p>
            <a:r>
              <a:t>KDB Built For Time-Series</a:t>
            </a:r>
          </a:p>
          <a:p>
            <a:r>
              <a:t>SQL Concepts Transfer</a:t>
            </a:r>
          </a:p>
          <a:p>
            <a:r>
              <a:t>Infrastructure Enables Research</a:t>
            </a:r>
          </a:p>
        </p:txBody>
      </p:sp>
      <p:sp>
        <p:nvSpPr>
          <p:cNvPr id="4" name="visual-body-cover">
            <a:extLst>
              <a:ext uri="{FF2B5EF4-FFF2-40B4-BE49-F238E27FC236}">
                <a16:creationId xmlns:a16="http://schemas.microsoft.com/office/drawing/2014/main" id="{6CAD38F3-5C1F-4401-8168-31C51AB082F4}"/>
              </a:ext>
            </a:extLst>
          </p:cNvPr>
          <p:cNvSpPr>
            <a:spLocks noGrp="1"/>
          </p:cNvSpPr>
          <p:nvPr/>
        </p:nvSpPr>
        <p:spPr>
          <a:xfrm>
            <a:off x="366712" y="1281112"/>
            <a:ext cx="8334375" cy="37623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817E21-876C-4D70-A181-B0C27B2A4F0E}"/>
              </a:ext>
            </a:extLst>
          </p:cNvPr>
          <p:cNvSpPr>
            <a:spLocks noGrp="1"/>
          </p:cNvSpPr>
          <p:nvPr/>
        </p:nvSpPr>
        <p:spPr>
          <a:xfrm>
            <a:off x="590550" y="2571750"/>
            <a:ext cx="1158875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FB56B5-8AFD-4FB3-8DC7-CB9F2F186E30}"/>
              </a:ext>
            </a:extLst>
          </p:cNvPr>
          <p:cNvSpPr>
            <a:spLocks noGrp="1"/>
          </p:cNvSpPr>
          <p:nvPr/>
        </p:nvSpPr>
        <p:spPr>
          <a:xfrm>
            <a:off x="666750" y="2771775"/>
            <a:ext cx="1006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Market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F9EB9F-F569-47CC-AEDC-65C393EB82B8}"/>
              </a:ext>
            </a:extLst>
          </p:cNvPr>
          <p:cNvSpPr>
            <a:spLocks noGrp="1"/>
          </p:cNvSpPr>
          <p:nvPr/>
        </p:nvSpPr>
        <p:spPr>
          <a:xfrm>
            <a:off x="1778000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5790AF3E-6CE6-4883-B695-9C4F8DB0B578}"/>
              </a:ext>
            </a:extLst>
          </p:cNvPr>
          <p:cNvSpPr>
            <a:spLocks noGrp="1"/>
          </p:cNvSpPr>
          <p:nvPr/>
        </p:nvSpPr>
        <p:spPr>
          <a:xfrm>
            <a:off x="1797050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C29416-8BB9-40EF-8533-30B7EBCE1E26}"/>
              </a:ext>
            </a:extLst>
          </p:cNvPr>
          <p:cNvSpPr>
            <a:spLocks noGrp="1"/>
          </p:cNvSpPr>
          <p:nvPr/>
        </p:nvSpPr>
        <p:spPr>
          <a:xfrm>
            <a:off x="1958975" y="2571750"/>
            <a:ext cx="1158875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3E9532-2DF3-45CF-9C6D-019DA3DCF671}"/>
              </a:ext>
            </a:extLst>
          </p:cNvPr>
          <p:cNvSpPr>
            <a:spLocks noGrp="1"/>
          </p:cNvSpPr>
          <p:nvPr/>
        </p:nvSpPr>
        <p:spPr>
          <a:xfrm>
            <a:off x="2035175" y="2771775"/>
            <a:ext cx="1006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Tick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C9410A-4E7D-4C59-89EE-6370A23E82EB}"/>
              </a:ext>
            </a:extLst>
          </p:cNvPr>
          <p:cNvSpPr>
            <a:spLocks noGrp="1"/>
          </p:cNvSpPr>
          <p:nvPr/>
        </p:nvSpPr>
        <p:spPr>
          <a:xfrm>
            <a:off x="3146425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DD7CE557-1701-4247-85D3-7C43417F3EE2}"/>
              </a:ext>
            </a:extLst>
          </p:cNvPr>
          <p:cNvSpPr>
            <a:spLocks noGrp="1"/>
          </p:cNvSpPr>
          <p:nvPr/>
        </p:nvSpPr>
        <p:spPr>
          <a:xfrm>
            <a:off x="3165475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D2ECA81-645E-49B2-93F0-318E7084D2D0}"/>
              </a:ext>
            </a:extLst>
          </p:cNvPr>
          <p:cNvSpPr>
            <a:spLocks noGrp="1"/>
          </p:cNvSpPr>
          <p:nvPr/>
        </p:nvSpPr>
        <p:spPr>
          <a:xfrm>
            <a:off x="3327400" y="2571750"/>
            <a:ext cx="1158875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63DE1-812C-45BE-8C34-146157507A75}"/>
              </a:ext>
            </a:extLst>
          </p:cNvPr>
          <p:cNvSpPr>
            <a:spLocks noGrp="1"/>
          </p:cNvSpPr>
          <p:nvPr/>
        </p:nvSpPr>
        <p:spPr>
          <a:xfrm>
            <a:off x="3403600" y="2771775"/>
            <a:ext cx="1006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KDB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42B554-E6FF-4584-9ACE-7C579BB0BF2D}"/>
              </a:ext>
            </a:extLst>
          </p:cNvPr>
          <p:cNvSpPr>
            <a:spLocks noGrp="1"/>
          </p:cNvSpPr>
          <p:nvPr/>
        </p:nvSpPr>
        <p:spPr>
          <a:xfrm>
            <a:off x="4514850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80D872D-B8A0-45A7-A651-5C407EBEE880}"/>
              </a:ext>
            </a:extLst>
          </p:cNvPr>
          <p:cNvSpPr>
            <a:spLocks noGrp="1"/>
          </p:cNvSpPr>
          <p:nvPr/>
        </p:nvSpPr>
        <p:spPr>
          <a:xfrm>
            <a:off x="4533900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88038A-A380-4238-A1A6-0A3B86A0DDB4}"/>
              </a:ext>
            </a:extLst>
          </p:cNvPr>
          <p:cNvSpPr>
            <a:spLocks noGrp="1"/>
          </p:cNvSpPr>
          <p:nvPr/>
        </p:nvSpPr>
        <p:spPr>
          <a:xfrm>
            <a:off x="4695825" y="2571750"/>
            <a:ext cx="1158875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6210BE-822D-4526-A1C7-8A81BEB9ADE5}"/>
              </a:ext>
            </a:extLst>
          </p:cNvPr>
          <p:cNvSpPr>
            <a:spLocks noGrp="1"/>
          </p:cNvSpPr>
          <p:nvPr/>
        </p:nvSpPr>
        <p:spPr>
          <a:xfrm>
            <a:off x="4772025" y="2771775"/>
            <a:ext cx="1006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Python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5F660B-298B-4B3C-B769-8179ADF1368E}"/>
              </a:ext>
            </a:extLst>
          </p:cNvPr>
          <p:cNvSpPr>
            <a:spLocks noGrp="1"/>
          </p:cNvSpPr>
          <p:nvPr/>
        </p:nvSpPr>
        <p:spPr>
          <a:xfrm>
            <a:off x="5883275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E01072A9-4527-498F-9E84-1965F03248C6}"/>
              </a:ext>
            </a:extLst>
          </p:cNvPr>
          <p:cNvSpPr>
            <a:spLocks noGrp="1"/>
          </p:cNvSpPr>
          <p:nvPr/>
        </p:nvSpPr>
        <p:spPr>
          <a:xfrm>
            <a:off x="5902325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77BE53F-825F-4E11-952E-3317A25E309F}"/>
              </a:ext>
            </a:extLst>
          </p:cNvPr>
          <p:cNvSpPr>
            <a:spLocks noGrp="1"/>
          </p:cNvSpPr>
          <p:nvPr/>
        </p:nvSpPr>
        <p:spPr>
          <a:xfrm>
            <a:off x="6064250" y="2571750"/>
            <a:ext cx="1158875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557766-12F8-4B4B-A6AD-914FCB170399}"/>
              </a:ext>
            </a:extLst>
          </p:cNvPr>
          <p:cNvSpPr>
            <a:spLocks noGrp="1"/>
          </p:cNvSpPr>
          <p:nvPr/>
        </p:nvSpPr>
        <p:spPr>
          <a:xfrm>
            <a:off x="6140450" y="2771775"/>
            <a:ext cx="1006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FADFCA-F749-4126-B23A-2598EB586266}"/>
              </a:ext>
            </a:extLst>
          </p:cNvPr>
          <p:cNvSpPr>
            <a:spLocks noGrp="1"/>
          </p:cNvSpPr>
          <p:nvPr/>
        </p:nvSpPr>
        <p:spPr>
          <a:xfrm>
            <a:off x="7251700" y="2847975"/>
            <a:ext cx="66675" cy="38100"/>
          </a:xfrm>
          <a:prstGeom prst="rect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0754DE53-BB39-4BFB-9BD5-C53C2C1A7F2E}"/>
              </a:ext>
            </a:extLst>
          </p:cNvPr>
          <p:cNvSpPr>
            <a:spLocks noGrp="1"/>
          </p:cNvSpPr>
          <p:nvPr/>
        </p:nvSpPr>
        <p:spPr>
          <a:xfrm>
            <a:off x="7270750" y="2800350"/>
            <a:ext cx="133350" cy="133350"/>
          </a:xfrm>
          <a:prstGeom prst="triangle">
            <a:avLst/>
          </a:prstGeom>
          <a:solidFill>
            <a:srgbClr val="1F5A96"/>
          </a:solidFill>
          <a:ln w="0">
            <a:noFill/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BA7FEAA-2B97-48CD-8239-947078B005F9}"/>
              </a:ext>
            </a:extLst>
          </p:cNvPr>
          <p:cNvSpPr>
            <a:spLocks noGrp="1"/>
          </p:cNvSpPr>
          <p:nvPr/>
        </p:nvSpPr>
        <p:spPr>
          <a:xfrm>
            <a:off x="7432675" y="2571750"/>
            <a:ext cx="1158875" cy="590550"/>
          </a:xfrm>
          <a:prstGeom prst="roundRect">
            <a:avLst>
              <a:gd name="adj" fmla="val 12903"/>
            </a:avLst>
          </a:prstGeom>
          <a:solidFill>
            <a:srgbClr val="E8F1FA"/>
          </a:solidFill>
          <a:ln w="13335">
            <a:solidFill>
              <a:srgbClr val="1F5A96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514FB7-4D4B-413E-BC8D-A11301DF6CE4}"/>
              </a:ext>
            </a:extLst>
          </p:cNvPr>
          <p:cNvSpPr>
            <a:spLocks noGrp="1"/>
          </p:cNvSpPr>
          <p:nvPr/>
        </p:nvSpPr>
        <p:spPr>
          <a:xfrm>
            <a:off x="7508875" y="2771775"/>
            <a:ext cx="1006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F5A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A96"/>
                </a:solidFill>
                <a:latin typeface="Aptos"/>
                <a:ea typeface="Aptos"/>
                <a:cs typeface="Aptos"/>
              </a:rPr>
              <a:t>Backtesting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BFDAFD-032E-4C6C-B958-A4DAFB6703F1}"/>
              </a:ext>
            </a:extLst>
          </p:cNvPr>
          <p:cNvSpPr>
            <a:spLocks noGrp="1"/>
          </p:cNvSpPr>
          <p:nvPr/>
        </p:nvSpPr>
        <p:spPr>
          <a:xfrm>
            <a:off x="590550" y="4333875"/>
            <a:ext cx="800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5967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777"/>
                </a:solidFill>
                <a:latin typeface="Aptos"/>
                <a:ea typeface="Aptos"/>
                <a:cs typeface="Aptos"/>
              </a:rPr>
              <a:t>Quant infrastructure turns raw data into testable trading ideas.</a:t>
            </a:r>
          </a:p>
        </p:txBody>
      </p:sp>
    </p:spTree>
    <p:extLst>
      <p:ext uri="{BB962C8B-B14F-4D97-AF65-F5344CB8AC3E}">
        <p14:creationId xmlns:p14="http://schemas.microsoft.com/office/powerpoint/2010/main" val="2074883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1347</Words>
  <Application>Microsoft Office PowerPoint</Application>
  <DocSecurity>0</DocSecurity>
  <PresentationFormat>On-screen Show (4:3)</PresentationFormat>
  <Paragraphs>541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Aptos</vt:lpstr>
      <vt:lpstr>Calibri</vt:lpstr>
      <vt:lpstr>Consolas</vt:lpstr>
      <vt:lpstr>Office Theme</vt:lpstr>
      <vt:lpstr>Quant Infrastructure &amp; KDB+</vt:lpstr>
      <vt:lpstr>Recap</vt:lpstr>
      <vt:lpstr>Modern Markets Generate Massive Data</vt:lpstr>
      <vt:lpstr>One Day Of Market Activity</vt:lpstr>
      <vt:lpstr>Why Infrastructure Matters</vt:lpstr>
      <vt:lpstr>Research Starts With Data</vt:lpstr>
      <vt:lpstr>Case Study: Building A Momentum Strategy</vt:lpstr>
      <vt:lpstr>How Data Flows</vt:lpstr>
      <vt:lpstr>What Is An Exchange?</vt:lpstr>
      <vt:lpstr>What Is Market Data?</vt:lpstr>
      <vt:lpstr>Trade Example</vt:lpstr>
      <vt:lpstr>Quote Example</vt:lpstr>
      <vt:lpstr>Feed Handlers</vt:lpstr>
      <vt:lpstr>Why Feed Handlers Matter</vt:lpstr>
      <vt:lpstr>What Is Tick Data?</vt:lpstr>
      <vt:lpstr>Tick Data Example</vt:lpstr>
      <vt:lpstr>Tick Data vs OHLC Data</vt:lpstr>
      <vt:lpstr>Advantages Of Tick Data</vt:lpstr>
      <vt:lpstr>Challenges Of Tick Data</vt:lpstr>
      <vt:lpstr>Case Study: Large Trade Investigation</vt:lpstr>
      <vt:lpstr>What Is Time-Series Data?</vt:lpstr>
      <vt:lpstr>Why Time Matters</vt:lpstr>
      <vt:lpstr>Why KDB Was Created</vt:lpstr>
      <vt:lpstr>Why Quant Firms Use KDB</vt:lpstr>
      <vt:lpstr>Where KDB Is Used</vt:lpstr>
      <vt:lpstr>Core Idea Behind KDB</vt:lpstr>
      <vt:lpstr>Columnar Databases</vt:lpstr>
      <vt:lpstr>Row Storage Example</vt:lpstr>
      <vt:lpstr>Column Storage Example</vt:lpstr>
      <vt:lpstr>Case Study: Average Spread Analysis</vt:lpstr>
      <vt:lpstr>SQL Table</vt:lpstr>
      <vt:lpstr>KDB Table</vt:lpstr>
      <vt:lpstr>SELECT Query</vt:lpstr>
      <vt:lpstr>GROUP BY Query</vt:lpstr>
      <vt:lpstr>SUM Query</vt:lpstr>
      <vt:lpstr>Time-Series Query</vt:lpstr>
      <vt:lpstr>VWAP Query</vt:lpstr>
      <vt:lpstr>SQL vs KDB Summary</vt:lpstr>
      <vt:lpstr>Case Study: VWAP Analytics</vt:lpstr>
      <vt:lpstr>Python + KDB Workflow</vt:lpstr>
      <vt:lpstr>Typical Quant Research Workflow</vt:lpstr>
      <vt:lpstr>Real-Time Analytics</vt:lpstr>
      <vt:lpstr>Research vs Production</vt:lpstr>
      <vt:lpstr>Case Study: A Day In The Life Of A Quant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Hitesh Saini</cp:lastModifiedBy>
  <cp:revision>29</cp:revision>
  <dcterms:created xsi:type="dcterms:W3CDTF">2026-06-20T08:20:37Z</dcterms:created>
  <dcterms:modified xsi:type="dcterms:W3CDTF">2026-06-20T09:59:37Z</dcterms:modified>
</cp:coreProperties>
</file>