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60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Saini" userId="8dca73311806eaa7" providerId="LiveId" clId="{8A18633D-D30F-4A5D-8CA4-C7F9C5B6B645}"/>
    <pc:docChg chg="modSld">
      <pc:chgData name="Hitesh Saini" userId="8dca73311806eaa7" providerId="LiveId" clId="{8A18633D-D30F-4A5D-8CA4-C7F9C5B6B645}" dt="2026-06-10T02:35:40.477" v="16" actId="1076"/>
      <pc:docMkLst>
        <pc:docMk/>
      </pc:docMkLst>
      <pc:sldChg chg="modSp mod">
        <pc:chgData name="Hitesh Saini" userId="8dca73311806eaa7" providerId="LiveId" clId="{8A18633D-D30F-4A5D-8CA4-C7F9C5B6B645}" dt="2026-06-10T02:34:42.026" v="6" actId="1076"/>
        <pc:sldMkLst>
          <pc:docMk/>
          <pc:sldMk cId="0" sldId="257"/>
        </pc:sldMkLst>
        <pc:picChg chg="mod">
          <ac:chgData name="Hitesh Saini" userId="8dca73311806eaa7" providerId="LiveId" clId="{8A18633D-D30F-4A5D-8CA4-C7F9C5B6B645}" dt="2026-06-10T02:34:42.026" v="6" actId="1076"/>
          <ac:picMkLst>
            <pc:docMk/>
            <pc:sldMk cId="0" sldId="257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4:37.054" v="5" actId="1076"/>
        <pc:sldMkLst>
          <pc:docMk/>
          <pc:sldMk cId="0" sldId="258"/>
        </pc:sldMkLst>
        <pc:picChg chg="mod">
          <ac:chgData name="Hitesh Saini" userId="8dca73311806eaa7" providerId="LiveId" clId="{8A18633D-D30F-4A5D-8CA4-C7F9C5B6B645}" dt="2026-06-10T02:34:37.054" v="5" actId="1076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4:31.141" v="4" actId="1076"/>
        <pc:sldMkLst>
          <pc:docMk/>
          <pc:sldMk cId="0" sldId="264"/>
        </pc:sldMkLst>
        <pc:picChg chg="mod">
          <ac:chgData name="Hitesh Saini" userId="8dca73311806eaa7" providerId="LiveId" clId="{8A18633D-D30F-4A5D-8CA4-C7F9C5B6B645}" dt="2026-06-10T02:34:31.141" v="4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4:24.370" v="3" actId="1076"/>
        <pc:sldMkLst>
          <pc:docMk/>
          <pc:sldMk cId="0" sldId="267"/>
        </pc:sldMkLst>
        <pc:picChg chg="mod">
          <ac:chgData name="Hitesh Saini" userId="8dca73311806eaa7" providerId="LiveId" clId="{8A18633D-D30F-4A5D-8CA4-C7F9C5B6B645}" dt="2026-06-10T02:34:24.370" v="3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4:13.960" v="2" actId="1076"/>
        <pc:sldMkLst>
          <pc:docMk/>
          <pc:sldMk cId="0" sldId="270"/>
        </pc:sldMkLst>
        <pc:picChg chg="mod">
          <ac:chgData name="Hitesh Saini" userId="8dca73311806eaa7" providerId="LiveId" clId="{8A18633D-D30F-4A5D-8CA4-C7F9C5B6B645}" dt="2026-06-10T02:34:13.960" v="2" actId="1076"/>
          <ac:picMkLst>
            <pc:docMk/>
            <pc:sldMk cId="0" sldId="270"/>
            <ac:picMk id="4" creationId="{00000000-0000-0000-0000-000000000000}"/>
          </ac:picMkLst>
        </pc:picChg>
        <pc:picChg chg="mod">
          <ac:chgData name="Hitesh Saini" userId="8dca73311806eaa7" providerId="LiveId" clId="{8A18633D-D30F-4A5D-8CA4-C7F9C5B6B645}" dt="2026-06-10T02:34:12.557" v="1" actId="1076"/>
          <ac:picMkLst>
            <pc:docMk/>
            <pc:sldMk cId="0" sldId="270"/>
            <ac:picMk id="6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4:59.853" v="8" actId="1076"/>
        <pc:sldMkLst>
          <pc:docMk/>
          <pc:sldMk cId="0" sldId="279"/>
        </pc:sldMkLst>
        <pc:picChg chg="mod">
          <ac:chgData name="Hitesh Saini" userId="8dca73311806eaa7" providerId="LiveId" clId="{8A18633D-D30F-4A5D-8CA4-C7F9C5B6B645}" dt="2026-06-10T02:34:57.877" v="7" actId="1076"/>
          <ac:picMkLst>
            <pc:docMk/>
            <pc:sldMk cId="0" sldId="279"/>
            <ac:picMk id="4" creationId="{00000000-0000-0000-0000-000000000000}"/>
          </ac:picMkLst>
        </pc:picChg>
        <pc:picChg chg="mod">
          <ac:chgData name="Hitesh Saini" userId="8dca73311806eaa7" providerId="LiveId" clId="{8A18633D-D30F-4A5D-8CA4-C7F9C5B6B645}" dt="2026-06-10T02:34:59.853" v="8" actId="1076"/>
          <ac:picMkLst>
            <pc:docMk/>
            <pc:sldMk cId="0" sldId="279"/>
            <ac:picMk id="6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07.638" v="9" actId="1076"/>
        <pc:sldMkLst>
          <pc:docMk/>
          <pc:sldMk cId="0" sldId="284"/>
        </pc:sldMkLst>
        <pc:picChg chg="mod">
          <ac:chgData name="Hitesh Saini" userId="8dca73311806eaa7" providerId="LiveId" clId="{8A18633D-D30F-4A5D-8CA4-C7F9C5B6B645}" dt="2026-06-10T02:35:07.638" v="9" actId="1076"/>
          <ac:picMkLst>
            <pc:docMk/>
            <pc:sldMk cId="0" sldId="284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12.769" v="10" actId="1076"/>
        <pc:sldMkLst>
          <pc:docMk/>
          <pc:sldMk cId="0" sldId="285"/>
        </pc:sldMkLst>
        <pc:picChg chg="mod">
          <ac:chgData name="Hitesh Saini" userId="8dca73311806eaa7" providerId="LiveId" clId="{8A18633D-D30F-4A5D-8CA4-C7F9C5B6B645}" dt="2026-06-10T02:35:12.769" v="10" actId="1076"/>
          <ac:picMkLst>
            <pc:docMk/>
            <pc:sldMk cId="0" sldId="285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19.087" v="11" actId="1076"/>
        <pc:sldMkLst>
          <pc:docMk/>
          <pc:sldMk cId="0" sldId="288"/>
        </pc:sldMkLst>
        <pc:picChg chg="mod">
          <ac:chgData name="Hitesh Saini" userId="8dca73311806eaa7" providerId="LiveId" clId="{8A18633D-D30F-4A5D-8CA4-C7F9C5B6B645}" dt="2026-06-10T02:35:19.087" v="11" actId="1076"/>
          <ac:picMkLst>
            <pc:docMk/>
            <pc:sldMk cId="0" sldId="288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22.959" v="12" actId="1076"/>
        <pc:sldMkLst>
          <pc:docMk/>
          <pc:sldMk cId="0" sldId="289"/>
        </pc:sldMkLst>
        <pc:picChg chg="mod">
          <ac:chgData name="Hitesh Saini" userId="8dca73311806eaa7" providerId="LiveId" clId="{8A18633D-D30F-4A5D-8CA4-C7F9C5B6B645}" dt="2026-06-10T02:35:22.959" v="12" actId="1076"/>
          <ac:picMkLst>
            <pc:docMk/>
            <pc:sldMk cId="0" sldId="289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27.447" v="13" actId="1076"/>
        <pc:sldMkLst>
          <pc:docMk/>
          <pc:sldMk cId="0" sldId="290"/>
        </pc:sldMkLst>
        <pc:picChg chg="mod">
          <ac:chgData name="Hitesh Saini" userId="8dca73311806eaa7" providerId="LiveId" clId="{8A18633D-D30F-4A5D-8CA4-C7F9C5B6B645}" dt="2026-06-10T02:35:27.447" v="13" actId="1076"/>
          <ac:picMkLst>
            <pc:docMk/>
            <pc:sldMk cId="0" sldId="290"/>
            <ac:picMk id="4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33.954" v="15" actId="1076"/>
        <pc:sldMkLst>
          <pc:docMk/>
          <pc:sldMk cId="0" sldId="291"/>
        </pc:sldMkLst>
        <pc:picChg chg="mod">
          <ac:chgData name="Hitesh Saini" userId="8dca73311806eaa7" providerId="LiveId" clId="{8A18633D-D30F-4A5D-8CA4-C7F9C5B6B645}" dt="2026-06-10T02:35:32.216" v="14" actId="1076"/>
          <ac:picMkLst>
            <pc:docMk/>
            <pc:sldMk cId="0" sldId="291"/>
            <ac:picMk id="4" creationId="{00000000-0000-0000-0000-000000000000}"/>
          </ac:picMkLst>
        </pc:picChg>
        <pc:picChg chg="mod">
          <ac:chgData name="Hitesh Saini" userId="8dca73311806eaa7" providerId="LiveId" clId="{8A18633D-D30F-4A5D-8CA4-C7F9C5B6B645}" dt="2026-06-10T02:35:33.954" v="15" actId="1076"/>
          <ac:picMkLst>
            <pc:docMk/>
            <pc:sldMk cId="0" sldId="291"/>
            <ac:picMk id="6" creationId="{00000000-0000-0000-0000-000000000000}"/>
          </ac:picMkLst>
        </pc:picChg>
      </pc:sldChg>
      <pc:sldChg chg="modSp mod">
        <pc:chgData name="Hitesh Saini" userId="8dca73311806eaa7" providerId="LiveId" clId="{8A18633D-D30F-4A5D-8CA4-C7F9C5B6B645}" dt="2026-06-10T02:35:40.477" v="16" actId="1076"/>
        <pc:sldMkLst>
          <pc:docMk/>
          <pc:sldMk cId="0" sldId="294"/>
        </pc:sldMkLst>
        <pc:picChg chg="mod">
          <ac:chgData name="Hitesh Saini" userId="8dca73311806eaa7" providerId="LiveId" clId="{8A18633D-D30F-4A5D-8CA4-C7F9C5B6B645}" dt="2026-06-10T02:35:40.477" v="16" actId="1076"/>
          <ac:picMkLst>
            <pc:docMk/>
            <pc:sldMk cId="0" sldId="294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4: Alpha Signals &amp; Quant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is Alpha?</a:t>
            </a:r>
          </a:p>
          <a:p>
            <a:r>
              <a:t>Signal Types</a:t>
            </a:r>
          </a:p>
          <a:p>
            <a:r>
              <a:t>Signal Evaluation</a:t>
            </a:r>
          </a:p>
          <a:p>
            <a:r>
              <a:t>Research Workflow</a:t>
            </a:r>
          </a:p>
          <a:p>
            <a:r>
              <a:t>Lab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Alpha?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Alpha = predictive edge beyond benchmark returns</a:t>
            </a:r>
          </a:p>
          <a:p>
            <a:pPr>
              <a:defRPr sz="2000"/>
            </a:pPr>
            <a:r>
              <a:t>Goal: generate excess returns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36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Might Alpha Exist?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Humans, institutions and liquidity create patterns</a:t>
            </a:r>
          </a:p>
          <a:p>
            <a:pPr>
              <a:defRPr sz="2000"/>
            </a:pPr>
            <a:r>
              <a:t>Information spreads gradually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53" y="2825496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Alpha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Momentum</a:t>
            </a:r>
          </a:p>
          <a:p>
            <a:pPr>
              <a:defRPr sz="2000"/>
            </a:pPr>
            <a:r>
              <a:t>Mean Reversion</a:t>
            </a:r>
          </a:p>
          <a:p>
            <a:pPr>
              <a:defRPr sz="2000"/>
            </a:pPr>
            <a:r>
              <a:t>Relative Strength</a:t>
            </a:r>
          </a:p>
          <a:p>
            <a:pPr>
              <a:defRPr sz="2000"/>
            </a:pPr>
            <a:r>
              <a:t>Breakout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break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Momentum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Trend-following behavior</a:t>
            </a:r>
          </a:p>
          <a:p>
            <a:pPr>
              <a:defRPr sz="2000"/>
            </a:pPr>
            <a:r>
              <a:t>Moving average crossover</a:t>
            </a:r>
          </a:p>
          <a:p>
            <a:pPr>
              <a:defRPr sz="2000"/>
            </a:pPr>
            <a:r>
              <a:t>Breakout continuation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brea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Momentum Strategy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BUY when short MA &gt; long MA</a:t>
            </a:r>
          </a:p>
          <a:p>
            <a:pPr>
              <a:defRPr sz="2000"/>
            </a:pPr>
            <a:r>
              <a:t>SELL otherwise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Reversion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Extreme moves may reverse</a:t>
            </a:r>
          </a:p>
          <a:p>
            <a:pPr>
              <a:defRPr sz="2000"/>
            </a:pPr>
            <a:r>
              <a:t>Oversold bounce</a:t>
            </a:r>
          </a:p>
        </p:txBody>
      </p:sp>
      <p:pic>
        <p:nvPicPr>
          <p:cNvPr id="4" name="Picture 3" descr="re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Signals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Overfitting</a:t>
            </a:r>
          </a:p>
          <a:p>
            <a:pPr>
              <a:defRPr sz="2000"/>
            </a:pPr>
            <a:r>
              <a:t>Changing markets</a:t>
            </a:r>
          </a:p>
          <a:p>
            <a:pPr>
              <a:defRPr sz="2000"/>
            </a:pPr>
            <a:r>
              <a:t>Transaction costs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vs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Markets contain random movement</a:t>
            </a:r>
          </a:p>
          <a:p>
            <a:pPr>
              <a:defRPr sz="2000"/>
            </a:pPr>
            <a:r>
              <a:t>Not every pattern is real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49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Signal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Momentum</a:t>
            </a:r>
          </a:p>
          <a:p>
            <a:pPr>
              <a:defRPr sz="2000"/>
            </a:pPr>
            <a:r>
              <a:t>Reversion</a:t>
            </a:r>
          </a:p>
          <a:p>
            <a:pPr>
              <a:defRPr sz="2000"/>
            </a:pPr>
            <a:r>
              <a:t>Breakout</a:t>
            </a:r>
          </a:p>
          <a:p>
            <a:pPr>
              <a:defRPr sz="2000"/>
            </a:pPr>
            <a:r>
              <a:t>Volume</a:t>
            </a:r>
          </a:p>
          <a:p>
            <a:pPr>
              <a:defRPr sz="2000"/>
            </a:pPr>
            <a:r>
              <a:t>Cross-Sectional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break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88720"/>
            <a:ext cx="2194560" cy="1207008"/>
          </a:xfrm>
          <a:prstGeom prst="rect">
            <a:avLst/>
          </a:prstGeom>
        </p:spPr>
      </p:pic>
      <p:pic>
        <p:nvPicPr>
          <p:cNvPr id="7" name="Picture 6" descr="volu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Breakout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Price breaks resistance</a:t>
            </a:r>
          </a:p>
          <a:p>
            <a:pPr>
              <a:defRPr sz="2000"/>
            </a:pPr>
            <a:r>
              <a:t>Volume confirmation</a:t>
            </a:r>
          </a:p>
        </p:txBody>
      </p:sp>
      <p:pic>
        <p:nvPicPr>
          <p:cNvPr id="4" name="Picture 3" descr="brea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Volume spikes may indicate institutional activity</a:t>
            </a:r>
          </a:p>
        </p:txBody>
      </p:sp>
      <p:pic>
        <p:nvPicPr>
          <p:cNvPr id="4" name="Picture 3" descr="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brea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Cross-Sectional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Rank strongest vs weakest assets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Convert raw data into features</a:t>
            </a:r>
          </a:p>
          <a:p>
            <a:pPr>
              <a:defRPr sz="2000"/>
            </a:pPr>
            <a:r>
              <a:t>Returns, volatility, volume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Combine weak signals to improve robustness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87" y="2742881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rever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847" y="413277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Decay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Signals weaken as markets adapt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Perfect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strategies have drawdowns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no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Biggest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Is the signal real or random?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Backtesting?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Testing strategies on historical data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Backtests Mislead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Overfitting</a:t>
            </a:r>
          </a:p>
          <a:p>
            <a:pPr>
              <a:defRPr sz="2000"/>
            </a:pPr>
            <a:r>
              <a:t>Look-ahead bias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Fitting noise instead of true signal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Percentage of profitable trades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Return Per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Measure average profitability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Strategies behave differently across regimes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58" y="2656173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down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340" y="413057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Decay (Evaluation)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Alpha may disappear over time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Measures predictive relationship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Spread</a:t>
            </a:r>
          </a:p>
          <a:p>
            <a:pPr>
              <a:defRPr sz="2000"/>
            </a:pPr>
            <a:r>
              <a:t>Commissions</a:t>
            </a:r>
          </a:p>
          <a:p>
            <a:pPr>
              <a:defRPr sz="2000"/>
            </a:pPr>
            <a:r>
              <a:t>Slippage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Quant Research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Skeptical</a:t>
            </a:r>
          </a:p>
          <a:p>
            <a:pPr>
              <a:defRPr sz="2000"/>
            </a:pPr>
            <a:r>
              <a:t>Experimental</a:t>
            </a:r>
          </a:p>
          <a:p>
            <a:pPr>
              <a:defRPr sz="2000"/>
            </a:pPr>
            <a:r>
              <a:t>Data-driven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 Research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Idea → Data → Features → Signals → Backtest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73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Research begins with observations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825496"/>
            <a:ext cx="2194560" cy="1207008"/>
          </a:xfrm>
          <a:prstGeom prst="rect">
            <a:avLst/>
          </a:prstGeom>
        </p:spPr>
      </p:pic>
      <p:pic>
        <p:nvPicPr>
          <p:cNvPr id="5" name="Picture 4" descr="brea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testable market assumptions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OHLCV</a:t>
            </a:r>
          </a:p>
          <a:p>
            <a:pPr>
              <a:defRPr sz="2000"/>
            </a:pPr>
            <a:r>
              <a:t>Volume</a:t>
            </a:r>
          </a:p>
          <a:p>
            <a:pPr>
              <a:defRPr sz="2000"/>
            </a:pPr>
            <a:r>
              <a:t>Macro Data</a:t>
            </a:r>
          </a:p>
        </p:txBody>
      </p:sp>
      <p:pic>
        <p:nvPicPr>
          <p:cNvPr id="4" name="Picture 3" descr="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Transform raw data into predictive inputs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27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Convert features into BUY/SELL logic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093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brea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Apply strategy rules on historical data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600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 robustness across market conditions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856" y="2825496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rever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4384939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Improve and retest strategies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no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Most Ideas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predictive power</a:t>
            </a:r>
          </a:p>
          <a:p>
            <a:pPr>
              <a:defRPr sz="2000"/>
            </a:pPr>
            <a:r>
              <a:t>Crowding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 Good Quant Researcher?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Curious</a:t>
            </a:r>
          </a:p>
          <a:p>
            <a:pPr>
              <a:defRPr sz="2000"/>
            </a:pPr>
            <a:r>
              <a:t>Disciplined</a:t>
            </a:r>
          </a:p>
          <a:p>
            <a:pPr>
              <a:defRPr sz="2000"/>
            </a:pPr>
            <a:r>
              <a:t>Patient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76" y="274320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Alpha is probabilistic</a:t>
            </a:r>
          </a:p>
          <a:p>
            <a:pPr>
              <a:defRPr sz="2000"/>
            </a:pPr>
            <a:r>
              <a:t>Research is iterative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no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Building Alpha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Load data</a:t>
            </a:r>
          </a:p>
          <a:p>
            <a:pPr>
              <a:defRPr sz="2000"/>
            </a:pPr>
            <a:r>
              <a:t>Compute returns</a:t>
            </a:r>
          </a:p>
          <a:p>
            <a:pPr>
              <a:defRPr sz="2000"/>
            </a:pPr>
            <a:r>
              <a:t>Generate signals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Momentum Strategy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Moving averages</a:t>
            </a:r>
          </a:p>
          <a:p>
            <a:pPr>
              <a:defRPr sz="2000"/>
            </a:pPr>
            <a:r>
              <a:t>Signal generation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brea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Reversion Strategy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Rolling mean</a:t>
            </a:r>
          </a:p>
          <a:p>
            <a:pPr>
              <a:defRPr sz="2000"/>
            </a:pPr>
            <a:r>
              <a:t>Deviation threshold</a:t>
            </a:r>
          </a:p>
        </p:txBody>
      </p:sp>
      <p:pic>
        <p:nvPicPr>
          <p:cNvPr id="4" name="Picture 3" descr="re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down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Compare cumulative returns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re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  <p:pic>
        <p:nvPicPr>
          <p:cNvPr id="6" name="Picture 5" descr="down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8872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Built and evaluated alpha signals</a:t>
            </a:r>
          </a:p>
        </p:txBody>
      </p:sp>
      <p:pic>
        <p:nvPicPr>
          <p:cNvPr id="4" name="Picture 3" descr="mome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2194560" cy="1207008"/>
          </a:xfrm>
          <a:prstGeom prst="rect">
            <a:avLst/>
          </a:prstGeom>
        </p:spPr>
      </p:pic>
      <p:pic>
        <p:nvPicPr>
          <p:cNvPr id="5" name="Picture 4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43200"/>
            <a:ext cx="2194560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391</Words>
  <Application>Microsoft Office PowerPoint</Application>
  <PresentationFormat>On-screen Show (4:3)</PresentationFormat>
  <Paragraphs>129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Lecture 4: Alpha Signals &amp; Quant Research</vt:lpstr>
      <vt:lpstr>What is Alpha?</vt:lpstr>
      <vt:lpstr>Why Might Alpha Exist?</vt:lpstr>
      <vt:lpstr>Examples of Alpha Signals</vt:lpstr>
      <vt:lpstr>Momentum Signals</vt:lpstr>
      <vt:lpstr>Momentum Strategy Example</vt:lpstr>
      <vt:lpstr>Mean Reversion Signals</vt:lpstr>
      <vt:lpstr>Why Signals Fail</vt:lpstr>
      <vt:lpstr>Signal vs Noise</vt:lpstr>
      <vt:lpstr>Major Signal Categories</vt:lpstr>
      <vt:lpstr>Breakout Signals</vt:lpstr>
      <vt:lpstr>Volume Signals</vt:lpstr>
      <vt:lpstr>Cross-Sectional Signals</vt:lpstr>
      <vt:lpstr>Feature Engineering</vt:lpstr>
      <vt:lpstr>Combining Signals</vt:lpstr>
      <vt:lpstr>Signal Decay</vt:lpstr>
      <vt:lpstr>No Perfect Signal</vt:lpstr>
      <vt:lpstr>The Biggest Problem</vt:lpstr>
      <vt:lpstr>What is Backtesting?</vt:lpstr>
      <vt:lpstr>Why Backtests Mislead</vt:lpstr>
      <vt:lpstr>Overfitting</vt:lpstr>
      <vt:lpstr>Hit Rate</vt:lpstr>
      <vt:lpstr>Average Return Per Trade</vt:lpstr>
      <vt:lpstr>Signal Stability</vt:lpstr>
      <vt:lpstr>Signal Decay (Evaluation)</vt:lpstr>
      <vt:lpstr>Information Coefficient</vt:lpstr>
      <vt:lpstr>Transaction Costs</vt:lpstr>
      <vt:lpstr>Good Quant Research Mindset</vt:lpstr>
      <vt:lpstr>Quant Research Pipeline</vt:lpstr>
      <vt:lpstr>Idea Generation</vt:lpstr>
      <vt:lpstr>Hypothesis Formation</vt:lpstr>
      <vt:lpstr>Data Collection</vt:lpstr>
      <vt:lpstr>Feature Engineering Workflow</vt:lpstr>
      <vt:lpstr>Signal Construction</vt:lpstr>
      <vt:lpstr>Backtesting Workflow</vt:lpstr>
      <vt:lpstr>Validation</vt:lpstr>
      <vt:lpstr>Research Iteration</vt:lpstr>
      <vt:lpstr>Why Most Ideas Fail</vt:lpstr>
      <vt:lpstr>What Makes a Good Quant Researcher?</vt:lpstr>
      <vt:lpstr>Key Takeaways</vt:lpstr>
      <vt:lpstr>Lab: Building Alpha Signals</vt:lpstr>
      <vt:lpstr>Momentum Strategy Lab</vt:lpstr>
      <vt:lpstr>Mean Reversion Strategy Lab</vt:lpstr>
      <vt:lpstr>Strategy Comparison</vt:lpstr>
      <vt:lpstr>Lab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Saini</cp:lastModifiedBy>
  <cp:revision>1</cp:revision>
  <dcterms:created xsi:type="dcterms:W3CDTF">2013-01-27T09:14:16Z</dcterms:created>
  <dcterms:modified xsi:type="dcterms:W3CDTF">2026-06-10T12:32:51Z</dcterms:modified>
  <cp:category/>
</cp:coreProperties>
</file>