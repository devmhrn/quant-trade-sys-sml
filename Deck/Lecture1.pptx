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Practical Quantitative Research &amp; Algorithmic Trading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How modern trading firms use data, statistics and algorithms</a:t>
            </a:r>
          </a:p>
          <a:p>
            <a:r>
              <a:t>Introduction to quantitative research</a:t>
            </a:r>
          </a:p>
          <a:p>
            <a:r>
              <a:t>Understanding markets scientifically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What is Quantitative Trading?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Using data to make trading decisions</a:t>
            </a:r>
          </a:p>
          <a:p>
            <a:pPr>
              <a:defRPr sz="1800"/>
            </a:pPr>
            <a:r>
              <a:t>Building algorithms from market patterns</a:t>
            </a:r>
          </a:p>
          <a:p>
            <a:pPr>
              <a:defRPr sz="1800"/>
            </a:pPr>
            <a:r>
              <a:t>Replacing emotions with systematic research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84E35-D953-E36A-FE9F-38A37382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2738500"/>
            <a:ext cx="8008374" cy="3671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Traditional Trading vs Quant Trading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trading relies heavily on intuition and news</a:t>
            </a:r>
          </a:p>
          <a:p>
            <a:pPr>
              <a:defRPr sz="1800"/>
            </a:pPr>
            <a:r>
              <a:t>Quant trading relies on data, probabilities and testing</a:t>
            </a:r>
          </a:p>
          <a:p>
            <a:pPr>
              <a:defRPr sz="1800"/>
            </a:pPr>
            <a:r>
              <a:t>Modern firms increasingly automate trading decisions</a:t>
            </a:r>
          </a:p>
        </p:txBody>
      </p:sp>
      <p:pic>
        <p:nvPicPr>
          <p:cNvPr id="4" name="Picture 3" descr="Trading floor desk -Fotos und -Bildmaterial in hoher Auflösung – Alamy">
            <a:extLst>
              <a:ext uri="{FF2B5EF4-FFF2-40B4-BE49-F238E27FC236}">
                <a16:creationId xmlns:a16="http://schemas.microsoft.com/office/drawing/2014/main" id="{7020E5AC-AD98-F3FF-F10E-737B573E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01"/>
          <a:stretch>
            <a:fillRect/>
          </a:stretch>
        </p:blipFill>
        <p:spPr>
          <a:xfrm>
            <a:off x="1499418" y="2674374"/>
            <a:ext cx="6032091" cy="3908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Where Do We Use Prediction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Netflix recommendations</a:t>
            </a:r>
          </a:p>
          <a:p>
            <a:pPr>
              <a:defRPr sz="1800"/>
            </a:pPr>
            <a:r>
              <a:t>YouTube recommendations</a:t>
            </a:r>
          </a:p>
          <a:p>
            <a:pPr>
              <a:defRPr sz="1800"/>
            </a:pPr>
            <a:r>
              <a:t>Google Maps traffic prediction</a:t>
            </a:r>
          </a:p>
          <a:p>
            <a:pPr>
              <a:defRPr sz="1800"/>
            </a:pPr>
            <a:r>
              <a:t>Trading systems use similar data-driven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Why Financial Markets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Investing for future growth</a:t>
            </a:r>
          </a:p>
          <a:p>
            <a:pPr>
              <a:defRPr sz="1800"/>
            </a:pPr>
            <a:r>
              <a:t>Speculating on prices</a:t>
            </a:r>
          </a:p>
          <a:p>
            <a:pPr>
              <a:defRPr sz="1800"/>
            </a:pPr>
            <a:r>
              <a:t>Managing and hedging risk</a:t>
            </a:r>
          </a:p>
          <a:p>
            <a:pPr>
              <a:defRPr sz="1800"/>
            </a:pPr>
            <a:r>
              <a:t>Providing liquidity to markets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Who Uses Quantitative Trading?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Jane Street</a:t>
            </a:r>
          </a:p>
          <a:p>
            <a:pPr>
              <a:defRPr sz="1800"/>
            </a:pPr>
            <a:r>
              <a:t>Citadel</a:t>
            </a:r>
          </a:p>
          <a:p>
            <a:pPr>
              <a:defRPr sz="1800"/>
            </a:pPr>
            <a:r>
              <a:t>Two Sigma</a:t>
            </a:r>
          </a:p>
          <a:p>
            <a:pPr>
              <a:defRPr sz="1800"/>
            </a:pPr>
            <a:r>
              <a:t>Jump Trading</a:t>
            </a:r>
          </a:p>
          <a:p>
            <a:pPr>
              <a:defRPr sz="1800"/>
            </a:pPr>
            <a:r>
              <a:t>WorldQuant</a:t>
            </a:r>
          </a:p>
        </p:txBody>
      </p:sp>
      <p:pic>
        <p:nvPicPr>
          <p:cNvPr id="4" name="Picture 3" descr="Sports betting: the new niche for quants at Jane Street, SIG and Jump ...">
            <a:extLst>
              <a:ext uri="{FF2B5EF4-FFF2-40B4-BE49-F238E27FC236}">
                <a16:creationId xmlns:a16="http://schemas.microsoft.com/office/drawing/2014/main" id="{7B717747-C007-1855-8A69-A86560154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98" y="3429000"/>
            <a:ext cx="1900084" cy="1900084"/>
          </a:xfrm>
          <a:prstGeom prst="rect">
            <a:avLst/>
          </a:prstGeom>
        </p:spPr>
      </p:pic>
      <p:pic>
        <p:nvPicPr>
          <p:cNvPr id="5" name="Picture 4" descr="Citadel Investment Group Logo">
            <a:extLst>
              <a:ext uri="{FF2B5EF4-FFF2-40B4-BE49-F238E27FC236}">
                <a16:creationId xmlns:a16="http://schemas.microsoft.com/office/drawing/2014/main" id="{E03B8534-9798-7303-9704-3EE77A027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52" y="3666357"/>
            <a:ext cx="2829232" cy="1591443"/>
          </a:xfrm>
          <a:prstGeom prst="rect">
            <a:avLst/>
          </a:prstGeom>
        </p:spPr>
      </p:pic>
      <p:pic>
        <p:nvPicPr>
          <p:cNvPr id="6" name="Picture 5" descr="Jump Trading — Web3 Venture Capital Portfolio | Crypto-Fundraising">
            <a:extLst>
              <a:ext uri="{FF2B5EF4-FFF2-40B4-BE49-F238E27FC236}">
                <a16:creationId xmlns:a16="http://schemas.microsoft.com/office/drawing/2014/main" id="{929523B9-46C0-E4F5-DA09-303385E41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85" y="3863181"/>
            <a:ext cx="3430229" cy="11873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What Does a Quant Researcher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Collect market data</a:t>
            </a:r>
          </a:p>
          <a:p>
            <a:pPr>
              <a:defRPr sz="1800"/>
            </a:pPr>
            <a:r>
              <a:t>Study statistical patterns</a:t>
            </a:r>
          </a:p>
          <a:p>
            <a:pPr>
              <a:defRPr sz="1800"/>
            </a:pPr>
            <a:r>
              <a:t>Build trading signals</a:t>
            </a:r>
          </a:p>
          <a:p>
            <a:pPr>
              <a:defRPr sz="1800"/>
            </a:pPr>
            <a:r>
              <a:t>Backtest strategies</a:t>
            </a:r>
          </a:p>
          <a:p>
            <a:pPr>
              <a:defRPr sz="1800"/>
            </a:pPr>
            <a:r>
              <a:t>Monitor performance and improve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Quant Research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Collect Data</a:t>
            </a:r>
          </a:p>
          <a:p>
            <a:pPr>
              <a:defRPr sz="1800"/>
            </a:pPr>
            <a:r>
              <a:t>Analyze Patterns</a:t>
            </a:r>
          </a:p>
          <a:p>
            <a:pPr>
              <a:defRPr sz="1800"/>
            </a:pPr>
            <a:r>
              <a:t>Build Signals</a:t>
            </a:r>
          </a:p>
          <a:p>
            <a:pPr>
              <a:defRPr sz="1800"/>
            </a:pPr>
            <a:r>
              <a:t>Backtest</a:t>
            </a:r>
          </a:p>
          <a:p>
            <a:pPr>
              <a:defRPr sz="1800"/>
            </a:pPr>
            <a:r>
              <a:t>Deploy Systems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22370"/>
            <a:ext cx="777240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What is Alpha?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Alpha means a statistical edge</a:t>
            </a:r>
          </a:p>
          <a:p>
            <a:pPr>
              <a:defRPr sz="1800"/>
            </a:pPr>
            <a:r>
              <a:t>No signal works 100% of the time</a:t>
            </a:r>
          </a:p>
          <a:p>
            <a:pPr>
              <a:defRPr sz="1800"/>
            </a:pPr>
            <a:r>
              <a:t>Quant trading is probabilistic</a:t>
            </a:r>
          </a:p>
        </p:txBody>
      </p:sp>
      <p:pic>
        <p:nvPicPr>
          <p:cNvPr id="4" name="Picture 3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429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Momentum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Assets rising strongly may continue rising</a:t>
            </a:r>
          </a:p>
          <a:p>
            <a:pPr>
              <a:defRPr sz="1800"/>
            </a:pPr>
            <a:r>
              <a:t>Trends attract attention and buying pressure</a:t>
            </a:r>
          </a:p>
          <a:p>
            <a:pPr>
              <a:defRPr sz="1800"/>
            </a:pPr>
            <a:r>
              <a:t>Momentum is one of the most common trading signals</a:t>
            </a:r>
          </a:p>
        </p:txBody>
      </p:sp>
      <p:pic>
        <p:nvPicPr>
          <p:cNvPr id="4" name="Picture 3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5763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Mean Reversion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Markets sometimes overreact</a:t>
            </a:r>
          </a:p>
          <a:p>
            <a:pPr>
              <a:defRPr sz="1800"/>
            </a:pPr>
            <a:r>
              <a:t>Prices may move back toward normal levels</a:t>
            </a:r>
          </a:p>
          <a:p>
            <a:pPr>
              <a:defRPr sz="1800"/>
            </a:pPr>
            <a:r>
              <a:t>Human emotions create temporary inefficiencies</a:t>
            </a:r>
          </a:p>
        </p:txBody>
      </p:sp>
      <p:pic>
        <p:nvPicPr>
          <p:cNvPr id="4" name="Picture 3" descr="mean_re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5763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Why Quant Trading is Difficult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Markets constantly evolve</a:t>
            </a:r>
          </a:p>
          <a:p>
            <a:pPr>
              <a:defRPr sz="1800"/>
            </a:pPr>
            <a:r>
              <a:t>Competition is intense</a:t>
            </a:r>
          </a:p>
          <a:p>
            <a:pPr>
              <a:defRPr sz="1800"/>
            </a:pPr>
            <a:r>
              <a:t>Strategies decay over time</a:t>
            </a:r>
          </a:p>
          <a:p>
            <a:pPr>
              <a:defRPr sz="1800"/>
            </a:pPr>
            <a:r>
              <a:t>Transaction costs reduce profitability</a:t>
            </a:r>
          </a:p>
        </p:txBody>
      </p:sp>
      <p:pic>
        <p:nvPicPr>
          <p:cNvPr id="4" name="Picture 3" descr="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325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What You Will Learn in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Market data analysis</a:t>
            </a:r>
          </a:p>
          <a:p>
            <a:pPr>
              <a:defRPr sz="1800"/>
            </a:pPr>
            <a:r>
              <a:t>Alpha signals</a:t>
            </a:r>
          </a:p>
          <a:p>
            <a:pPr>
              <a:defRPr sz="1800"/>
            </a:pPr>
            <a:r>
              <a:t>Backtesting systems</a:t>
            </a:r>
          </a:p>
          <a:p>
            <a:pPr>
              <a:defRPr sz="1800"/>
            </a:pPr>
            <a:r>
              <a:t>Portfolio construction</a:t>
            </a:r>
          </a:p>
          <a:p>
            <a:pPr>
              <a:defRPr sz="1800"/>
            </a:pPr>
            <a:r>
              <a:t>Machine learning for trading</a:t>
            </a:r>
          </a:p>
          <a:p>
            <a:pPr>
              <a:defRPr sz="1800"/>
            </a:pPr>
            <a:r>
              <a:t>Quant infrastructure and KDB+/q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Quant Trading = Data + Research + Probability + Discipline</a:t>
            </a:r>
          </a:p>
          <a:p>
            <a:pPr>
              <a:defRPr sz="1800"/>
            </a:pPr>
            <a:r>
              <a:t>Good quant researchers think scientifically</a:t>
            </a:r>
          </a:p>
          <a:p>
            <a:pPr>
              <a:defRPr sz="1800"/>
            </a:pPr>
            <a:r>
              <a:t>The goal is systematic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290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Practical Quantitative Research &amp; Algorithmic Trading</vt:lpstr>
      <vt:lpstr>What is Quantitative Trading?</vt:lpstr>
      <vt:lpstr>Traditional Trading vs Quant Trading</vt:lpstr>
      <vt:lpstr>Where Do We Use Prediction Systems?</vt:lpstr>
      <vt:lpstr>Why Financial Markets Exist</vt:lpstr>
      <vt:lpstr>Who Uses Quantitative Trading?</vt:lpstr>
      <vt:lpstr>What Does a Quant Researcher Do?</vt:lpstr>
      <vt:lpstr>Quant Research Workflow</vt:lpstr>
      <vt:lpstr>What is Alpha?</vt:lpstr>
      <vt:lpstr>Momentum Example</vt:lpstr>
      <vt:lpstr>Mean Reversion Example</vt:lpstr>
      <vt:lpstr>Why Quant Trading is Difficult</vt:lpstr>
      <vt:lpstr>What You Will Learn in This Course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Saini</cp:lastModifiedBy>
  <cp:revision>9</cp:revision>
  <dcterms:created xsi:type="dcterms:W3CDTF">2013-01-27T09:14:16Z</dcterms:created>
  <dcterms:modified xsi:type="dcterms:W3CDTF">2026-05-23T02:49:52Z</dcterms:modified>
  <cp:category/>
</cp:coreProperties>
</file>