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6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Saini" userId="8dca73311806eaa7" providerId="LiveId" clId="{8A18633D-D30F-4A5D-8CA4-C7F9C5B6B645}"/>
    <pc:docChg chg="custSel modSld">
      <pc:chgData name="Hitesh Saini" userId="8dca73311806eaa7" providerId="LiveId" clId="{8A18633D-D30F-4A5D-8CA4-C7F9C5B6B645}" dt="2026-06-23T05:30:17.831" v="57" actId="1076"/>
      <pc:docMkLst>
        <pc:docMk/>
      </pc:docMkLst>
      <pc:sldChg chg="addSp modSp mod">
        <pc:chgData name="Hitesh Saini" userId="8dca73311806eaa7" providerId="LiveId" clId="{8A18633D-D30F-4A5D-8CA4-C7F9C5B6B645}" dt="2026-06-23T05:20:39.360" v="2" actId="14100"/>
        <pc:sldMkLst>
          <pc:docMk/>
          <pc:sldMk cId="0" sldId="257"/>
        </pc:sldMkLst>
        <pc:picChg chg="add mod">
          <ac:chgData name="Hitesh Saini" userId="8dca73311806eaa7" providerId="LiveId" clId="{8A18633D-D30F-4A5D-8CA4-C7F9C5B6B645}" dt="2026-06-23T05:20:39.360" v="2" actId="14100"/>
          <ac:picMkLst>
            <pc:docMk/>
            <pc:sldMk cId="0" sldId="257"/>
            <ac:picMk id="5" creationId="{73C3C1F7-4134-EF4A-F17F-34FBB26C37DD}"/>
          </ac:picMkLst>
        </pc:picChg>
      </pc:sldChg>
      <pc:sldChg chg="addSp modSp mod">
        <pc:chgData name="Hitesh Saini" userId="8dca73311806eaa7" providerId="LiveId" clId="{8A18633D-D30F-4A5D-8CA4-C7F9C5B6B645}" dt="2026-06-23T05:28:50.830" v="43" actId="27636"/>
        <pc:sldMkLst>
          <pc:docMk/>
          <pc:sldMk cId="0" sldId="259"/>
        </pc:sldMkLst>
        <pc:spChg chg="mod">
          <ac:chgData name="Hitesh Saini" userId="8dca73311806eaa7" providerId="LiveId" clId="{8A18633D-D30F-4A5D-8CA4-C7F9C5B6B645}" dt="2026-06-23T05:28:50.830" v="43" actId="27636"/>
          <ac:spMkLst>
            <pc:docMk/>
            <pc:sldMk cId="0" sldId="259"/>
            <ac:spMk id="2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23T05:21:07.676" v="6" actId="1076"/>
          <ac:picMkLst>
            <pc:docMk/>
            <pc:sldMk cId="0" sldId="259"/>
            <ac:picMk id="5" creationId="{1E8052FC-0581-EB8F-B59F-E23017D0039F}"/>
          </ac:picMkLst>
        </pc:picChg>
      </pc:sldChg>
      <pc:sldChg chg="addSp modSp mod">
        <pc:chgData name="Hitesh Saini" userId="8dca73311806eaa7" providerId="LiveId" clId="{8A18633D-D30F-4A5D-8CA4-C7F9C5B6B645}" dt="2026-06-23T05:21:38.820" v="9" actId="14100"/>
        <pc:sldMkLst>
          <pc:docMk/>
          <pc:sldMk cId="0" sldId="261"/>
        </pc:sldMkLst>
        <pc:picChg chg="add mod">
          <ac:chgData name="Hitesh Saini" userId="8dca73311806eaa7" providerId="LiveId" clId="{8A18633D-D30F-4A5D-8CA4-C7F9C5B6B645}" dt="2026-06-23T05:21:38.820" v="9" actId="14100"/>
          <ac:picMkLst>
            <pc:docMk/>
            <pc:sldMk cId="0" sldId="261"/>
            <ac:picMk id="5" creationId="{E9BA66D3-4813-F710-9854-CB8F3B582705}"/>
          </ac:picMkLst>
        </pc:picChg>
      </pc:sldChg>
      <pc:sldChg chg="addSp modSp mod">
        <pc:chgData name="Hitesh Saini" userId="8dca73311806eaa7" providerId="LiveId" clId="{8A18633D-D30F-4A5D-8CA4-C7F9C5B6B645}" dt="2026-06-23T05:22:06.057" v="13" actId="1076"/>
        <pc:sldMkLst>
          <pc:docMk/>
          <pc:sldMk cId="0" sldId="264"/>
        </pc:sldMkLst>
        <pc:picChg chg="add mod">
          <ac:chgData name="Hitesh Saini" userId="8dca73311806eaa7" providerId="LiveId" clId="{8A18633D-D30F-4A5D-8CA4-C7F9C5B6B645}" dt="2026-06-23T05:22:06.057" v="13" actId="1076"/>
          <ac:picMkLst>
            <pc:docMk/>
            <pc:sldMk cId="0" sldId="264"/>
            <ac:picMk id="5" creationId="{4F0BB33F-9DDA-8D0B-C715-502BE585E10B}"/>
          </ac:picMkLst>
        </pc:picChg>
      </pc:sldChg>
      <pc:sldChg chg="addSp modSp mod">
        <pc:chgData name="Hitesh Saini" userId="8dca73311806eaa7" providerId="LiveId" clId="{8A18633D-D30F-4A5D-8CA4-C7F9C5B6B645}" dt="2026-06-23T05:22:37.734" v="16" actId="14100"/>
        <pc:sldMkLst>
          <pc:docMk/>
          <pc:sldMk cId="0" sldId="266"/>
        </pc:sldMkLst>
        <pc:picChg chg="add mod">
          <ac:chgData name="Hitesh Saini" userId="8dca73311806eaa7" providerId="LiveId" clId="{8A18633D-D30F-4A5D-8CA4-C7F9C5B6B645}" dt="2026-06-23T05:22:37.734" v="16" actId="14100"/>
          <ac:picMkLst>
            <pc:docMk/>
            <pc:sldMk cId="0" sldId="266"/>
            <ac:picMk id="5" creationId="{161BF610-F305-BC10-8A2B-B02AC498285E}"/>
          </ac:picMkLst>
        </pc:picChg>
      </pc:sldChg>
      <pc:sldChg chg="addSp modSp mod">
        <pc:chgData name="Hitesh Saini" userId="8dca73311806eaa7" providerId="LiveId" clId="{8A18633D-D30F-4A5D-8CA4-C7F9C5B6B645}" dt="2026-06-23T05:28:50.841" v="44" actId="27636"/>
        <pc:sldMkLst>
          <pc:docMk/>
          <pc:sldMk cId="0" sldId="269"/>
        </pc:sldMkLst>
        <pc:spChg chg="mod">
          <ac:chgData name="Hitesh Saini" userId="8dca73311806eaa7" providerId="LiveId" clId="{8A18633D-D30F-4A5D-8CA4-C7F9C5B6B645}" dt="2026-06-23T05:28:50.841" v="44" actId="27636"/>
          <ac:spMkLst>
            <pc:docMk/>
            <pc:sldMk cId="0" sldId="269"/>
            <ac:spMk id="2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23T05:23:05.660" v="20" actId="1076"/>
          <ac:picMkLst>
            <pc:docMk/>
            <pc:sldMk cId="0" sldId="269"/>
            <ac:picMk id="5" creationId="{40C8310D-CBB7-6733-4D0B-D357082AFD20}"/>
          </ac:picMkLst>
        </pc:picChg>
      </pc:sldChg>
      <pc:sldChg chg="modSp mod">
        <pc:chgData name="Hitesh Saini" userId="8dca73311806eaa7" providerId="LiveId" clId="{8A18633D-D30F-4A5D-8CA4-C7F9C5B6B645}" dt="2026-06-23T05:28:50.845" v="45" actId="27636"/>
        <pc:sldMkLst>
          <pc:docMk/>
          <pc:sldMk cId="0" sldId="270"/>
        </pc:sldMkLst>
        <pc:spChg chg="mod">
          <ac:chgData name="Hitesh Saini" userId="8dca73311806eaa7" providerId="LiveId" clId="{8A18633D-D30F-4A5D-8CA4-C7F9C5B6B645}" dt="2026-06-23T05:28:50.845" v="45" actId="27636"/>
          <ac:spMkLst>
            <pc:docMk/>
            <pc:sldMk cId="0" sldId="270"/>
            <ac:spMk id="2" creationId="{00000000-0000-0000-0000-000000000000}"/>
          </ac:spMkLst>
        </pc:spChg>
      </pc:sldChg>
      <pc:sldChg chg="addSp modSp mod">
        <pc:chgData name="Hitesh Saini" userId="8dca73311806eaa7" providerId="LiveId" clId="{8A18633D-D30F-4A5D-8CA4-C7F9C5B6B645}" dt="2026-06-23T05:23:56.763" v="23" actId="14100"/>
        <pc:sldMkLst>
          <pc:docMk/>
          <pc:sldMk cId="0" sldId="275"/>
        </pc:sldMkLst>
        <pc:picChg chg="add mod">
          <ac:chgData name="Hitesh Saini" userId="8dca73311806eaa7" providerId="LiveId" clId="{8A18633D-D30F-4A5D-8CA4-C7F9C5B6B645}" dt="2026-06-23T05:23:56.763" v="23" actId="14100"/>
          <ac:picMkLst>
            <pc:docMk/>
            <pc:sldMk cId="0" sldId="275"/>
            <ac:picMk id="5" creationId="{A49A1FC2-B1A3-9118-A21E-AC3D3920E530}"/>
          </ac:picMkLst>
        </pc:picChg>
      </pc:sldChg>
      <pc:sldChg chg="addSp modSp mod">
        <pc:chgData name="Hitesh Saini" userId="8dca73311806eaa7" providerId="LiveId" clId="{8A18633D-D30F-4A5D-8CA4-C7F9C5B6B645}" dt="2026-06-23T05:24:23.954" v="27" actId="1076"/>
        <pc:sldMkLst>
          <pc:docMk/>
          <pc:sldMk cId="0" sldId="281"/>
        </pc:sldMkLst>
        <pc:picChg chg="add mod">
          <ac:chgData name="Hitesh Saini" userId="8dca73311806eaa7" providerId="LiveId" clId="{8A18633D-D30F-4A5D-8CA4-C7F9C5B6B645}" dt="2026-06-23T05:24:23.954" v="27" actId="1076"/>
          <ac:picMkLst>
            <pc:docMk/>
            <pc:sldMk cId="0" sldId="281"/>
            <ac:picMk id="5" creationId="{0F80AC8A-6E4B-8071-FFE1-50538F87871D}"/>
          </ac:picMkLst>
        </pc:picChg>
      </pc:sldChg>
      <pc:sldChg chg="addSp modSp mod">
        <pc:chgData name="Hitesh Saini" userId="8dca73311806eaa7" providerId="LiveId" clId="{8A18633D-D30F-4A5D-8CA4-C7F9C5B6B645}" dt="2026-06-23T05:25:24.751" v="30" actId="14100"/>
        <pc:sldMkLst>
          <pc:docMk/>
          <pc:sldMk cId="0" sldId="288"/>
        </pc:sldMkLst>
        <pc:picChg chg="add mod">
          <ac:chgData name="Hitesh Saini" userId="8dca73311806eaa7" providerId="LiveId" clId="{8A18633D-D30F-4A5D-8CA4-C7F9C5B6B645}" dt="2026-06-23T05:25:24.751" v="30" actId="14100"/>
          <ac:picMkLst>
            <pc:docMk/>
            <pc:sldMk cId="0" sldId="288"/>
            <ac:picMk id="5" creationId="{179A340F-0551-6A14-1336-090BBC78541E}"/>
          </ac:picMkLst>
        </pc:picChg>
      </pc:sldChg>
      <pc:sldChg chg="addSp modSp mod">
        <pc:chgData name="Hitesh Saini" userId="8dca73311806eaa7" providerId="LiveId" clId="{8A18633D-D30F-4A5D-8CA4-C7F9C5B6B645}" dt="2026-06-23T05:26:46.921" v="33" actId="14100"/>
        <pc:sldMkLst>
          <pc:docMk/>
          <pc:sldMk cId="0" sldId="290"/>
        </pc:sldMkLst>
        <pc:picChg chg="add mod">
          <ac:chgData name="Hitesh Saini" userId="8dca73311806eaa7" providerId="LiveId" clId="{8A18633D-D30F-4A5D-8CA4-C7F9C5B6B645}" dt="2026-06-23T05:26:46.921" v="33" actId="14100"/>
          <ac:picMkLst>
            <pc:docMk/>
            <pc:sldMk cId="0" sldId="290"/>
            <ac:picMk id="5" creationId="{C23A258A-46A1-E49C-0D87-C6C7148ADAE8}"/>
          </ac:picMkLst>
        </pc:picChg>
      </pc:sldChg>
      <pc:sldChg chg="addSp modSp mod">
        <pc:chgData name="Hitesh Saini" userId="8dca73311806eaa7" providerId="LiveId" clId="{8A18633D-D30F-4A5D-8CA4-C7F9C5B6B645}" dt="2026-06-23T05:27:19.024" v="36" actId="14100"/>
        <pc:sldMkLst>
          <pc:docMk/>
          <pc:sldMk cId="0" sldId="294"/>
        </pc:sldMkLst>
        <pc:picChg chg="add mod">
          <ac:chgData name="Hitesh Saini" userId="8dca73311806eaa7" providerId="LiveId" clId="{8A18633D-D30F-4A5D-8CA4-C7F9C5B6B645}" dt="2026-06-23T05:27:19.024" v="36" actId="14100"/>
          <ac:picMkLst>
            <pc:docMk/>
            <pc:sldMk cId="0" sldId="294"/>
            <ac:picMk id="5" creationId="{82D76369-CE10-BD8F-2CDC-81D5DD12B1EB}"/>
          </ac:picMkLst>
        </pc:picChg>
      </pc:sldChg>
      <pc:sldChg chg="addSp delSp modSp mod">
        <pc:chgData name="Hitesh Saini" userId="8dca73311806eaa7" providerId="LiveId" clId="{8A18633D-D30F-4A5D-8CA4-C7F9C5B6B645}" dt="2026-06-23T05:28:48.884" v="41" actId="21"/>
        <pc:sldMkLst>
          <pc:docMk/>
          <pc:sldMk cId="0" sldId="297"/>
        </pc:sldMkLst>
        <pc:picChg chg="add del mod">
          <ac:chgData name="Hitesh Saini" userId="8dca73311806eaa7" providerId="LiveId" clId="{8A18633D-D30F-4A5D-8CA4-C7F9C5B6B645}" dt="2026-06-23T05:28:48.884" v="41" actId="21"/>
          <ac:picMkLst>
            <pc:docMk/>
            <pc:sldMk cId="0" sldId="297"/>
            <ac:picMk id="5" creationId="{8D72B5B3-7001-0101-BAB6-BC4AAC6C2E12}"/>
          </ac:picMkLst>
        </pc:picChg>
      </pc:sldChg>
      <pc:sldChg chg="addSp modSp mod">
        <pc:chgData name="Hitesh Saini" userId="8dca73311806eaa7" providerId="LiveId" clId="{8A18633D-D30F-4A5D-8CA4-C7F9C5B6B645}" dt="2026-06-23T05:28:52.219" v="46" actId="1076"/>
        <pc:sldMkLst>
          <pc:docMk/>
          <pc:sldMk cId="0" sldId="298"/>
        </pc:sldMkLst>
        <pc:picChg chg="add mod">
          <ac:chgData name="Hitesh Saini" userId="8dca73311806eaa7" providerId="LiveId" clId="{8A18633D-D30F-4A5D-8CA4-C7F9C5B6B645}" dt="2026-06-23T05:28:52.219" v="46" actId="1076"/>
          <ac:picMkLst>
            <pc:docMk/>
            <pc:sldMk cId="0" sldId="298"/>
            <ac:picMk id="5" creationId="{8D72B5B3-7001-0101-BAB6-BC4AAC6C2E12}"/>
          </ac:picMkLst>
        </pc:picChg>
      </pc:sldChg>
      <pc:sldChg chg="addSp delSp modSp mod">
        <pc:chgData name="Hitesh Saini" userId="8dca73311806eaa7" providerId="LiveId" clId="{8A18633D-D30F-4A5D-8CA4-C7F9C5B6B645}" dt="2026-06-23T05:30:17.831" v="57" actId="1076"/>
        <pc:sldMkLst>
          <pc:docMk/>
          <pc:sldMk cId="0" sldId="302"/>
        </pc:sldMkLst>
        <pc:spChg chg="del mod">
          <ac:chgData name="Hitesh Saini" userId="8dca73311806eaa7" providerId="LiveId" clId="{8A18633D-D30F-4A5D-8CA4-C7F9C5B6B645}" dt="2026-06-23T05:30:08.065" v="53" actId="478"/>
          <ac:spMkLst>
            <pc:docMk/>
            <pc:sldMk cId="0" sldId="302"/>
            <ac:spMk id="3" creationId="{00000000-0000-0000-0000-000000000000}"/>
          </ac:spMkLst>
        </pc:spChg>
        <pc:picChg chg="add mod">
          <ac:chgData name="Hitesh Saini" userId="8dca73311806eaa7" providerId="LiveId" clId="{8A18633D-D30F-4A5D-8CA4-C7F9C5B6B645}" dt="2026-06-23T05:30:17.831" v="57" actId="1076"/>
          <ac:picMkLst>
            <pc:docMk/>
            <pc:sldMk cId="0" sldId="302"/>
            <ac:picMk id="5" creationId="{EBC36ACA-A09B-1044-A5B4-D69CCEA90AE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Strategy Robustness &amp; Final Project Guidance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Journey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Data</a:t>
            </a:r>
          </a:p>
          <a:p>
            <a:r>
              <a:t>Alpha Signals</a:t>
            </a:r>
          </a:p>
          <a:p>
            <a:r>
              <a:t>Backtesting</a:t>
            </a:r>
          </a:p>
          <a:p>
            <a:r>
              <a:t>Portfolio Construction</a:t>
            </a:r>
          </a:p>
          <a:p>
            <a:r>
              <a:t>Machine Learning</a:t>
            </a:r>
          </a:p>
          <a:p>
            <a:r>
              <a:t>Quant Infrastructure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3C1F7-4134-EF4A-F17F-34FBB26C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982" y="1801300"/>
            <a:ext cx="2737194" cy="3337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Simple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 CAGR = 20%</a:t>
            </a:r>
          </a:p>
          <a:p>
            <a:r>
              <a:t>Sharpe = 2.0</a:t>
            </a:r>
          </a:p>
          <a:p>
            <a:r>
              <a:t>Should we deploy it tomorrow?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Most Important Lesson In Quant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Backtest ≠ Good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052FC-0581-EB8F-B59F-E23017D0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57" y="2715700"/>
            <a:ext cx="2879790" cy="3273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Strategies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</a:t>
            </a:r>
          </a:p>
          <a:p>
            <a:r>
              <a:t>Market Regime Changes</a:t>
            </a:r>
          </a:p>
          <a:p>
            <a:r>
              <a:t>Transaction Costs</a:t>
            </a:r>
          </a:p>
          <a:p>
            <a:r>
              <a:t>Competition</a:t>
            </a:r>
          </a:p>
          <a:p>
            <a:r>
              <a:t>Bad Assumptions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 vs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Backtest: +40%</a:t>
            </a:r>
          </a:p>
          <a:p>
            <a:r>
              <a:t>Live Trading: -10%</a:t>
            </a:r>
          </a:p>
          <a:p>
            <a:r>
              <a:t>What happened?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A66D3-4813-F710-9854-CB8F3B58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017" y="2013336"/>
            <a:ext cx="3002009" cy="3547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40% Backtest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 = 40%</a:t>
            </a:r>
          </a:p>
          <a:p>
            <a:r>
              <a:t>Sharpe = 3.0</a:t>
            </a:r>
          </a:p>
          <a:p>
            <a:r>
              <a:t>Live Results Losing Money</a:t>
            </a:r>
          </a:p>
          <a:p>
            <a:r>
              <a:t>What went wrong?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</a:t>
            </a:r>
          </a:p>
          <a:p>
            <a:r>
              <a:t>Data Snooping</a:t>
            </a:r>
          </a:p>
          <a:p>
            <a:r>
              <a:t>Hidden Costs</a:t>
            </a:r>
          </a:p>
          <a:p>
            <a:r>
              <a:t>Regime Shift</a:t>
            </a:r>
          </a:p>
          <a:p>
            <a:r>
              <a:t>Pure Luck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Market Regime?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Volatility</a:t>
            </a:r>
          </a:p>
          <a:p>
            <a:r>
              <a:t>Trend</a:t>
            </a:r>
          </a:p>
          <a:p>
            <a:r>
              <a:t>Liquidity</a:t>
            </a:r>
          </a:p>
          <a:p>
            <a:r>
              <a:t>Investor Behavior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BB33F-9DDA-8D0B-C715-502BE585E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07" y="1824618"/>
            <a:ext cx="2941156" cy="3757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Regimes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 Markets</a:t>
            </a:r>
          </a:p>
          <a:p>
            <a:r>
              <a:t>Bear Markets</a:t>
            </a:r>
          </a:p>
          <a:p>
            <a:r>
              <a:t>Crisis Markets</a:t>
            </a:r>
          </a:p>
          <a:p>
            <a:r>
              <a:t>Sideways 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COVID Crash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Extreme Volatility</a:t>
            </a:r>
          </a:p>
          <a:p>
            <a:r>
              <a:t>Panic Selling</a:t>
            </a:r>
          </a:p>
          <a:p>
            <a:r>
              <a:t>Rapid Recovery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BF610-F305-BC10-8A2B-B02AC4982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889" y="1841274"/>
            <a:ext cx="2512245" cy="3215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Interest Rate Hikes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Rates</a:t>
            </a:r>
          </a:p>
          <a:p>
            <a:r>
              <a:t>Falling Growth Stocks</a:t>
            </a:r>
          </a:p>
          <a:p>
            <a:r>
              <a:t>Sector Rotation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AI Boom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Tech Performance</a:t>
            </a:r>
          </a:p>
          <a:p>
            <a:r>
              <a:t>Momentum Dominance</a:t>
            </a:r>
          </a:p>
          <a:p>
            <a:r>
              <a:t>Concentrated Leadership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Strategy Performance Across Regimes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Bull: Good</a:t>
            </a:r>
          </a:p>
          <a:p>
            <a:r>
              <a:t>Bear: Mixed</a:t>
            </a:r>
          </a:p>
          <a:p>
            <a:r>
              <a:t>Crisis: Weak</a:t>
            </a:r>
          </a:p>
          <a:p>
            <a:r>
              <a:t>Recovery: Strong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8310D-CBB7-6733-4D0B-D357082AF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519" y="1873582"/>
            <a:ext cx="2506367" cy="34432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COVID Broke My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2017–2019</a:t>
            </a:r>
          </a:p>
          <a:p>
            <a:r>
              <a:t>Failed During 2020</a:t>
            </a:r>
          </a:p>
          <a:p>
            <a:r>
              <a:t>Why?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Strategies Are Not Permanent</a:t>
            </a:r>
          </a:p>
          <a:p>
            <a:r>
              <a:t>Markets Evolve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Noise Instead Of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Or Noise?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Repeatable Performance?</a:t>
            </a:r>
          </a:p>
          <a:p>
            <a:r>
              <a:t>Or Random Outcome?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Warning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Many Parameters</a:t>
            </a:r>
          </a:p>
          <a:p>
            <a:r>
              <a:t>Too Many Rules</a:t>
            </a:r>
          </a:p>
          <a:p>
            <a:r>
              <a:t>Too Much Optimization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Perfect Backtest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High Sharpe</a:t>
            </a:r>
          </a:p>
          <a:p>
            <a:r>
              <a:t>Smooth Equity Curve</a:t>
            </a:r>
          </a:p>
          <a:p>
            <a:r>
              <a:t>Unrealistic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A1FC2-B1A3-9118-A21E-AC3D3920E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265" y="2230228"/>
            <a:ext cx="3092987" cy="28087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vs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Data</a:t>
            </a:r>
          </a:p>
          <a:p>
            <a:r>
              <a:t>Testing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 Parameters</a:t>
            </a:r>
          </a:p>
          <a:p>
            <a:r>
              <a:t>98% Accuracy</a:t>
            </a:r>
          </a:p>
          <a:p>
            <a:r>
              <a:t>Trust It?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 Perfect Backtest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Amazing Backtest</a:t>
            </a:r>
          </a:p>
          <a:p>
            <a:r>
              <a:t>Terrible Out-of-Sample</a:t>
            </a:r>
          </a:p>
          <a:p>
            <a:r>
              <a:t>What happened?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Strategies Often Generalize Better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Out-of-Sample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On Unseen Data</a:t>
            </a:r>
          </a:p>
          <a:p>
            <a:r>
              <a:t>Measure Generalization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Future Performance</a:t>
            </a:r>
          </a:p>
          <a:p>
            <a:r>
              <a:t>Not Explain Past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0AC8A-6E4B-8071-FFE1-50538F878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922" y="3258840"/>
            <a:ext cx="3045334" cy="26814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</a:t>
            </a:r>
          </a:p>
          <a:p>
            <a:r>
              <a:t>Validate</a:t>
            </a:r>
          </a:p>
          <a:p>
            <a:r>
              <a:t>Test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Research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</a:t>
            </a:r>
          </a:p>
          <a:p>
            <a:r>
              <a:t>Signal</a:t>
            </a:r>
          </a:p>
          <a:p>
            <a:r>
              <a:t>Backtest</a:t>
            </a:r>
          </a:p>
          <a:p>
            <a:r>
              <a:t>Validation</a:t>
            </a:r>
          </a:p>
          <a:p>
            <a:r>
              <a:t>Deployment Decision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Sharpe = 2.5</a:t>
            </a:r>
          </a:p>
          <a:p>
            <a:r>
              <a:t>Test Sharpe = 0.4</a:t>
            </a:r>
          </a:p>
          <a:p>
            <a:r>
              <a:t>Deploy?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Should We Deploy?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Positive Test Performance</a:t>
            </a:r>
          </a:p>
          <a:p>
            <a:r>
              <a:t>Large Performance Drop</a:t>
            </a:r>
          </a:p>
          <a:p>
            <a:r>
              <a:t>Need More Evidence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Backtest Quality Matters</a:t>
            </a:r>
          </a:p>
          <a:p>
            <a:r>
              <a:t>Robustness Matters More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Walk-Forward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Repeatedly Retrain</a:t>
            </a:r>
          </a:p>
          <a:p>
            <a:r>
              <a:t>Repeatedly 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Walk-Forward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→ Test</a:t>
            </a:r>
          </a:p>
          <a:p>
            <a:r>
              <a:t>Train → Test</a:t>
            </a:r>
          </a:p>
          <a:p>
            <a:r>
              <a:t>Train →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A340F-0551-6A14-1336-090BBC78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43" y="2361854"/>
            <a:ext cx="2927484" cy="257770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Walk-Forward?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Markets Change</a:t>
            </a:r>
          </a:p>
          <a:p>
            <a:r>
              <a:t>Models Must Adapt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Walk-Forward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Split vs Many Splits</a:t>
            </a:r>
          </a:p>
          <a:p>
            <a:r>
              <a:t>Static vs Adaptive</a:t>
            </a:r>
          </a:p>
          <a:p>
            <a:r>
              <a:t>Less vs More Realistic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A258A-46A1-E49C-0D87-C6C7148AD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755" y="2215603"/>
            <a:ext cx="3149142" cy="284778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2018–2020</a:t>
            </a:r>
          </a:p>
          <a:p>
            <a:r>
              <a:t>Test 2021</a:t>
            </a:r>
          </a:p>
          <a:p>
            <a:r>
              <a:t>Retrain</a:t>
            </a:r>
          </a:p>
          <a:p>
            <a:r>
              <a:t>Test 2022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Realistic</a:t>
            </a:r>
          </a:p>
          <a:p>
            <a:r>
              <a:t>Detects Regime Sensitivity</a:t>
            </a:r>
          </a:p>
          <a:p>
            <a:r>
              <a:t>Better Validation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Backtest</a:t>
            </a:r>
          </a:p>
          <a:p>
            <a:r>
              <a:t>or Ten Walk-Forward Tests?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Quant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</a:t>
            </a:r>
          </a:p>
          <a:p>
            <a:r>
              <a:t>Research</a:t>
            </a:r>
          </a:p>
          <a:p>
            <a:r>
              <a:t>Validation</a:t>
            </a:r>
          </a:p>
          <a:p>
            <a:r>
              <a:t>Robustness</a:t>
            </a:r>
          </a:p>
          <a:p>
            <a:r>
              <a:t>Production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76369-CE10-BD8F-2CDC-81D5DD12B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962" y="1710750"/>
            <a:ext cx="4997882" cy="30781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Strategies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Ideas Never Reach Production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That's Normal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Is A Filtering Process</a:t>
            </a:r>
          </a:p>
          <a:p>
            <a:r>
              <a:t>Reject Weak Ideas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Successful Quant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</a:t>
            </a:r>
          </a:p>
          <a:p>
            <a:r>
              <a:t>Validation</a:t>
            </a:r>
          </a:p>
          <a:p>
            <a:r>
              <a:t>Risk Management</a:t>
            </a:r>
          </a:p>
          <a:p>
            <a:r>
              <a:t>Not Just Returns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Life Of A Quant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Idea</a:t>
            </a:r>
          </a:p>
          <a:p>
            <a:r>
              <a:t>Week 2 Data</a:t>
            </a:r>
          </a:p>
          <a:p>
            <a:r>
              <a:t>Week 3 Signal</a:t>
            </a:r>
          </a:p>
          <a:p>
            <a:r>
              <a:t>Week 4 Backtest</a:t>
            </a:r>
          </a:p>
          <a:p>
            <a:r>
              <a:t>Week 5 Validation</a:t>
            </a:r>
          </a:p>
          <a:p>
            <a:r>
              <a:t>Week 6 Decision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2B5B3-7001-0101-BAB6-BC4AAC6C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601" y="2096933"/>
            <a:ext cx="5254647" cy="256702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</a:t>
            </a:r>
          </a:p>
          <a:p>
            <a:r>
              <a:t>Indicators</a:t>
            </a:r>
          </a:p>
          <a:p>
            <a:r>
              <a:t>Signal Logic</a:t>
            </a:r>
          </a:p>
          <a:p>
            <a:r>
              <a:t>Backtest Results</a:t>
            </a:r>
          </a:p>
          <a:p>
            <a:r>
              <a:t>Visualizations</a:t>
            </a:r>
          </a:p>
          <a:p>
            <a:r>
              <a:t>Analysis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Project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Benchmark</a:t>
            </a:r>
          </a:p>
          <a:p>
            <a:r>
              <a:t>No Interpretation</a:t>
            </a:r>
          </a:p>
          <a:p>
            <a:r>
              <a:t>Overfitted Logic</a:t>
            </a:r>
          </a:p>
          <a:p>
            <a:r>
              <a:t>Missing Charts</a:t>
            </a:r>
          </a:p>
          <a:p>
            <a:r>
              <a:t>Weak Conclusions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 Good Quant?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Curiosity</a:t>
            </a:r>
          </a:p>
          <a:p>
            <a:r>
              <a:t>Skepticism</a:t>
            </a:r>
          </a:p>
          <a:p>
            <a:r>
              <a:t>Discipline</a:t>
            </a:r>
          </a:p>
          <a:p>
            <a:r>
              <a:t>Validation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36ACA-A09B-1044-A5B4-D69CCEA90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65" y="1712470"/>
            <a:ext cx="8150535" cy="327982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Backtests Can Mislead</a:t>
            </a:r>
          </a:p>
          <a:p>
            <a:r>
              <a:t>Markets Change</a:t>
            </a:r>
          </a:p>
          <a:p>
            <a:r>
              <a:t>Validation Is Critical</a:t>
            </a:r>
          </a:p>
          <a:p>
            <a:r>
              <a:t>Robustness Matters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is not to find strategies that worked.</a:t>
            </a:r>
          </a:p>
          <a:p>
            <a:r>
              <a:t>The goal is to find strategies that continue to work.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Questions</a:t>
            </a:r>
          </a:p>
          <a:p>
            <a:r>
              <a:t>Project Questions</a:t>
            </a:r>
          </a:p>
          <a:p>
            <a:r>
              <a:t>Career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555</Words>
  <Application>Microsoft Office PowerPoint</Application>
  <PresentationFormat>On-screen Show (4:3)</PresentationFormat>
  <Paragraphs>202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Strategy Robustness &amp; Final Project Guidance</vt:lpstr>
      <vt:lpstr>Course Journey So Far</vt:lpstr>
      <vt:lpstr>A Simple Question</vt:lpstr>
      <vt:lpstr>The Most Important Lesson In Quant</vt:lpstr>
      <vt:lpstr>Why Strategies Fail</vt:lpstr>
      <vt:lpstr>Backtest vs Reality</vt:lpstr>
      <vt:lpstr>Case Study: The 40% Backtest</vt:lpstr>
      <vt:lpstr>Common Causes</vt:lpstr>
      <vt:lpstr>What Is A Market Regime?</vt:lpstr>
      <vt:lpstr>Examples Of Regimes</vt:lpstr>
      <vt:lpstr>Example: COVID Crash</vt:lpstr>
      <vt:lpstr>Example: Interest Rate Hikes</vt:lpstr>
      <vt:lpstr>Example: AI Boom</vt:lpstr>
      <vt:lpstr>Strategy Performance Across Regimes</vt:lpstr>
      <vt:lpstr>Case Study: COVID Broke My Strategy</vt:lpstr>
      <vt:lpstr>Key Lesson</vt:lpstr>
      <vt:lpstr>Overfitting Revisited</vt:lpstr>
      <vt:lpstr>Signal Or Noise?</vt:lpstr>
      <vt:lpstr>Warning Signs</vt:lpstr>
      <vt:lpstr>The Perfect Backtest</vt:lpstr>
      <vt:lpstr>Train vs Test</vt:lpstr>
      <vt:lpstr>Example</vt:lpstr>
      <vt:lpstr>Case Study: The Perfect Backtest</vt:lpstr>
      <vt:lpstr>Key Lesson</vt:lpstr>
      <vt:lpstr>Out-of-Sample Testing</vt:lpstr>
      <vt:lpstr>Why It Matters</vt:lpstr>
      <vt:lpstr>Typical Workflow</vt:lpstr>
      <vt:lpstr>Professional Research Process</vt:lpstr>
      <vt:lpstr>Example</vt:lpstr>
      <vt:lpstr>Case Study: Should We Deploy?</vt:lpstr>
      <vt:lpstr>Key Lesson</vt:lpstr>
      <vt:lpstr>Walk-Forward Testing</vt:lpstr>
      <vt:lpstr>Walk-Forward Framework</vt:lpstr>
      <vt:lpstr>Why Use Walk-Forward?</vt:lpstr>
      <vt:lpstr>Traditional vs Walk-Forward</vt:lpstr>
      <vt:lpstr>Example</vt:lpstr>
      <vt:lpstr>Benefits</vt:lpstr>
      <vt:lpstr>Discussion</vt:lpstr>
      <vt:lpstr>Professional Quant Workflow</vt:lpstr>
      <vt:lpstr>Most Strategies Fail</vt:lpstr>
      <vt:lpstr>Why That's Normal</vt:lpstr>
      <vt:lpstr>Successful Quant Teams</vt:lpstr>
      <vt:lpstr>Case Study: Life Of A Quant Project</vt:lpstr>
      <vt:lpstr>Final Project Expectations</vt:lpstr>
      <vt:lpstr>Common Project Mistakes</vt:lpstr>
      <vt:lpstr>What Makes A Good Quant?</vt:lpstr>
      <vt:lpstr>Course Summary</vt:lpstr>
      <vt:lpstr>Final Takeaways</vt:lpstr>
      <vt:lpstr>Final Thought</vt:lpstr>
      <vt:lpstr>Questions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Saini</cp:lastModifiedBy>
  <cp:revision>1</cp:revision>
  <dcterms:created xsi:type="dcterms:W3CDTF">2013-01-27T09:14:16Z</dcterms:created>
  <dcterms:modified xsi:type="dcterms:W3CDTF">2026-06-23T05:30:19Z</dcterms:modified>
  <cp:category/>
</cp:coreProperties>
</file>