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6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Backtesting Systems &amp; Biases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 Research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Data</a:t>
            </a:r>
          </a:p>
          <a:p>
            <a:r>
              <a:t>Features</a:t>
            </a:r>
          </a:p>
          <a:p>
            <a:r>
              <a:t>Signals</a:t>
            </a:r>
          </a:p>
          <a:p>
            <a:r>
              <a:t>Backtesting</a:t>
            </a:r>
          </a:p>
          <a:p>
            <a:r>
              <a:t>Validation</a:t>
            </a:r>
          </a:p>
          <a:p>
            <a:r>
              <a:t>Deployment</a:t>
            </a:r>
          </a:p>
        </p:txBody>
      </p:sp>
      <p:pic>
        <p:nvPicPr>
          <p:cNvPr id="4" name="Picture 3" descr="01_quant_research_workflow.png">
            <a:extLst>
              <a:ext uri="{FF2B5EF4-FFF2-40B4-BE49-F238E27FC236}">
                <a16:creationId xmlns:a16="http://schemas.microsoft.com/office/drawing/2014/main" id="{960F065C-0896-8835-F256-90D1EAB09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33" y="2279085"/>
            <a:ext cx="5628467" cy="1227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trading idea is not evidence</a:t>
            </a:r>
          </a:p>
          <a:p>
            <a:r>
              <a:t>How do we know a signal works?</a:t>
            </a:r>
          </a:p>
          <a:p>
            <a:r>
              <a:t>Need objective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Backtesting?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Apply rules to historical data</a:t>
            </a:r>
          </a:p>
          <a:p>
            <a:r>
              <a:t>Measure returns and risk</a:t>
            </a:r>
          </a:p>
          <a:p>
            <a:r>
              <a:t>Evaluate behavior before deployment</a:t>
            </a:r>
          </a:p>
        </p:txBody>
      </p:sp>
      <p:pic>
        <p:nvPicPr>
          <p:cNvPr id="4" name="Picture 3" descr="02_backtesting_framework.png">
            <a:extLst>
              <a:ext uri="{FF2B5EF4-FFF2-40B4-BE49-F238E27FC236}">
                <a16:creationId xmlns:a16="http://schemas.microsoft.com/office/drawing/2014/main" id="{21A1CEED-373D-6654-C406-CC0C78765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02" y="3754888"/>
            <a:ext cx="6585097" cy="18752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Backtesting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Evidence over intuition</a:t>
            </a:r>
          </a:p>
          <a:p>
            <a:r>
              <a:t>Estimate return and drawdowns</a:t>
            </a:r>
          </a:p>
          <a:p>
            <a:r>
              <a:t>Identify weaknesses early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vs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= experimentation</a:t>
            </a:r>
          </a:p>
          <a:p>
            <a:r>
              <a:t>Production = real capital</a:t>
            </a:r>
          </a:p>
          <a:p>
            <a:r>
              <a:t>Different standards and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Biggest Misconception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Backtest ≠ Good Strategy</a:t>
            </a:r>
          </a:p>
          <a:p>
            <a:r>
              <a:t>Biases can inflate results</a:t>
            </a:r>
          </a:p>
          <a:p>
            <a:r>
              <a:t>Validation is essential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do quants backtest?</a:t>
            </a:r>
          </a:p>
          <a:p>
            <a:r>
              <a:t>Estimate historical performance</a:t>
            </a:r>
          </a:p>
          <a:p>
            <a:r>
              <a:t>Not to guarantee profits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Lookahead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future information</a:t>
            </a:r>
          </a:p>
          <a:p>
            <a:r>
              <a:t>Most dangerous backtest bias</a:t>
            </a:r>
          </a:p>
          <a:p>
            <a:r>
              <a:t>Creates unrealistic returns</a:t>
            </a:r>
          </a:p>
        </p:txBody>
      </p:sp>
      <p:pic>
        <p:nvPicPr>
          <p:cNvPr id="4" name="Picture 3" descr="03_lookahead_bias_timeline.png">
            <a:extLst>
              <a:ext uri="{FF2B5EF4-FFF2-40B4-BE49-F238E27FC236}">
                <a16:creationId xmlns:a16="http://schemas.microsoft.com/office/drawing/2014/main" id="{20C4A2A5-1C85-4C20-9BB9-D6038FAFE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083" y="3428999"/>
            <a:ext cx="5039833" cy="28797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Newspaper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seeing tomorrow's news today</a:t>
            </a:r>
          </a:p>
          <a:p>
            <a:r>
              <a:t>Easy to make money</a:t>
            </a:r>
          </a:p>
          <a:p>
            <a:r>
              <a:t>Equivalent to cheating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Monday = 100</a:t>
            </a:r>
          </a:p>
          <a:p>
            <a:r>
              <a:t>Tuesday = 110</a:t>
            </a:r>
          </a:p>
          <a:p>
            <a:r>
              <a:t>Buying Monday because you know Tuesday is invalid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Lookahead Bias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Bad: signal * returns</a:t>
            </a:r>
          </a:p>
          <a:p>
            <a:r>
              <a:t>Good: signal.shift(1) * returns</a:t>
            </a:r>
          </a:p>
          <a:p>
            <a:r>
              <a:t>Trade after signal 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Cheating vs Real Backtest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equity curves</a:t>
            </a:r>
          </a:p>
          <a:p>
            <a:r>
              <a:t>Future information inflates performance</a:t>
            </a:r>
          </a:p>
          <a:p>
            <a:r>
              <a:t>Realistic results are lower</a:t>
            </a:r>
          </a:p>
        </p:txBody>
      </p:sp>
      <p:pic>
        <p:nvPicPr>
          <p:cNvPr id="4" name="Picture 3" descr="05_cheating_vs_real_backtest.png">
            <a:extLst>
              <a:ext uri="{FF2B5EF4-FFF2-40B4-BE49-F238E27FC236}">
                <a16:creationId xmlns:a16="http://schemas.microsoft.com/office/drawing/2014/main" id="{5E1B467E-CC45-A8A0-8B60-E13848953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585" y="3278682"/>
            <a:ext cx="5096540" cy="33976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Timestamp mistakes</a:t>
            </a:r>
          </a:p>
          <a:p>
            <a:r>
              <a:t>Data availability errors</a:t>
            </a:r>
          </a:p>
          <a:p>
            <a:r>
              <a:t>False confidence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Preventing Lookahead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timestamps</a:t>
            </a:r>
          </a:p>
          <a:p>
            <a:r>
              <a:t>Check information availability</a:t>
            </a:r>
          </a:p>
          <a:p>
            <a:r>
              <a:t>Use realistic execution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tomorrow's close today?</a:t>
            </a:r>
          </a:p>
          <a:p>
            <a:r>
              <a:t>Answer: Lookahead Bias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Survivorship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Studying winners only</a:t>
            </a:r>
          </a:p>
          <a:p>
            <a:r>
              <a:t>Ignoring failed assets</a:t>
            </a:r>
          </a:p>
          <a:p>
            <a:r>
              <a:t>Inflates performance</a:t>
            </a:r>
          </a:p>
        </p:txBody>
      </p:sp>
      <p:pic>
        <p:nvPicPr>
          <p:cNvPr id="4" name="Picture 3" descr="06_survivorship_funnel.png">
            <a:extLst>
              <a:ext uri="{FF2B5EF4-FFF2-40B4-BE49-F238E27FC236}">
                <a16:creationId xmlns:a16="http://schemas.microsoft.com/office/drawing/2014/main" id="{6440EE83-CF3E-73E9-CFCC-1313EE176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660" y="2458331"/>
            <a:ext cx="4182140" cy="33703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Mutual Fund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Poor funds disappear</a:t>
            </a:r>
          </a:p>
          <a:p>
            <a:r>
              <a:t>Only survivors remain</a:t>
            </a:r>
          </a:p>
          <a:p>
            <a:r>
              <a:t>Results look better than reality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Today's index members are survivors</a:t>
            </a:r>
          </a:p>
          <a:p>
            <a:r>
              <a:t>Historical constituents matter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Inflated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Removing failures improves returns</a:t>
            </a:r>
          </a:p>
          <a:p>
            <a:r>
              <a:t>Dataset quality matters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Overfitting?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noise instead of signal</a:t>
            </a:r>
          </a:p>
          <a:p>
            <a:r>
              <a:t>Excellent historical fit</a:t>
            </a:r>
          </a:p>
          <a:p>
            <a:r>
              <a:t>Poor future performance</a:t>
            </a:r>
          </a:p>
        </p:txBody>
      </p:sp>
      <p:pic>
        <p:nvPicPr>
          <p:cNvPr id="4" name="Picture 3" descr="07_overfitting.png">
            <a:extLst>
              <a:ext uri="{FF2B5EF4-FFF2-40B4-BE49-F238E27FC236}">
                <a16:creationId xmlns:a16="http://schemas.microsoft.com/office/drawing/2014/main" id="{BDB79363-F445-9AA9-35A5-DD9E440E9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495" y="3342167"/>
            <a:ext cx="5273749" cy="351583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Noise vs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Markets contain randomness</a:t>
            </a:r>
          </a:p>
          <a:p>
            <a:r>
              <a:t>Humans see patterns everywhere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Researchers Overfit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many parameters</a:t>
            </a:r>
          </a:p>
          <a:p>
            <a:r>
              <a:t>Repeated optimization</a:t>
            </a:r>
          </a:p>
          <a:p>
            <a:r>
              <a:t>False discoveries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 vs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on one sample</a:t>
            </a:r>
          </a:p>
          <a:p>
            <a:r>
              <a:t>Evaluate on unseen sample</a:t>
            </a:r>
          </a:p>
          <a:p>
            <a:r>
              <a:t>Check generalization</a:t>
            </a:r>
          </a:p>
        </p:txBody>
      </p:sp>
      <p:pic>
        <p:nvPicPr>
          <p:cNvPr id="4" name="Picture 3" descr="08_train_test_split.png">
            <a:extLst>
              <a:ext uri="{FF2B5EF4-FFF2-40B4-BE49-F238E27FC236}">
                <a16:creationId xmlns:a16="http://schemas.microsoft.com/office/drawing/2014/main" id="{1EADCC0C-27F1-F7CC-1A09-59E936BAA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929" y="4079750"/>
            <a:ext cx="6081752" cy="15204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</a:t>
            </a:r>
          </a:p>
          <a:p>
            <a:r>
              <a:t>Validate</a:t>
            </a:r>
          </a:p>
          <a:p>
            <a:r>
              <a:t>Test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Perfect train performance, poor test performance</a:t>
            </a:r>
          </a:p>
          <a:p>
            <a:r>
              <a:t>Answer: Overfitting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information enters training</a:t>
            </a:r>
          </a:p>
          <a:p>
            <a:r>
              <a:t>Hard to detect</a:t>
            </a:r>
          </a:p>
          <a:p>
            <a:r>
              <a:t>Inflates results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earnings in features</a:t>
            </a:r>
          </a:p>
          <a:p>
            <a:r>
              <a:t>Revised economic data</a:t>
            </a:r>
          </a:p>
          <a:p>
            <a:r>
              <a:t>Accidental leakage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Leakage is Dangerous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false confidence</a:t>
            </a:r>
          </a:p>
          <a:p>
            <a:r>
              <a:t>Leads to poor capital allocation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Reality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 valid strategies face market friction</a:t>
            </a:r>
          </a:p>
          <a:p>
            <a:r>
              <a:t>Backtest Profit → Real Profit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Commissions</a:t>
            </a:r>
          </a:p>
          <a:p>
            <a:r>
              <a:t>Exchange fees</a:t>
            </a:r>
          </a:p>
          <a:p>
            <a:r>
              <a:t>Bid-ask spread</a:t>
            </a:r>
          </a:p>
        </p:txBody>
      </p:sp>
      <p:pic>
        <p:nvPicPr>
          <p:cNvPr id="4" name="Picture 3" descr="09_transaction_cost_waterfall.png">
            <a:extLst>
              <a:ext uri="{FF2B5EF4-FFF2-40B4-BE49-F238E27FC236}">
                <a16:creationId xmlns:a16="http://schemas.microsoft.com/office/drawing/2014/main" id="{7875ABCB-AA2B-0417-6268-4EAC0C5CC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422" y="3297584"/>
            <a:ext cx="5018568" cy="301114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Cost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10% gross return</a:t>
            </a:r>
          </a:p>
          <a:p>
            <a:r>
              <a:t>3% costs</a:t>
            </a:r>
          </a:p>
          <a:p>
            <a:r>
              <a:t>7% net return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Slippage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price ≠ execution price</a:t>
            </a:r>
          </a:p>
          <a:p>
            <a:r>
              <a:t>Small impact per trade</a:t>
            </a:r>
          </a:p>
          <a:p>
            <a:r>
              <a:t>Large cumulative impact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Liquidity available at different levels</a:t>
            </a:r>
          </a:p>
          <a:p>
            <a:r>
              <a:t>Large orders move through levels</a:t>
            </a:r>
          </a:p>
        </p:txBody>
      </p:sp>
      <p:pic>
        <p:nvPicPr>
          <p:cNvPr id="4" name="Picture 3" descr="10_orderbook_slippage.png">
            <a:extLst>
              <a:ext uri="{FF2B5EF4-FFF2-40B4-BE49-F238E27FC236}">
                <a16:creationId xmlns:a16="http://schemas.microsoft.com/office/drawing/2014/main" id="{11D81474-D673-DED4-8E68-B11B54BA4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88" y="3284011"/>
            <a:ext cx="4786876" cy="295210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Liquidity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strategy may not scale</a:t>
            </a:r>
          </a:p>
          <a:p>
            <a:r>
              <a:t>Large trades impact prices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 Sizing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scales with allocation</a:t>
            </a:r>
          </a:p>
          <a:p>
            <a:r>
              <a:t>Good signal can still be dangerous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10% return</a:t>
            </a:r>
          </a:p>
          <a:p>
            <a:r>
              <a:t>3% costs</a:t>
            </a:r>
          </a:p>
          <a:p>
            <a:r>
              <a:t>2% slippage</a:t>
            </a:r>
          </a:p>
          <a:p>
            <a:r>
              <a:t>Net = 5%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Backtest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lookahead bias</a:t>
            </a:r>
          </a:p>
          <a:p>
            <a:r>
              <a:t>No leakage</a:t>
            </a:r>
          </a:p>
          <a:p>
            <a:r>
              <a:t>No survivorship bias</a:t>
            </a:r>
          </a:p>
          <a:p>
            <a:r>
              <a:t>Costs included</a:t>
            </a:r>
          </a:p>
          <a:p>
            <a:r>
              <a:t>Validation performed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</a:t>
            </a:r>
          </a:p>
          <a:p>
            <a:r>
              <a:t>Research</a:t>
            </a:r>
          </a:p>
          <a:p>
            <a:r>
              <a:t>Backtest</a:t>
            </a:r>
          </a:p>
          <a:p>
            <a:r>
              <a:t>Validate</a:t>
            </a:r>
          </a:p>
          <a:p>
            <a:r>
              <a:t>Deploy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 A: Lookahead Bias</a:t>
            </a:r>
          </a:p>
          <a:p>
            <a:r>
              <a:t>Lab B: Realistic Backtesting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backtests can be wrong</a:t>
            </a:r>
          </a:p>
          <a:p>
            <a:r>
              <a:t>Validation matters</a:t>
            </a:r>
          </a:p>
          <a:p>
            <a:r>
              <a:t>Costs matter</a:t>
            </a:r>
          </a:p>
          <a:p>
            <a:r>
              <a:t>Overfitting is dangerous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of the work is proving alpha is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513</Words>
  <Application>Microsoft Office PowerPoint</Application>
  <PresentationFormat>On-screen Show (4:3)</PresentationFormat>
  <Paragraphs>161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Backtesting Systems &amp; Biases</vt:lpstr>
      <vt:lpstr>Quant Research Workflow</vt:lpstr>
      <vt:lpstr>The Problem</vt:lpstr>
      <vt:lpstr>What is Backtesting?</vt:lpstr>
      <vt:lpstr>Why Backtesting Matters</vt:lpstr>
      <vt:lpstr>Research vs Production</vt:lpstr>
      <vt:lpstr>Biggest Misconception</vt:lpstr>
      <vt:lpstr>Quick Quiz</vt:lpstr>
      <vt:lpstr>Lookahead Bias</vt:lpstr>
      <vt:lpstr>Newspaper Example</vt:lpstr>
      <vt:lpstr>Trading Example</vt:lpstr>
      <vt:lpstr>Lookahead Bias in Code</vt:lpstr>
      <vt:lpstr>Cheating vs Real Backtest</vt:lpstr>
      <vt:lpstr>Industry Failures</vt:lpstr>
      <vt:lpstr>Preventing Lookahead Bias</vt:lpstr>
      <vt:lpstr>Quiz</vt:lpstr>
      <vt:lpstr>Survivorship Bias</vt:lpstr>
      <vt:lpstr>Mutual Fund Example</vt:lpstr>
      <vt:lpstr>Index Example</vt:lpstr>
      <vt:lpstr>Inflated Results</vt:lpstr>
      <vt:lpstr>What is Overfitting?</vt:lpstr>
      <vt:lpstr>Noise vs Signal</vt:lpstr>
      <vt:lpstr>Why Researchers Overfit</vt:lpstr>
      <vt:lpstr>Train vs Test</vt:lpstr>
      <vt:lpstr>Validation Workflow</vt:lpstr>
      <vt:lpstr>Quiz</vt:lpstr>
      <vt:lpstr>Data Leakage</vt:lpstr>
      <vt:lpstr>Financial Example</vt:lpstr>
      <vt:lpstr>Why Leakage is Dangerous</vt:lpstr>
      <vt:lpstr>The Reality Problem</vt:lpstr>
      <vt:lpstr>Transaction Costs</vt:lpstr>
      <vt:lpstr>Transaction Cost Example</vt:lpstr>
      <vt:lpstr>Slippage</vt:lpstr>
      <vt:lpstr>Order Book</vt:lpstr>
      <vt:lpstr>Liquidity Constraints</vt:lpstr>
      <vt:lpstr>Position Sizing</vt:lpstr>
      <vt:lpstr>Numerical Quiz</vt:lpstr>
      <vt:lpstr>Backtest Checklist</vt:lpstr>
      <vt:lpstr>Professional Workflow</vt:lpstr>
      <vt:lpstr>Lab Preview</vt:lpstr>
      <vt:lpstr>Key Takeaways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Hitesh Saini</cp:lastModifiedBy>
  <cp:revision>2</cp:revision>
  <dcterms:created xsi:type="dcterms:W3CDTF">2013-01-27T09:14:16Z</dcterms:created>
  <dcterms:modified xsi:type="dcterms:W3CDTF">2026-06-13T04:25:35Z</dcterms:modified>
  <cp:category/>
</cp:coreProperties>
</file>